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7" r:id="rId2"/>
    <p:sldId id="492" r:id="rId3"/>
    <p:sldId id="470" r:id="rId4"/>
    <p:sldId id="471" r:id="rId5"/>
    <p:sldId id="472" r:id="rId6"/>
    <p:sldId id="473" r:id="rId7"/>
    <p:sldId id="474" r:id="rId8"/>
    <p:sldId id="475" r:id="rId9"/>
    <p:sldId id="507" r:id="rId10"/>
    <p:sldId id="476" r:id="rId11"/>
    <p:sldId id="477" r:id="rId12"/>
    <p:sldId id="478" r:id="rId13"/>
    <p:sldId id="479" r:id="rId14"/>
    <p:sldId id="480" r:id="rId15"/>
    <p:sldId id="481" r:id="rId16"/>
    <p:sldId id="482" r:id="rId17"/>
    <p:sldId id="483" r:id="rId18"/>
    <p:sldId id="484" r:id="rId19"/>
    <p:sldId id="485" r:id="rId20"/>
    <p:sldId id="486" r:id="rId21"/>
    <p:sldId id="487" r:id="rId22"/>
    <p:sldId id="488" r:id="rId23"/>
    <p:sldId id="489" r:id="rId24"/>
    <p:sldId id="508" r:id="rId25"/>
    <p:sldId id="509" r:id="rId26"/>
    <p:sldId id="490" r:id="rId27"/>
    <p:sldId id="491" r:id="rId28"/>
    <p:sldId id="493" r:id="rId29"/>
    <p:sldId id="506" r:id="rId30"/>
    <p:sldId id="510" r:id="rId31"/>
    <p:sldId id="511" r:id="rId32"/>
    <p:sldId id="512" r:id="rId33"/>
    <p:sldId id="494" r:id="rId34"/>
    <p:sldId id="495" r:id="rId35"/>
    <p:sldId id="513" r:id="rId36"/>
    <p:sldId id="496" r:id="rId37"/>
    <p:sldId id="497" r:id="rId38"/>
    <p:sldId id="516" r:id="rId39"/>
    <p:sldId id="517" r:id="rId40"/>
    <p:sldId id="503" r:id="rId41"/>
    <p:sldId id="514" r:id="rId42"/>
    <p:sldId id="504" r:id="rId43"/>
    <p:sldId id="505" r:id="rId44"/>
    <p:sldId id="499" r:id="rId45"/>
    <p:sldId id="500" r:id="rId46"/>
    <p:sldId id="515" r:id="rId47"/>
    <p:sldId id="501" r:id="rId48"/>
    <p:sldId id="502" r:id="rId4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226"/>
    <p:restoredTop sz="91565"/>
  </p:normalViewPr>
  <p:slideViewPr>
    <p:cSldViewPr snapToGrid="0">
      <p:cViewPr varScale="1">
        <p:scale>
          <a:sx n="117" d="100"/>
          <a:sy n="117" d="100"/>
        </p:scale>
        <p:origin x="11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B2D1B5-DCEE-CC42-8128-1844D42DC3BF}" type="datetimeFigureOut">
              <a:rPr kumimoji="1" lang="zh-CN" altLang="en-US" smtClean="0"/>
              <a:t>2026/3/12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1CE01-6F09-E24B-845E-71428C4A1617}" type="slidenum">
              <a:rPr kumimoji="1" lang="zh-CN" altLang="en-US" smtClean="0"/>
              <a:t>‹#›</a:t>
            </a:fld>
            <a:endParaRPr kumimoji="1" lang="zh-CN" altLang="en-US"/>
          </a:p>
        </p:txBody>
      </p:sp>
    </p:spTree>
    <p:extLst>
      <p:ext uri="{BB962C8B-B14F-4D97-AF65-F5344CB8AC3E}">
        <p14:creationId xmlns:p14="http://schemas.microsoft.com/office/powerpoint/2010/main" val="1875848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901CE01-6F09-E24B-845E-71428C4A1617}" type="slidenum">
              <a:rPr kumimoji="1" lang="zh-CN" altLang="en-US" smtClean="0"/>
              <a:t>33</a:t>
            </a:fld>
            <a:endParaRPr kumimoji="1" lang="zh-CN" altLang="en-US"/>
          </a:p>
        </p:txBody>
      </p:sp>
    </p:spTree>
    <p:extLst>
      <p:ext uri="{BB962C8B-B14F-4D97-AF65-F5344CB8AC3E}">
        <p14:creationId xmlns:p14="http://schemas.microsoft.com/office/powerpoint/2010/main" val="41204958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901CE01-6F09-E24B-845E-71428C4A1617}" type="slidenum">
              <a:rPr kumimoji="1" lang="zh-CN" altLang="en-US" smtClean="0"/>
              <a:t>40</a:t>
            </a:fld>
            <a:endParaRPr kumimoji="1" lang="zh-CN" altLang="en-US"/>
          </a:p>
        </p:txBody>
      </p:sp>
    </p:spTree>
    <p:extLst>
      <p:ext uri="{BB962C8B-B14F-4D97-AF65-F5344CB8AC3E}">
        <p14:creationId xmlns:p14="http://schemas.microsoft.com/office/powerpoint/2010/main" val="3937025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7D26C-22D2-1A72-4394-D5F9755FB42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0CB6CF6E-D389-BAAF-A0DF-328CAD0D64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99BBA4DB-3337-9382-BB91-518ACFBAD89F}"/>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804E9B78-AEE0-6601-BE9F-DC6ADF421CF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2DB6F7E-575F-F045-5B49-AFC65B1C3BA0}"/>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4191726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6AB5D-373A-E27C-35C4-43E6E87FA1C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32D814F2-6BF9-2F6A-1531-5377DE807DD7}"/>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B2944CA-EC89-208F-54EB-B42AE6E3ABCC}"/>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BA5927C5-4565-5C14-4F3F-E429D2B8E7C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338C5E3-9131-DDAF-9EE1-4AC8BAC1929B}"/>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703393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67C45F-A771-E64B-43D1-D22FFF68C484}"/>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67411BA-5A76-7B12-C753-6783B13B26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4021F0A-E237-148C-E7B2-F2F9A48C3FFA}"/>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5956210D-350C-AFA9-F3E5-D614BE7CC73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1A91152-6E3E-1676-72F5-755ED613D089}"/>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404230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C37AB8-5748-3E07-A832-E5EC449FCF3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1A3C417-6821-BA57-BB7F-F07CF296851F}"/>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8E33A6A8-4B18-6B2B-3C63-17E60C070359}"/>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4A078BAA-FC47-4CF0-2C00-F17E112629C7}"/>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6" name="页脚占位符 5">
            <a:extLst>
              <a:ext uri="{FF2B5EF4-FFF2-40B4-BE49-F238E27FC236}">
                <a16:creationId xmlns:a16="http://schemas.microsoft.com/office/drawing/2014/main" id="{A742218F-659D-A2D0-3B8B-FC11B5F639C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CB3E346-724D-7D39-2E1D-C24A0741752F}"/>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1682873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A7CF69-3CB0-E74F-34FA-6E8839E121D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8009601-2301-62A6-1F07-F54A229F9F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3AFCCB6C-4D75-02E2-E7A1-C22B60553654}"/>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64A598E-5D9D-3F2B-52EA-A361B88B2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5CA2D84-E6AE-DC26-3DD2-0DF6BC76C541}"/>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346E2BB-701A-6564-BD25-03AA1B73E0D1}"/>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8" name="页脚占位符 7">
            <a:extLst>
              <a:ext uri="{FF2B5EF4-FFF2-40B4-BE49-F238E27FC236}">
                <a16:creationId xmlns:a16="http://schemas.microsoft.com/office/drawing/2014/main" id="{6D0FDFDE-10F6-8BC7-E1C8-C2ADDD7FD28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0E9A852-7A85-EFA2-E063-708327BD8422}"/>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112732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A82B09-492F-8859-1AF9-5B320A30F8B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E7E0AC1-4645-80F3-22E3-5083D4E520DB}"/>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4" name="页脚占位符 3">
            <a:extLst>
              <a:ext uri="{FF2B5EF4-FFF2-40B4-BE49-F238E27FC236}">
                <a16:creationId xmlns:a16="http://schemas.microsoft.com/office/drawing/2014/main" id="{D0DFAC50-E985-C3F8-23D5-10FBB01ECE88}"/>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9A1B3CE-14F8-CDDF-D066-78D69F68B70B}"/>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3552552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616FCA-895E-D663-3B89-33FD286312B1}"/>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3" name="页脚占位符 2">
            <a:extLst>
              <a:ext uri="{FF2B5EF4-FFF2-40B4-BE49-F238E27FC236}">
                <a16:creationId xmlns:a16="http://schemas.microsoft.com/office/drawing/2014/main" id="{A6C6BA5F-A755-9428-3A91-56171DE8FEF6}"/>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4A19C57-A34B-40CF-28D9-4AC5E59A266D}"/>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1325427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BFD26B-799A-0AE6-D514-7A51175699E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E9E3024C-160F-3037-AF25-9FB0B96460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AC52AEF-01D5-2794-CF8D-AB4951A3E0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95B19C0E-08EE-E842-2B04-18920AABCCCB}"/>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6" name="页脚占位符 5">
            <a:extLst>
              <a:ext uri="{FF2B5EF4-FFF2-40B4-BE49-F238E27FC236}">
                <a16:creationId xmlns:a16="http://schemas.microsoft.com/office/drawing/2014/main" id="{9C1C4D83-DF25-F5F1-FCE8-ACE752E3EC4A}"/>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698B057-ED4A-2F27-8009-9BC0D02F97AE}"/>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3945852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3EC557-5D39-854B-44C2-9C29729E91B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7F93634B-EE3F-912D-A31B-D3421CC219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81BEC38-970A-3F90-5B7C-910335143A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9AC21F5-A589-841E-4382-4AEF27801DD1}"/>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6" name="页脚占位符 5">
            <a:extLst>
              <a:ext uri="{FF2B5EF4-FFF2-40B4-BE49-F238E27FC236}">
                <a16:creationId xmlns:a16="http://schemas.microsoft.com/office/drawing/2014/main" id="{3D42924A-BFAB-7000-B458-E3C145EEFD9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91E2392-32EB-9AC4-4125-B4AD54B784A1}"/>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3943966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10C107-743E-C8CE-80AE-09D048904E3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3D5F6FF-59E9-970C-2BBA-4307BC3002D5}"/>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84D7AA1-6465-FF74-239C-4484DFD590A3}"/>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4924DB02-11C3-F290-77FD-B6D5F06DA6FC}"/>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F670FD7-570D-A129-8634-3C94F75DDC7F}"/>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1747815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95A97BC-BC9F-9142-6535-97681AF30044}"/>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48B5FD9-9002-0D43-2AB9-75C0278EA21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DC462A2-DF21-15C8-EB80-110F32E8BB22}"/>
              </a:ext>
            </a:extLst>
          </p:cNvPr>
          <p:cNvSpPr>
            <a:spLocks noGrp="1"/>
          </p:cNvSpPr>
          <p:nvPr>
            <p:ph type="dt" sz="half" idx="10"/>
          </p:nvPr>
        </p:nvSpPr>
        <p:spPr/>
        <p:txBody>
          <a:body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0785CEDE-7820-B2A3-9ABD-CFDFA08A246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4C1B13-8592-34CA-5D0B-3DB0C2984D2D}"/>
              </a:ext>
            </a:extLst>
          </p:cNvPr>
          <p:cNvSpPr>
            <a:spLocks noGrp="1"/>
          </p:cNvSpPr>
          <p:nvPr>
            <p:ph type="sldNum" sz="quarter" idx="12"/>
          </p:nvPr>
        </p:nvSpPr>
        <p:spPr/>
        <p:txBody>
          <a:body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988857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E3F0981-ABBF-EE29-7D8D-AB16361BBE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8BC9FD2-F578-A89C-F1B9-1F67C660AA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647016F-55BC-18B8-0D7C-BBD7EF7704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483288-03F6-654C-94A7-3E5238AC5376}" type="datetimeFigureOut">
              <a:rPr kumimoji="1" lang="zh-CN" altLang="en-US" smtClean="0"/>
              <a:t>2026/3/12</a:t>
            </a:fld>
            <a:endParaRPr kumimoji="1" lang="zh-CN" altLang="en-US"/>
          </a:p>
        </p:txBody>
      </p:sp>
      <p:sp>
        <p:nvSpPr>
          <p:cNvPr id="5" name="页脚占位符 4">
            <a:extLst>
              <a:ext uri="{FF2B5EF4-FFF2-40B4-BE49-F238E27FC236}">
                <a16:creationId xmlns:a16="http://schemas.microsoft.com/office/drawing/2014/main" id="{78C8FE9E-4CFB-B763-6DFB-6885CA8E29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FE95CE28-9431-A045-CB28-8FEE3DCE24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BBE8137-C2C3-4A4E-8EC0-94F2206B54BC}" type="slidenum">
              <a:rPr kumimoji="1" lang="zh-CN" altLang="en-US" smtClean="0"/>
              <a:t>‹#›</a:t>
            </a:fld>
            <a:endParaRPr kumimoji="1" lang="zh-CN" altLang="en-US"/>
          </a:p>
        </p:txBody>
      </p:sp>
    </p:spTree>
    <p:extLst>
      <p:ext uri="{BB962C8B-B14F-4D97-AF65-F5344CB8AC3E}">
        <p14:creationId xmlns:p14="http://schemas.microsoft.com/office/powerpoint/2010/main" val="1263027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www.dropbox.com/scl/fo/wrkuqu4fi5876rfhhngz6/AAqSNC5YZYDDhozhjU4FQaQ?rlkey=0aojdkzzcvfpzdkfuz7nkiagf&amp;st=zlf07olq&amp;dl=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13B2C-6E72-3344-8D05-A81B8F08F986}"/>
              </a:ext>
            </a:extLst>
          </p:cNvPr>
          <p:cNvSpPr>
            <a:spLocks noGrp="1"/>
          </p:cNvSpPr>
          <p:nvPr>
            <p:ph type="ctrTitle"/>
          </p:nvPr>
        </p:nvSpPr>
        <p:spPr>
          <a:xfrm>
            <a:off x="1223681" y="2325333"/>
            <a:ext cx="9744635" cy="701731"/>
          </a:xfrm>
        </p:spPr>
        <p:txBody>
          <a:bodyPr wrap="square">
            <a:spAutoFit/>
          </a:bodyPr>
          <a:lstStyle/>
          <a:p>
            <a:pPr defTabSz="685800"/>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Crypto</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CEX</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Intro</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&amp; Spot Data</a:t>
            </a:r>
            <a:endPar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4BAF81D8-24EC-DF4A-8574-EACD5AEC3A11}"/>
              </a:ext>
            </a:extLst>
          </p:cNvPr>
          <p:cNvPicPr>
            <a:picLocks noChangeAspect="1"/>
          </p:cNvPicPr>
          <p:nvPr/>
        </p:nvPicPr>
        <p:blipFill>
          <a:blip r:embed="rId2"/>
          <a:stretch>
            <a:fillRect/>
          </a:stretch>
        </p:blipFill>
        <p:spPr>
          <a:xfrm>
            <a:off x="10177670" y="161952"/>
            <a:ext cx="1689652" cy="751896"/>
          </a:xfrm>
          <a:prstGeom prst="rect">
            <a:avLst/>
          </a:prstGeom>
        </p:spPr>
      </p:pic>
      <p:sp>
        <p:nvSpPr>
          <p:cNvPr id="3" name="标题 1">
            <a:extLst>
              <a:ext uri="{FF2B5EF4-FFF2-40B4-BE49-F238E27FC236}">
                <a16:creationId xmlns:a16="http://schemas.microsoft.com/office/drawing/2014/main" id="{349176AC-8FBF-A05F-9859-93E07B2D51F1}"/>
              </a:ext>
            </a:extLst>
          </p:cNvPr>
          <p:cNvSpPr txBox="1">
            <a:spLocks/>
          </p:cNvSpPr>
          <p:nvPr/>
        </p:nvSpPr>
        <p:spPr>
          <a:xfrm>
            <a:off x="3502179" y="3445905"/>
            <a:ext cx="5187641" cy="992644"/>
          </a:xfrm>
          <a:prstGeom prst="rect">
            <a:avLst/>
          </a:prstGeom>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defTabSz="685800">
              <a:lnSpc>
                <a:spcPct val="140000"/>
              </a:lnSpc>
            </a:pPr>
            <a:r>
              <a:rPr lang="en-US" altLang="zh-CN" sz="2400" b="1" dirty="0">
                <a:latin typeface="Times New Roman" panose="02020603050405020304" pitchFamily="18" charset="0"/>
                <a:cs typeface="Times New Roman" panose="02020603050405020304" pitchFamily="18" charset="0"/>
              </a:rPr>
              <a:t>Prof. Yang You</a:t>
            </a:r>
          </a:p>
          <a:p>
            <a:pPr defTabSz="685800">
              <a:lnSpc>
                <a:spcPct val="140000"/>
              </a:lnSpc>
            </a:pPr>
            <a:r>
              <a:rPr lang="en-US" altLang="zh-CN" sz="2000" dirty="0">
                <a:latin typeface="Times New Roman" panose="02020603050405020304" pitchFamily="18" charset="0"/>
                <a:cs typeface="Times New Roman" panose="02020603050405020304" pitchFamily="18" charset="0"/>
              </a:rPr>
              <a:t>HKU Business School</a:t>
            </a:r>
          </a:p>
        </p:txBody>
      </p:sp>
      <p:cxnSp>
        <p:nvCxnSpPr>
          <p:cNvPr id="6" name="直线连接符 5">
            <a:extLst>
              <a:ext uri="{FF2B5EF4-FFF2-40B4-BE49-F238E27FC236}">
                <a16:creationId xmlns:a16="http://schemas.microsoft.com/office/drawing/2014/main" id="{C64D6872-E037-E46C-EC2D-8B94772A2920}"/>
              </a:ext>
            </a:extLst>
          </p:cNvPr>
          <p:cNvCxnSpPr>
            <a:cxnSpLocks/>
          </p:cNvCxnSpPr>
          <p:nvPr/>
        </p:nvCxnSpPr>
        <p:spPr>
          <a:xfrm>
            <a:off x="5371272" y="3225822"/>
            <a:ext cx="1140739" cy="0"/>
          </a:xfrm>
          <a:prstGeom prst="line">
            <a:avLst/>
          </a:prstGeom>
          <a:ln w="3175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9397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13B2C-6E72-3344-8D05-A81B8F08F986}"/>
              </a:ext>
            </a:extLst>
          </p:cNvPr>
          <p:cNvSpPr>
            <a:spLocks noGrp="1"/>
          </p:cNvSpPr>
          <p:nvPr>
            <p:ph type="ctrTitle"/>
          </p:nvPr>
        </p:nvSpPr>
        <p:spPr>
          <a:xfrm>
            <a:off x="1223681" y="1715936"/>
            <a:ext cx="9659667" cy="1311128"/>
          </a:xfrm>
        </p:spPr>
        <p:txBody>
          <a:bodyPr wrap="square">
            <a:spAutoFit/>
          </a:bodyPr>
          <a:lstStyle/>
          <a:p>
            <a:pPr defTabSz="685800"/>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Introduction of Cryptocurrency</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Centralized</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Exchange</a:t>
            </a:r>
            <a:r>
              <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 </a:t>
            </a:r>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(CEX)</a:t>
            </a:r>
            <a:endPar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4BAF81D8-24EC-DF4A-8574-EACD5AEC3A11}"/>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6" name="直线连接符 5">
            <a:extLst>
              <a:ext uri="{FF2B5EF4-FFF2-40B4-BE49-F238E27FC236}">
                <a16:creationId xmlns:a16="http://schemas.microsoft.com/office/drawing/2014/main" id="{C64D6872-E037-E46C-EC2D-8B94772A2920}"/>
              </a:ext>
            </a:extLst>
          </p:cNvPr>
          <p:cNvCxnSpPr>
            <a:cxnSpLocks/>
          </p:cNvCxnSpPr>
          <p:nvPr/>
        </p:nvCxnSpPr>
        <p:spPr>
          <a:xfrm>
            <a:off x="5371272" y="3225822"/>
            <a:ext cx="1140739" cy="0"/>
          </a:xfrm>
          <a:prstGeom prst="line">
            <a:avLst/>
          </a:prstGeom>
          <a:ln w="3175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5" name="文本框 4">
            <a:extLst>
              <a:ext uri="{FF2B5EF4-FFF2-40B4-BE49-F238E27FC236}">
                <a16:creationId xmlns:a16="http://schemas.microsoft.com/office/drawing/2014/main" id="{5D6AF859-8889-4828-229C-3820D098BE6B}"/>
              </a:ext>
            </a:extLst>
          </p:cNvPr>
          <p:cNvSpPr txBox="1"/>
          <p:nvPr/>
        </p:nvSpPr>
        <p:spPr>
          <a:xfrm>
            <a:off x="2055042" y="3553789"/>
            <a:ext cx="7773198" cy="1678601"/>
          </a:xfrm>
          <a:prstGeom prst="rect">
            <a:avLst/>
          </a:prstGeom>
          <a:noFill/>
        </p:spPr>
        <p:txBody>
          <a:bodyPr wrap="square" rtlCol="0">
            <a:spAutoFit/>
          </a:bodyPr>
          <a:lstStyle/>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History &amp; Evolution (2010~)</a:t>
            </a:r>
          </a:p>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Core Product</a:t>
            </a:r>
            <a:r>
              <a:rPr kumimoji="1" lang="zh-CN" altLang="en-US" dirty="0">
                <a:latin typeface="Tahoma" panose="020B0604030504040204" pitchFamily="34" charset="0"/>
                <a:ea typeface="Tahoma" panose="020B0604030504040204" pitchFamily="34" charset="0"/>
                <a:cs typeface="Tahoma" panose="020B0604030504040204" pitchFamily="34" charset="0"/>
              </a:rPr>
              <a:t> </a:t>
            </a:r>
            <a:r>
              <a:rPr kumimoji="1" lang="en-US" altLang="zh-CN" dirty="0">
                <a:latin typeface="Tahoma" panose="020B0604030504040204" pitchFamily="34" charset="0"/>
                <a:ea typeface="Tahoma" panose="020B0604030504040204" pitchFamily="34" charset="0"/>
                <a:cs typeface="Tahoma" panose="020B0604030504040204" pitchFamily="34" charset="0"/>
              </a:rPr>
              <a:t>Categories of CEX</a:t>
            </a:r>
          </a:p>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Key</a:t>
            </a:r>
            <a:r>
              <a:rPr kumimoji="1" lang="zh-CN" altLang="en-US" dirty="0">
                <a:latin typeface="Tahoma" panose="020B0604030504040204" pitchFamily="34" charset="0"/>
                <a:ea typeface="Tahoma" panose="020B0604030504040204" pitchFamily="34" charset="0"/>
                <a:cs typeface="Tahoma" panose="020B0604030504040204" pitchFamily="34" charset="0"/>
              </a:rPr>
              <a:t> </a:t>
            </a:r>
            <a:r>
              <a:rPr kumimoji="1" lang="en-US" altLang="zh-CN" dirty="0">
                <a:latin typeface="Tahoma" panose="020B0604030504040204" pitchFamily="34" charset="0"/>
                <a:ea typeface="Tahoma" panose="020B0604030504040204" pitchFamily="34" charset="0"/>
                <a:cs typeface="Tahoma" panose="020B0604030504040204" pitchFamily="34" charset="0"/>
              </a:rPr>
              <a:t>Risk</a:t>
            </a:r>
            <a:r>
              <a:rPr kumimoji="1" lang="zh-CN" altLang="en-US" dirty="0">
                <a:latin typeface="Tahoma" panose="020B0604030504040204" pitchFamily="34" charset="0"/>
                <a:ea typeface="Tahoma" panose="020B0604030504040204" pitchFamily="34" charset="0"/>
                <a:cs typeface="Tahoma" panose="020B0604030504040204" pitchFamily="34" charset="0"/>
              </a:rPr>
              <a:t> </a:t>
            </a:r>
            <a:r>
              <a:rPr kumimoji="1" lang="en-US" altLang="zh-CN" dirty="0">
                <a:latin typeface="Tahoma" panose="020B0604030504040204" pitchFamily="34" charset="0"/>
                <a:ea typeface="Tahoma" panose="020B0604030504040204" pitchFamily="34" charset="0"/>
                <a:cs typeface="Tahoma" panose="020B0604030504040204" pitchFamily="34" charset="0"/>
              </a:rPr>
              <a:t>Factors, Advantages/Disadvantages</a:t>
            </a:r>
          </a:p>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Leading CEXs</a:t>
            </a:r>
          </a:p>
        </p:txBody>
      </p:sp>
    </p:spTree>
    <p:extLst>
      <p:ext uri="{BB962C8B-B14F-4D97-AF65-F5344CB8AC3E}">
        <p14:creationId xmlns:p14="http://schemas.microsoft.com/office/powerpoint/2010/main" val="965831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146071"/>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EARLY DAYS (2010-2014): Pioneering &amp; Vulnerability</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err="1">
                <a:latin typeface="Tahoma" panose="020B0604030504040204" pitchFamily="34" charset="0"/>
                <a:ea typeface="Tahoma" panose="020B0604030504040204" pitchFamily="34" charset="0"/>
                <a:cs typeface="Tahoma" panose="020B0604030504040204" pitchFamily="34" charset="0"/>
              </a:rPr>
              <a:t>BitcoinMarket.com</a:t>
            </a:r>
            <a:r>
              <a:rPr kumimoji="1" lang="en-US" altLang="zh-CN" sz="2000" b="1" dirty="0">
                <a:latin typeface="Tahoma" panose="020B0604030504040204" pitchFamily="34" charset="0"/>
                <a:ea typeface="Tahoma" panose="020B0604030504040204" pitchFamily="34" charset="0"/>
                <a:cs typeface="Tahoma" panose="020B0604030504040204" pitchFamily="34" charset="0"/>
              </a:rPr>
              <a:t> Launch (2010) </a:t>
            </a:r>
            <a:r>
              <a:rPr kumimoji="1" lang="en-US" altLang="zh-CN" sz="2000" dirty="0">
                <a:latin typeface="Tahoma" panose="020B0604030504040204" pitchFamily="34" charset="0"/>
                <a:ea typeface="Tahoma" panose="020B0604030504040204" pitchFamily="34" charset="0"/>
                <a:cs typeface="Tahoma" panose="020B0604030504040204" pitchFamily="34" charset="0"/>
              </a:rPr>
              <a:t>- The world's first cryptocurrency exchange went live on March 17, 2010, created by user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dwdollar</a:t>
            </a:r>
            <a:r>
              <a:rPr kumimoji="1" lang="en-US" altLang="zh-CN" sz="2000" dirty="0">
                <a:latin typeface="Tahoma" panose="020B0604030504040204" pitchFamily="34" charset="0"/>
                <a:ea typeface="Tahoma" panose="020B0604030504040204" pitchFamily="34" charset="0"/>
                <a:cs typeface="Tahoma" panose="020B0604030504040204" pitchFamily="34" charset="0"/>
              </a:rPr>
              <a:t>." It established peer-to-peer trading and allowed the market to set Bitcoin prices based on supply and demand, using PayPal and an escrow system. Bitcoin was valued at just $0.003 per coin at launch.</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Basic Fiat Ramps </a:t>
            </a:r>
            <a:r>
              <a:rPr kumimoji="1" lang="en-US" altLang="zh-CN" sz="2000" dirty="0">
                <a:latin typeface="Tahoma" panose="020B0604030504040204" pitchFamily="34" charset="0"/>
                <a:ea typeface="Tahoma" panose="020B0604030504040204" pitchFamily="34" charset="0"/>
                <a:cs typeface="Tahoma" panose="020B0604030504040204" pitchFamily="34" charset="0"/>
              </a:rPr>
              <a:t>- Early exchanges introduced the first methods to convert between Bitcoin and traditional fiat currencies (primarily USD), establishing the foundation for cryptocurrency markets.</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sp>
        <p:nvSpPr>
          <p:cNvPr id="7" name="Rectangle 8">
            <a:extLst>
              <a:ext uri="{FF2B5EF4-FFF2-40B4-BE49-F238E27FC236}">
                <a16:creationId xmlns:a16="http://schemas.microsoft.com/office/drawing/2014/main" id="{BFEF7677-C4B5-DFAF-2FC5-57314106AD78}"/>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0949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966809"/>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EARLY DAYS (2010-2014): Pioneering &amp; Vulnerability</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Mt. Gox Dominance (2013) - </a:t>
            </a:r>
            <a:r>
              <a:rPr kumimoji="1" lang="en-US" altLang="zh-CN" sz="2000" dirty="0">
                <a:latin typeface="Tahoma" panose="020B0604030504040204" pitchFamily="34" charset="0"/>
                <a:ea typeface="Tahoma" panose="020B0604030504040204" pitchFamily="34" charset="0"/>
                <a:cs typeface="Tahoma" panose="020B0604030504040204" pitchFamily="34" charset="0"/>
              </a:rPr>
              <a:t>Mt. Gox became the dominant exchange, handling over 70% of all Bitcoin transactions worldwide by early 2013, establishing centralized exchanges as the primary trading infrastructure.</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Mt. Gox Collapse (2014) </a:t>
            </a:r>
            <a:r>
              <a:rPr kumimoji="1" lang="en-US" altLang="zh-CN" sz="2000" dirty="0">
                <a:latin typeface="Tahoma" panose="020B0604030504040204" pitchFamily="34" charset="0"/>
                <a:ea typeface="Tahoma" panose="020B0604030504040204" pitchFamily="34" charset="0"/>
                <a:cs typeface="Tahoma" panose="020B0604030504040204" pitchFamily="34" charset="0"/>
              </a:rPr>
              <a:t>- In February 2014, Mt. Gox suspended trading and filed for bankruptcy after losing approximately 850,000 BTC (~$850k at the time). Investigation revealed that bitcoins were stolen directly from the exchange's hot wallet over time, beginning in late 2011. This catastrophic failure exposed vulnerabilities in early exchange security and highlighted the risks of centralization.</a:t>
            </a:r>
          </a:p>
          <a:p>
            <a:pPr>
              <a:lnSpc>
                <a:spcPts val="3200"/>
              </a:lnSpc>
            </a:pPr>
            <a:endParaRPr kumimoji="1" lang="en-US" altLang="zh-CN" sz="2000" b="1" dirty="0" err="1">
              <a:latin typeface="Tahoma" panose="020B0604030504040204" pitchFamily="34" charset="0"/>
              <a:ea typeface="Tahoma" panose="020B0604030504040204" pitchFamily="34" charset="0"/>
              <a:cs typeface="Tahoma" panose="020B0604030504040204" pitchFamily="34" charset="0"/>
            </a:endParaRP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3120FDB9-0898-D6BD-86C9-09B20277DBB6}"/>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88910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556440"/>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GROWTH ERA (2015-2020)</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Altcoin Exchanges Boom (2017) - </a:t>
            </a:r>
            <a:r>
              <a:rPr kumimoji="1" lang="en-US" altLang="zh-CN" sz="2000" dirty="0">
                <a:latin typeface="Tahoma" panose="020B0604030504040204" pitchFamily="34" charset="0"/>
                <a:ea typeface="Tahoma" panose="020B0604030504040204" pitchFamily="34" charset="0"/>
                <a:cs typeface="Tahoma" panose="020B0604030504040204" pitchFamily="34" charset="0"/>
              </a:rPr>
              <a:t>The ICO (Initial Coin Offering) boom and emergence of forked coins drove explosive trading demand. Major exchanges like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Binance</a:t>
            </a:r>
            <a:r>
              <a:rPr kumimoji="1" lang="en-US" altLang="zh-CN" sz="2000" dirty="0">
                <a:latin typeface="Tahoma" panose="020B0604030504040204" pitchFamily="34" charset="0"/>
                <a:ea typeface="Tahoma" panose="020B0604030504040204" pitchFamily="34" charset="0"/>
                <a:cs typeface="Tahoma" panose="020B0604030504040204" pitchFamily="34" charset="0"/>
              </a:rPr>
              <a:t>,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Gate.com</a:t>
            </a:r>
            <a:r>
              <a:rPr kumimoji="1" lang="en-US" altLang="zh-CN" sz="2000" dirty="0">
                <a:latin typeface="Tahoma" panose="020B0604030504040204" pitchFamily="34" charset="0"/>
                <a:ea typeface="Tahoma" panose="020B0604030504040204" pitchFamily="34" charset="0"/>
                <a:cs typeface="Tahoma" panose="020B0604030504040204" pitchFamily="34" charset="0"/>
              </a:rPr>
              <a:t>, and OKX launched in 2017. The altcoin season saw Ethereum surge from $8 to over $1,400, XRP from $0.006 to $3.50, and Litecoin from $4 to $360, driving massive interest in alternative cryptocurrency trading.</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Futures and Perpetuals - </a:t>
            </a:r>
            <a:r>
              <a:rPr kumimoji="1" lang="en-US" altLang="zh-CN" sz="2000" dirty="0">
                <a:latin typeface="Tahoma" panose="020B0604030504040204" pitchFamily="34" charset="0"/>
                <a:ea typeface="Tahoma" panose="020B0604030504040204" pitchFamily="34" charset="0"/>
                <a:cs typeface="Tahoma" panose="020B0604030504040204" pitchFamily="34" charset="0"/>
              </a:rPr>
              <a:t>Exchanges introduced sophisticated trading products including futures contracts and perpetual swaps, attracting professional traders and increasing market liquidity.</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0AEF5FA1-516F-D767-AB69-254F64458A7C}"/>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96782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2914965"/>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GROWTH ERA (2015-2020)</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Institutional Entry (2020) - </a:t>
            </a:r>
            <a:r>
              <a:rPr kumimoji="1" lang="en-US" altLang="zh-CN" sz="2000" dirty="0">
                <a:latin typeface="Tahoma" panose="020B0604030504040204" pitchFamily="34" charset="0"/>
                <a:ea typeface="Tahoma" panose="020B0604030504040204" pitchFamily="34" charset="0"/>
                <a:cs typeface="Tahoma" panose="020B0604030504040204" pitchFamily="34" charset="0"/>
              </a:rPr>
              <a:t>Major turning point as mainstream institutions entered the market. PayPal allowed users to buy, hold, and sell crypto in October 2020. Grayscale's Bitcoin Trust (GBTC) saw record assets under management. Square's Cash App and PayPal combined were buying more than 100% of newly mined Bitcoin, creating supply pressure and legitimizing crypto for mainstream adoption.</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8BA578B4-3E30-EF13-3EC2-8E320A9A130C}"/>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97473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556440"/>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MODERN ERA (2021-NOW)</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KYC/AML Standards (2023) </a:t>
            </a:r>
            <a:r>
              <a:rPr kumimoji="1" lang="en-US" altLang="zh-CN" sz="2000" dirty="0">
                <a:latin typeface="Tahoma" panose="020B0604030504040204" pitchFamily="34" charset="0"/>
                <a:ea typeface="Tahoma" panose="020B0604030504040204" pitchFamily="34" charset="0"/>
                <a:cs typeface="Tahoma" panose="020B0604030504040204" pitchFamily="34" charset="0"/>
              </a:rPr>
              <a:t>- Exchanges entered a "compliance era" by adopting strict regulations like FinCEN and FATF guidelines, requiring robust identity verification and transaction monitoring.</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Proof-of-Reserves</a:t>
            </a:r>
            <a:r>
              <a:rPr kumimoji="1" lang="en-US" altLang="zh-CN" sz="2000" dirty="0">
                <a:latin typeface="Tahoma" panose="020B0604030504040204" pitchFamily="34" charset="0"/>
                <a:ea typeface="Tahoma" panose="020B0604030504040204" pitchFamily="34" charset="0"/>
                <a:cs typeface="Tahoma" panose="020B0604030504040204" pitchFamily="34" charset="0"/>
              </a:rPr>
              <a:t> - Platforms began publishing cryptographic proof of their holdings to demonstrate solvency and rebuild user trust.</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MPC/Custody Focus </a:t>
            </a:r>
            <a:r>
              <a:rPr kumimoji="1" lang="en-US" altLang="zh-CN" sz="2000" dirty="0">
                <a:latin typeface="Tahoma" panose="020B0604030504040204" pitchFamily="34" charset="0"/>
                <a:ea typeface="Tahoma" panose="020B0604030504040204" pitchFamily="34" charset="0"/>
                <a:cs typeface="Tahoma" panose="020B0604030504040204" pitchFamily="34" charset="0"/>
              </a:rPr>
              <a:t>- Institutional-grade custody and Multi-Party Computation (MPC) technology became the standard for securing user assets.</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2E1E37C5-D284-3C47-9A59-264F72CF860D}"/>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97336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2914965"/>
          </a:xfrm>
          <a:prstGeom prst="rect">
            <a:avLst/>
          </a:prstGeom>
          <a:noFill/>
        </p:spPr>
        <p:txBody>
          <a:bodyPr wrap="square" rtlCol="0">
            <a:spAutoFit/>
          </a:bodyPr>
          <a:lstStyle/>
          <a:p>
            <a:pPr>
              <a:lnSpc>
                <a:spcPts val="3200"/>
              </a:lnSpc>
            </a:pPr>
            <a:r>
              <a:rPr kumimoji="1" lang="en-US" altLang="zh-CN" sz="2400" b="1" dirty="0">
                <a:solidFill>
                  <a:srgbClr val="00B0F0"/>
                </a:solidFill>
                <a:latin typeface="Tahoma" panose="020B0604030504040204" pitchFamily="34" charset="0"/>
                <a:ea typeface="Tahoma" panose="020B0604030504040204" pitchFamily="34" charset="0"/>
                <a:cs typeface="Tahoma" panose="020B0604030504040204" pitchFamily="34" charset="0"/>
              </a:rPr>
              <a:t>MODERN ERA (2021-NOW)</a:t>
            </a: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2000" b="1" dirty="0" err="1">
                <a:latin typeface="Tahoma" panose="020B0604030504040204" pitchFamily="34" charset="0"/>
                <a:ea typeface="Tahoma" panose="020B0604030504040204" pitchFamily="34" charset="0"/>
                <a:cs typeface="Tahoma" panose="020B0604030504040204" pitchFamily="34" charset="0"/>
              </a:rPr>
              <a:t>Bybit</a:t>
            </a:r>
            <a:r>
              <a:rPr kumimoji="1" lang="en-US" altLang="zh-CN" sz="2000" b="1" dirty="0">
                <a:latin typeface="Tahoma" panose="020B0604030504040204" pitchFamily="34" charset="0"/>
                <a:ea typeface="Tahoma" panose="020B0604030504040204" pitchFamily="34" charset="0"/>
                <a:cs typeface="Tahoma" panose="020B0604030504040204" pitchFamily="34" charset="0"/>
              </a:rPr>
              <a:t> Hack ($1.5B) </a:t>
            </a:r>
            <a:r>
              <a:rPr kumimoji="1" lang="en-US" altLang="zh-CN" sz="2000" dirty="0">
                <a:latin typeface="Tahoma" panose="020B0604030504040204" pitchFamily="34" charset="0"/>
                <a:ea typeface="Tahoma" panose="020B0604030504040204" pitchFamily="34" charset="0"/>
                <a:cs typeface="Tahoma" panose="020B0604030504040204" pitchFamily="34" charset="0"/>
              </a:rPr>
              <a:t>- February 2025 - North Korean Lazarus Group executed the largest crypto theft in history, stealing approximately $1.5 billion in Ethereum from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Bybit</a:t>
            </a:r>
            <a:r>
              <a:rPr kumimoji="1" lang="en-US" altLang="zh-CN" sz="2000" dirty="0">
                <a:latin typeface="Tahoma" panose="020B0604030504040204" pitchFamily="34" charset="0"/>
                <a:ea typeface="Tahoma" panose="020B0604030504040204" pitchFamily="34" charset="0"/>
                <a:cs typeface="Tahoma" panose="020B0604030504040204" pitchFamily="34" charset="0"/>
              </a:rPr>
              <a:t> exchange through a supply chain attack. Despite this massive breach,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ByBit</a:t>
            </a:r>
            <a:r>
              <a:rPr kumimoji="1" lang="en-US" altLang="zh-CN" sz="2000" dirty="0">
                <a:latin typeface="Tahoma" panose="020B0604030504040204" pitchFamily="34" charset="0"/>
                <a:ea typeface="Tahoma" panose="020B0604030504040204" pitchFamily="34" charset="0"/>
                <a:cs typeface="Tahoma" panose="020B0604030504040204" pitchFamily="34" charset="0"/>
              </a:rPr>
              <a:t> maintained operations by securing loans to replenish stolen funds, demonstrating modern exchanges' resilience and institutional backing—a stark contrast to Mt. Gox's complete collapse.</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CEX HISTORY &amp; EVOLUTION (2010~)</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83264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935146" cy="5371920"/>
          </a:xfrm>
          <a:prstGeom prst="rect">
            <a:avLst/>
          </a:prstGeom>
          <a:noFill/>
        </p:spPr>
        <p:txBody>
          <a:bodyPr wrap="square" rtlCol="0">
            <a:spAutoFit/>
          </a:bodyPr>
          <a:lstStyle/>
          <a:p>
            <a:pPr>
              <a:lnSpc>
                <a:spcPts val="3200"/>
              </a:lnSpc>
            </a:pPr>
            <a:r>
              <a:rPr kumimoji="1" lang="en-US" altLang="zh-CN" sz="2000" b="1" dirty="0">
                <a:latin typeface="Tahoma" panose="020B0604030504040204" pitchFamily="34" charset="0"/>
                <a:ea typeface="Tahoma" panose="020B0604030504040204" pitchFamily="34" charset="0"/>
                <a:cs typeface="Tahoma" panose="020B0604030504040204" pitchFamily="34" charset="0"/>
              </a:rPr>
              <a:t>1. Core Operating Hours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24/7/365 operation </a:t>
            </a:r>
            <a:r>
              <a:rPr kumimoji="1" lang="en-US" altLang="zh-CN" dirty="0">
                <a:latin typeface="Tahoma" panose="020B0604030504040204" pitchFamily="34" charset="0"/>
                <a:ea typeface="Tahoma" panose="020B0604030504040204" pitchFamily="34" charset="0"/>
                <a:cs typeface="Tahoma" panose="020B0604030504040204" pitchFamily="34" charset="0"/>
              </a:rPr>
              <a:t>- No closing times, weekends, or holidays</a:t>
            </a:r>
          </a:p>
          <a:p>
            <a:pPr>
              <a:lnSpc>
                <a:spcPts val="3200"/>
              </a:lnSpc>
            </a:pPr>
            <a:endParaRPr kumimoji="1" lang="en-US" altLang="zh-CN" sz="1800" b="1"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b="1" dirty="0">
                <a:latin typeface="Tahoma" panose="020B0604030504040204" pitchFamily="34" charset="0"/>
                <a:ea typeface="Tahoma" panose="020B0604030504040204" pitchFamily="34" charset="0"/>
                <a:cs typeface="Tahoma" panose="020B0604030504040204" pitchFamily="34" charset="0"/>
              </a:rPr>
              <a:t>2</a:t>
            </a:r>
            <a:r>
              <a:rPr kumimoji="1" lang="en-US" altLang="zh-CN" sz="1800" b="1" dirty="0">
                <a:latin typeface="Tahoma" panose="020B0604030504040204" pitchFamily="34" charset="0"/>
                <a:ea typeface="Tahoma" panose="020B0604030504040204" pitchFamily="34" charset="0"/>
                <a:cs typeface="Tahoma" panose="020B0604030504040204" pitchFamily="34" charset="0"/>
              </a:rPr>
              <a:t>. Market Activity</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Peak hours </a:t>
            </a:r>
            <a:r>
              <a:rPr kumimoji="1" lang="en-US" altLang="zh-CN" dirty="0">
                <a:latin typeface="Tahoma" panose="020B0604030504040204" pitchFamily="34" charset="0"/>
                <a:ea typeface="Tahoma" panose="020B0604030504040204" pitchFamily="34" charset="0"/>
                <a:cs typeface="Tahoma" panose="020B0604030504040204" pitchFamily="34" charset="0"/>
              </a:rPr>
              <a:t>- Highest volume during overlap of major financial center business hours</a:t>
            </a:r>
          </a:p>
          <a:p>
            <a:pPr marL="800100" lvl="1" indent="-342900">
              <a:lnSpc>
                <a:spcPts val="3200"/>
              </a:lnSpc>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Off-peak volatility </a:t>
            </a:r>
            <a:r>
              <a:rPr kumimoji="1" lang="en-US" altLang="zh-CN" dirty="0">
                <a:latin typeface="Tahoma" panose="020B0604030504040204" pitchFamily="34" charset="0"/>
                <a:ea typeface="Tahoma" panose="020B0604030504040204" pitchFamily="34" charset="0"/>
                <a:cs typeface="Tahoma" panose="020B0604030504040204" pitchFamily="34" charset="0"/>
              </a:rPr>
              <a:t>- Lower liquidity on weekends/nights can increase spreads and price swings</a:t>
            </a:r>
          </a:p>
          <a:p>
            <a:pPr>
              <a:lnSpc>
                <a:spcPts val="3200"/>
              </a:lnSpc>
            </a:pP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a:lnSpc>
                <a:spcPts val="3200"/>
              </a:lnSpc>
            </a:pPr>
            <a:r>
              <a:rPr kumimoji="1" lang="en-US" altLang="zh-CN" sz="1800" b="1" dirty="0">
                <a:latin typeface="Tahoma" panose="020B0604030504040204" pitchFamily="34" charset="0"/>
                <a:ea typeface="Tahoma" panose="020B0604030504040204" pitchFamily="34" charset="0"/>
                <a:cs typeface="Tahoma" panose="020B0604030504040204" pitchFamily="34" charset="0"/>
              </a:rPr>
              <a:t>3. Maintenance</a:t>
            </a:r>
            <a:r>
              <a:rPr kumimoji="1" lang="zh-CN" altLang="en-US" sz="1800" b="1" dirty="0">
                <a:latin typeface="Tahoma" panose="020B0604030504040204" pitchFamily="34" charset="0"/>
                <a:ea typeface="Tahoma" panose="020B0604030504040204" pitchFamily="34" charset="0"/>
                <a:cs typeface="Tahoma" panose="020B0604030504040204" pitchFamily="34" charset="0"/>
              </a:rPr>
              <a:t> </a:t>
            </a:r>
            <a:r>
              <a:rPr kumimoji="1" lang="en-US" altLang="zh-CN" sz="1800" b="1" dirty="0">
                <a:latin typeface="Tahoma" panose="020B0604030504040204" pitchFamily="34" charset="0"/>
                <a:ea typeface="Tahoma" panose="020B0604030504040204" pitchFamily="34" charset="0"/>
                <a:cs typeface="Tahoma" panose="020B0604030504040204" pitchFamily="34" charset="0"/>
              </a:rPr>
              <a:t>Windows</a:t>
            </a:r>
          </a:p>
          <a:p>
            <a:pPr marL="800100" lvl="1" indent="-342900">
              <a:lnSpc>
                <a:spcPts val="3200"/>
              </a:lnSpc>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Scheduled downtime </a:t>
            </a:r>
            <a:r>
              <a:rPr kumimoji="1" lang="en-US" altLang="zh-CN" dirty="0">
                <a:latin typeface="Tahoma" panose="020B0604030504040204" pitchFamily="34" charset="0"/>
                <a:ea typeface="Tahoma" panose="020B0604030504040204" pitchFamily="34" charset="0"/>
                <a:cs typeface="Tahoma" panose="020B0604030504040204" pitchFamily="34" charset="0"/>
              </a:rPr>
              <a:t>- Occasional brief maintenance periods (typically 50 minutes weekly or 3-4 hours quarterly)</a:t>
            </a:r>
          </a:p>
          <a:p>
            <a:pPr marL="800100" lvl="1" indent="-342900">
              <a:lnSpc>
                <a:spcPts val="3200"/>
              </a:lnSpc>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Emergency halts </a:t>
            </a:r>
            <a:r>
              <a:rPr kumimoji="1" lang="en-US" altLang="zh-CN" dirty="0">
                <a:latin typeface="Tahoma" panose="020B0604030504040204" pitchFamily="34" charset="0"/>
                <a:ea typeface="Tahoma" panose="020B0604030504040204" pitchFamily="34" charset="0"/>
                <a:cs typeface="Tahoma" panose="020B0604030504040204" pitchFamily="34" charset="0"/>
              </a:rPr>
              <a:t>- Rare unplanned suspensions for technical issues or security incidents</a:t>
            </a:r>
          </a:p>
          <a:p>
            <a:pPr>
              <a:lnSpc>
                <a:spcPts val="3200"/>
              </a:lnSpc>
            </a:pP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a:lnSpc>
                <a:spcPts val="3200"/>
              </a:lnSpc>
            </a:pPr>
            <a:endParaRPr kumimoji="1" lang="en-US" altLang="zh-CN" dirty="0">
              <a:latin typeface="Tahoma" panose="020B0604030504040204" pitchFamily="34" charset="0"/>
              <a:ea typeface="Tahoma" panose="020B0604030504040204" pitchFamily="34" charset="0"/>
              <a:cs typeface="Tahoma" panose="020B0604030504040204" pitchFamily="34" charset="0"/>
            </a:endParaRP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TRADING HOURS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9288331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146071"/>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1. Spot Trading</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Direct asset ownership with immediate settlement (T+0)</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Order book matching connects buyers and sellers in real-time</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Fiat on/off ramps enable conversion between traditional currencies (USD, EUR) and cryptocurrencies</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Foundation for all derivatives pricing</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40505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146071"/>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2. Margin Trading</a:t>
            </a:r>
          </a:p>
          <a:p>
            <a:pPr lvl="1">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Borrow funds against your existing holdings to amplify position size</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Leverage ranges from 2x to 125x depending on exchange and asset</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Automated liquidations trigger when collateral value falls below maintenance margin</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Amplifies both gains and losses proportionally</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81141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3325334"/>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3. Perpetual Futures</a:t>
            </a:r>
          </a:p>
          <a:p>
            <a:pPr lvl="1">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No expiration date - positions can be held indefinitely unlike traditional futures</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Funding rate mechanism - periodic payments (every 8 hours) between long/short positions keep price anchored to spot</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Popular for leveraged directional trading without rollover concerns</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905535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3735703"/>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4. Dated Futures</a:t>
            </a:r>
          </a:p>
          <a:p>
            <a:pPr lvl="1">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Fixed settlement dates - typically quarterly (March, June, September, December) or monthly</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Basis trading opportunities - price difference between futures and spot enables arbitrage</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Settlement occurs on last Friday of quarter at 08:00 UTC</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37957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3735703"/>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5. Options</a:t>
            </a:r>
          </a:p>
          <a:p>
            <a:pPr lvl="1">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Calls and puts for hedging downside risk or generating income</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Greeks management - Delta, Gamma, Theta, Vega measure risk exposures</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Requires advanced understanding of volatility and time decay</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Provides asymmetric risk/reward profiles</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75493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2914965"/>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6. OTC/Block Trading</a:t>
            </a:r>
          </a:p>
          <a:p>
            <a:pPr lvl="1">
              <a:lnSpc>
                <a:spcPts val="3200"/>
              </a:lnSpc>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Institutional-sized orders executed privately off public order books</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RFQ (Request-for-Quote) desks provide custom pricing for large trades</a:t>
            </a:r>
          </a:p>
          <a:p>
            <a:pPr marL="800100" lvl="1" indent="-342900">
              <a:lnSpc>
                <a:spcPts val="3200"/>
              </a:lnSpc>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200"/>
              </a:lnSpc>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Minimizes market impact and slippage for high-net-worth clients</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5225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62B7721-051D-6241-9B38-1F662F1BD8CE}"/>
              </a:ext>
            </a:extLst>
          </p:cNvPr>
          <p:cNvSpPr txBox="1"/>
          <p:nvPr/>
        </p:nvSpPr>
        <p:spPr>
          <a:xfrm>
            <a:off x="615624" y="1459339"/>
            <a:ext cx="10401781" cy="463268"/>
          </a:xfrm>
          <a:prstGeom prst="rect">
            <a:avLst/>
          </a:prstGeom>
          <a:noFill/>
        </p:spPr>
        <p:txBody>
          <a:bodyPr wrap="square" rtlCol="0">
            <a:spAutoFit/>
          </a:bodyPr>
          <a:lstStyle/>
          <a:p>
            <a:pPr>
              <a:lnSpc>
                <a:spcPts val="3200"/>
              </a:lnSpc>
            </a:pPr>
            <a:r>
              <a:rPr kumimoji="1" lang="en-US" altLang="zh-CN" sz="2400" b="1" dirty="0">
                <a:latin typeface="Tahoma" panose="020B0604030504040204" pitchFamily="34" charset="0"/>
                <a:ea typeface="Tahoma" panose="020B0604030504040204" pitchFamily="34" charset="0"/>
                <a:cs typeface="Tahoma" panose="020B0604030504040204" pitchFamily="34" charset="0"/>
              </a:rPr>
              <a:t>Product Comparison</a:t>
            </a:r>
          </a:p>
        </p:txBody>
      </p:sp>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CORE PRODUCT CATEGORIES OF CEX</a:t>
            </a:r>
            <a:endParaRPr kumimoji="1" lang="zh-CN" altLang="en-US" sz="3200" b="1" dirty="0">
              <a:solidFill>
                <a:srgbClr val="0070C0"/>
              </a:solidFill>
              <a:latin typeface="Tahoma" panose="020B0604030504040204" pitchFamily="34" charset="0"/>
              <a:cs typeface="Tahoma" panose="020B0604030504040204" pitchFamily="34" charset="0"/>
            </a:endParaRPr>
          </a:p>
        </p:txBody>
      </p:sp>
      <p:graphicFrame>
        <p:nvGraphicFramePr>
          <p:cNvPr id="7" name="表格 6">
            <a:extLst>
              <a:ext uri="{FF2B5EF4-FFF2-40B4-BE49-F238E27FC236}">
                <a16:creationId xmlns:a16="http://schemas.microsoft.com/office/drawing/2014/main" id="{44412954-7292-6840-3194-54211B69AA6D}"/>
              </a:ext>
            </a:extLst>
          </p:cNvPr>
          <p:cNvGraphicFramePr>
            <a:graphicFrameLocks noGrp="1"/>
          </p:cNvGraphicFramePr>
          <p:nvPr>
            <p:extLst>
              <p:ext uri="{D42A27DB-BD31-4B8C-83A1-F6EECF244321}">
                <p14:modId xmlns:p14="http://schemas.microsoft.com/office/powerpoint/2010/main" val="3022689397"/>
              </p:ext>
            </p:extLst>
          </p:nvPr>
        </p:nvGraphicFramePr>
        <p:xfrm>
          <a:off x="1464998" y="2199440"/>
          <a:ext cx="9262004" cy="3597583"/>
        </p:xfrm>
        <a:graphic>
          <a:graphicData uri="http://schemas.openxmlformats.org/drawingml/2006/table">
            <a:tbl>
              <a:tblPr/>
              <a:tblGrid>
                <a:gridCol w="1438418">
                  <a:extLst>
                    <a:ext uri="{9D8B030D-6E8A-4147-A177-3AD203B41FA5}">
                      <a16:colId xmlns:a16="http://schemas.microsoft.com/office/drawing/2014/main" val="1219197846"/>
                    </a:ext>
                  </a:extLst>
                </a:gridCol>
                <a:gridCol w="1987827">
                  <a:extLst>
                    <a:ext uri="{9D8B030D-6E8A-4147-A177-3AD203B41FA5}">
                      <a16:colId xmlns:a16="http://schemas.microsoft.com/office/drawing/2014/main" val="3578850112"/>
                    </a:ext>
                  </a:extLst>
                </a:gridCol>
                <a:gridCol w="1625540">
                  <a:extLst>
                    <a:ext uri="{9D8B030D-6E8A-4147-A177-3AD203B41FA5}">
                      <a16:colId xmlns:a16="http://schemas.microsoft.com/office/drawing/2014/main" val="3927195260"/>
                    </a:ext>
                  </a:extLst>
                </a:gridCol>
                <a:gridCol w="1473471">
                  <a:extLst>
                    <a:ext uri="{9D8B030D-6E8A-4147-A177-3AD203B41FA5}">
                      <a16:colId xmlns:a16="http://schemas.microsoft.com/office/drawing/2014/main" val="2179921263"/>
                    </a:ext>
                  </a:extLst>
                </a:gridCol>
                <a:gridCol w="2736748">
                  <a:extLst>
                    <a:ext uri="{9D8B030D-6E8A-4147-A177-3AD203B41FA5}">
                      <a16:colId xmlns:a16="http://schemas.microsoft.com/office/drawing/2014/main" val="1430319904"/>
                    </a:ext>
                  </a:extLst>
                </a:gridCol>
              </a:tblGrid>
              <a:tr h="379826">
                <a:tc>
                  <a:txBody>
                    <a:bodyPr/>
                    <a:lstStyle/>
                    <a:p>
                      <a:pPr algn="l"/>
                      <a:r>
                        <a:rPr lang="en-US" sz="1400" b="1" dirty="0">
                          <a:solidFill>
                            <a:srgbClr val="FFFFFF"/>
                          </a:solidFill>
                          <a:effectLst/>
                          <a:highlight>
                            <a:srgbClr val="0052CC"/>
                          </a:highlight>
                          <a:latin typeface="Montserrat" pitchFamily="2" charset="0"/>
                        </a:rPr>
                        <a:t>Product Type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400" b="1" dirty="0">
                          <a:solidFill>
                            <a:srgbClr val="FFFFFF"/>
                          </a:solidFill>
                          <a:effectLst/>
                          <a:highlight>
                            <a:srgbClr val="0052CC"/>
                          </a:highlight>
                          <a:latin typeface="Montserrat" pitchFamily="2" charset="0"/>
                        </a:rPr>
                        <a:t>Settlement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400" b="1" dirty="0">
                          <a:solidFill>
                            <a:srgbClr val="FFFFFF"/>
                          </a:solidFill>
                          <a:effectLst/>
                          <a:highlight>
                            <a:srgbClr val="0052CC"/>
                          </a:highlight>
                          <a:latin typeface="Montserrat" pitchFamily="2" charset="0"/>
                        </a:rPr>
                        <a:t>Leverage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400" b="1" dirty="0">
                          <a:solidFill>
                            <a:srgbClr val="FFFFFF"/>
                          </a:solidFill>
                          <a:effectLst/>
                          <a:highlight>
                            <a:srgbClr val="0052CC"/>
                          </a:highlight>
                          <a:latin typeface="Montserrat" pitchFamily="2" charset="0"/>
                        </a:rPr>
                        <a:t>Complexity</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400" b="1" dirty="0">
                          <a:solidFill>
                            <a:srgbClr val="FFFFFF"/>
                          </a:solidFill>
                          <a:effectLst/>
                          <a:highlight>
                            <a:srgbClr val="0052CC"/>
                          </a:highlight>
                          <a:latin typeface="Montserrat" pitchFamily="2" charset="0"/>
                        </a:rPr>
                        <a:t>Best For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491105">
                <a:tc>
                  <a:txBody>
                    <a:bodyPr/>
                    <a:lstStyle/>
                    <a:p>
                      <a:pPr fontAlgn="t"/>
                      <a:r>
                        <a:rPr lang="en-US" sz="1400" b="1" dirty="0">
                          <a:solidFill>
                            <a:srgbClr val="0052CC"/>
                          </a:solidFill>
                          <a:effectLst/>
                        </a:rPr>
                        <a:t>Spot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Immediate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1x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Low</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Long-term holders, beginners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571288">
                <a:tc>
                  <a:txBody>
                    <a:bodyPr/>
                    <a:lstStyle/>
                    <a:p>
                      <a:pPr fontAlgn="t"/>
                      <a:r>
                        <a:rPr lang="en-US" sz="1400" b="1" dirty="0">
                          <a:solidFill>
                            <a:srgbClr val="0052CC"/>
                          </a:solidFill>
                          <a:effectLst/>
                        </a:rPr>
                        <a:t>Margin</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Ongoing</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2x-125x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Medium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Active traders seeking leverage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566530">
                <a:tc>
                  <a:txBody>
                    <a:bodyPr/>
                    <a:lstStyle/>
                    <a:p>
                      <a:pPr fontAlgn="t"/>
                      <a:r>
                        <a:rPr lang="en-US" sz="1400" b="1" dirty="0">
                          <a:solidFill>
                            <a:srgbClr val="0052CC"/>
                          </a:solidFill>
                          <a:effectLst/>
                        </a:rPr>
                        <a:t>Perpetuals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No expiry</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2x-125x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Medium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Directional traders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516835">
                <a:tc>
                  <a:txBody>
                    <a:bodyPr/>
                    <a:lstStyle/>
                    <a:p>
                      <a:pPr fontAlgn="t"/>
                      <a:r>
                        <a:rPr lang="en-US" sz="1400" b="1" dirty="0">
                          <a:solidFill>
                            <a:srgbClr val="0052CC"/>
                          </a:solidFill>
                          <a:effectLst/>
                        </a:rPr>
                        <a:t>Dated Futures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Quarterly/Monthly</a:t>
                      </a:r>
                    </a:p>
                    <a:p>
                      <a:pPr fontAlgn="t"/>
                      <a:endParaRPr lang="en-US" sz="14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400" dirty="0">
                          <a:solidFill>
                            <a:srgbClr val="003366"/>
                          </a:solidFill>
                          <a:effectLst/>
                        </a:rPr>
                        <a:t>2x-125x</a:t>
                      </a:r>
                    </a:p>
                    <a:p>
                      <a:pPr fontAlgn="t"/>
                      <a:endParaRPr lang="en-US" sz="14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400" dirty="0">
                          <a:solidFill>
                            <a:srgbClr val="003366"/>
                          </a:solidFill>
                          <a:effectLst/>
                        </a:rPr>
                        <a:t>Medium-High</a:t>
                      </a:r>
                      <a:endParaRPr lang="en-US" sz="14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Basis traders, hedgers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594920">
                <a:tc>
                  <a:txBody>
                    <a:bodyPr/>
                    <a:lstStyle/>
                    <a:p>
                      <a:pPr fontAlgn="t"/>
                      <a:r>
                        <a:rPr lang="en-US" sz="1400" b="1" dirty="0">
                          <a:solidFill>
                            <a:srgbClr val="0052CC"/>
                          </a:solidFill>
                          <a:effectLst/>
                        </a:rPr>
                        <a:t>Options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Fixed expiry</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Variable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High</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400" dirty="0">
                          <a:solidFill>
                            <a:srgbClr val="003366"/>
                          </a:solidFill>
                          <a:effectLst/>
                        </a:rPr>
                        <a:t>Sophisticated hedgers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477079">
                <a:tc>
                  <a:txBody>
                    <a:bodyPr/>
                    <a:lstStyle/>
                    <a:p>
                      <a:pPr fontAlgn="t"/>
                      <a:r>
                        <a:rPr lang="en-US" sz="1400" b="1" dirty="0">
                          <a:solidFill>
                            <a:srgbClr val="0052CC"/>
                          </a:solidFill>
                          <a:effectLst/>
                        </a:rPr>
                        <a:t>OTC</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Negotiated</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Custom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Low-Medium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400" dirty="0">
                          <a:solidFill>
                            <a:srgbClr val="003366"/>
                          </a:solidFill>
                          <a:effectLst/>
                        </a:rPr>
                        <a:t>Institutions, large orders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3665240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KEY RISK FACTORS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401781" cy="5088637"/>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Leverage Risks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Magnifies both profits and losses proportionally</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Example: 10% adverse move with 5x leverage = 50% portfolio loss</a:t>
            </a:r>
          </a:p>
          <a:p>
            <a:pPr marL="0" lvl="1">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Liquidation Risk</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Margin and futures positions face automatic closure if collateral insufficient</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Can result in total loss of margin posted</a:t>
            </a:r>
          </a:p>
          <a:p>
            <a:pPr marL="0" lvl="1">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Funding Costs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Perpetual contracts charge/pay funding rates every 8 hours</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Costs accumulate for long-term positions in trending markets</a:t>
            </a:r>
          </a:p>
          <a:p>
            <a:pPr>
              <a:lnSpc>
                <a:spcPts val="3400"/>
              </a:lnSpc>
              <a:spcAft>
                <a:spcPts val="600"/>
              </a:spcAft>
            </a:pPr>
            <a:r>
              <a:rPr kumimoji="1" lang="en-US" altLang="zh-CN" sz="2000" dirty="0">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19625910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401781" cy="4857805"/>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1. Deep Order Books with Tight Bid-Ask Spreads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Superior liquidity depth across major and long-tail assets with minimal price impact —— top exchanges process $200B+ daily volume</a:t>
            </a:r>
          </a:p>
          <a:p>
            <a:pPr marL="800100" lvl="1" indent="-342900">
              <a:lnSpc>
                <a:spcPts val="3400"/>
              </a:lnSpc>
              <a:spcAft>
                <a:spcPts val="12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Tight spreads minimize slippage, with heavily traded pairs like BTC/USDT showing spreads as low as 0.01%</a:t>
            </a:r>
            <a:endParaRPr kumimoji="1" lang="en-US" altLang="zh-CN" sz="2000" b="1" dirty="0">
              <a:latin typeface="Tahoma" panose="020B0604030504040204" pitchFamily="34" charset="0"/>
              <a:ea typeface="Tahoma" panose="020B0604030504040204" pitchFamily="34" charset="0"/>
              <a:cs typeface="Tahoma" panose="020B0604030504040204" pitchFamily="34" charset="0"/>
            </a:endParaRPr>
          </a:p>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2. Intuitive Interfaces for All Experience Levels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Beginner-friendly onboarding with step-by-step tutorials, fast fiat deposits via cards/bank transfers, and mobile-first design</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Tiered interfaces offering simple mode for beginners and advanced charting tools for professional traders</a:t>
            </a:r>
          </a:p>
        </p:txBody>
      </p:sp>
    </p:spTree>
    <p:extLst>
      <p:ext uri="{BB962C8B-B14F-4D97-AF65-F5344CB8AC3E}">
        <p14:creationId xmlns:p14="http://schemas.microsoft.com/office/powerpoint/2010/main" val="4051457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401781" cy="4780861"/>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3. High-Performance Matching Engines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Low-latency order execution settling trades in milliseconds with throughput handling millions of orders per second</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24/7 uptime with robust infrastructure, API access for algorithmic trading, and 99.9%+ reliability</a:t>
            </a:r>
          </a:p>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4. Comprehensive Product Offerings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Complete trading suite including spot, margin (up to 125x leverage), derivatives (perpetuals, futures, options), and staking/lending</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One-stop platform with launchpads for new token offerings and unified portfolio management across all products</a:t>
            </a:r>
          </a:p>
        </p:txBody>
      </p:sp>
    </p:spTree>
    <p:extLst>
      <p:ext uri="{BB962C8B-B14F-4D97-AF65-F5344CB8AC3E}">
        <p14:creationId xmlns:p14="http://schemas.microsoft.com/office/powerpoint/2010/main" val="831294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401781" cy="4780861"/>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5. Regulatory Compliance Frameworks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Mandatory KYC/AML standards per FinCEN and FATF guidelines with AI-powered transaction monitoring and suspicious activity reporting</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Licensed operations across jurisdictions with SOC 2 certifications, third-party audits, and regulatory oversight</a:t>
            </a:r>
          </a:p>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6. Multiple Fiat Payment Options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Instant card purchases (Visa/Mastercard), bank transfers (ACH, SEPA, wire), and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stablecoin</a:t>
            </a:r>
            <a:r>
              <a:rPr kumimoji="1" lang="en-US" altLang="zh-CN" sz="2000" dirty="0">
                <a:latin typeface="Tahoma" panose="020B0604030504040204" pitchFamily="34" charset="0"/>
                <a:ea typeface="Tahoma" panose="020B0604030504040204" pitchFamily="34" charset="0"/>
                <a:cs typeface="Tahoma" panose="020B0604030504040204" pitchFamily="34" charset="0"/>
              </a:rPr>
              <a:t> bridges (USDC, USDT) for fast settlement</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Support for 50+ fiat currencies with P2P marketplaces enabling local payment methods in emerging markets</a:t>
            </a:r>
          </a:p>
        </p:txBody>
      </p:sp>
    </p:spTree>
    <p:extLst>
      <p:ext uri="{BB962C8B-B14F-4D97-AF65-F5344CB8AC3E}">
        <p14:creationId xmlns:p14="http://schemas.microsoft.com/office/powerpoint/2010/main" val="833271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DISADVANTAGES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4570418"/>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1. Custodial Risk</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You don't own your private keys - the exchange does ("not your keys, not your coins")</a:t>
            </a:r>
          </a:p>
          <a:p>
            <a:pPr marL="800100" lvl="1" indent="-342900">
              <a:lnSpc>
                <a:spcPts val="3400"/>
              </a:lnSpc>
              <a:spcAft>
                <a:spcPts val="18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Counterparty risk: the exchange could become insolvent, get hacked, or mismanage funds</a:t>
            </a:r>
            <a:endPar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Historical</a:t>
            </a:r>
            <a:r>
              <a:rPr kumimoji="1" lang="zh-CN" altLang="en-US"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a:t>
            </a: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Evidence</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Mt. Gox (2014): 850,000 BTC stolen (~$460M then, ~$50B+ at today's prices) - exchange collapsed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FTX (2022): $8B+ customer funds misappropriated - bankruptcy and fraud charges</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Bybit</a:t>
            </a:r>
            <a:r>
              <a:rPr kumimoji="1" lang="en-US" altLang="zh-CN" dirty="0">
                <a:latin typeface="Tahoma" panose="020B0604030504040204" pitchFamily="34" charset="0"/>
                <a:ea typeface="Tahoma" panose="020B0604030504040204" pitchFamily="34" charset="0"/>
                <a:cs typeface="Tahoma" panose="020B0604030504040204" pitchFamily="34" charset="0"/>
              </a:rPr>
              <a:t> (2025): $1.5B Ethereum stolen in North Korean hack - exchange survived via loans</a:t>
            </a:r>
          </a:p>
        </p:txBody>
      </p:sp>
    </p:spTree>
    <p:extLst>
      <p:ext uri="{BB962C8B-B14F-4D97-AF65-F5344CB8AC3E}">
        <p14:creationId xmlns:p14="http://schemas.microsoft.com/office/powerpoint/2010/main" val="1739279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DISADVANTAGES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5160323"/>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2. Privacy Loss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Mandatory identity verification required by regulators (FinCEN, FATF standards)</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Exchanges collect: name, address, government ID, selfies, income/source of funds</a:t>
            </a:r>
          </a:p>
          <a:p>
            <a:pPr marL="800100" lvl="1" indent="-342900">
              <a:lnSpc>
                <a:spcPts val="3400"/>
              </a:lnSpc>
              <a:spcAft>
                <a:spcPts val="18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Data stored centrally creates honeypot for attackers</a:t>
            </a: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Privacy Concerns</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Data breaches: Coinbase (Dec 2024) - 70,000 users' KYC data compromised through bribed customer service agents</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Surveillance: All trading activity monitored and can be reported to tax/regulatory agencies</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Identity theft risk: Stolen KYC documents used for fraud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No anonymity: Unlike decentralized alternatives, CEX trading is fully traceable</a:t>
            </a:r>
          </a:p>
        </p:txBody>
      </p:sp>
    </p:spTree>
    <p:extLst>
      <p:ext uri="{BB962C8B-B14F-4D97-AF65-F5344CB8AC3E}">
        <p14:creationId xmlns:p14="http://schemas.microsoft.com/office/powerpoint/2010/main" val="212431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DISADVANTAGES</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OF</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5006435"/>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3. Regulatory</a:t>
            </a:r>
            <a:r>
              <a:rPr kumimoji="1" lang="zh-CN" altLang="en-US" sz="2000" b="1" dirty="0">
                <a:latin typeface="Tahoma" panose="020B0604030504040204" pitchFamily="34" charset="0"/>
                <a:ea typeface="Tahoma" panose="020B0604030504040204" pitchFamily="34" charset="0"/>
                <a:cs typeface="Tahoma" panose="020B0604030504040204" pitchFamily="34" charset="0"/>
              </a:rPr>
              <a:t> </a:t>
            </a:r>
            <a:r>
              <a:rPr kumimoji="1" lang="en-US" altLang="zh-CN" sz="2000" b="1" dirty="0">
                <a:latin typeface="Tahoma" panose="020B0604030504040204" pitchFamily="34" charset="0"/>
                <a:ea typeface="Tahoma" panose="020B0604030504040204" pitchFamily="34" charset="0"/>
                <a:cs typeface="Tahoma" panose="020B0604030504040204" pitchFamily="34" charset="0"/>
              </a:rPr>
              <a:t>Risk</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Exchanges operate under varying regulatory frameworks across countries</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Access can be restricted based on user location (</a:t>
            </a:r>
            <a:r>
              <a:rPr kumimoji="1" lang="en-US" altLang="zh-CN" sz="2000" dirty="0" err="1">
                <a:latin typeface="Tahoma" panose="020B0604030504040204" pitchFamily="34" charset="0"/>
                <a:ea typeface="Tahoma" panose="020B0604030504040204" pitchFamily="34" charset="0"/>
                <a:cs typeface="Tahoma" panose="020B0604030504040204" pitchFamily="34" charset="0"/>
              </a:rPr>
              <a:t>geoblocking</a:t>
            </a:r>
            <a:r>
              <a:rPr kumimoji="1" lang="en-US" altLang="zh-CN" sz="2000" dirty="0">
                <a:latin typeface="Tahoma" panose="020B0604030504040204" pitchFamily="34" charset="0"/>
                <a:ea typeface="Tahoma" panose="020B0604030504040204" pitchFamily="34" charset="0"/>
                <a:cs typeface="Tahoma" panose="020B0604030504040204" pitchFamily="34" charset="0"/>
              </a:rPr>
              <a:t>)</a:t>
            </a:r>
          </a:p>
          <a:p>
            <a:pPr marL="800100" lvl="1" indent="-342900">
              <a:lnSpc>
                <a:spcPts val="3400"/>
              </a:lnSpc>
              <a:spcAft>
                <a:spcPts val="6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Regulatory changes can suddenly limit services or force closures</a:t>
            </a: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Documented patterns</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Binance</a:t>
            </a:r>
            <a:r>
              <a:rPr kumimoji="1" lang="en-US" altLang="zh-CN" dirty="0">
                <a:latin typeface="Tahoma" panose="020B0604030504040204" pitchFamily="34" charset="0"/>
                <a:ea typeface="Tahoma" panose="020B0604030504040204" pitchFamily="34" charset="0"/>
                <a:cs typeface="Tahoma" panose="020B0604030504040204" pitchFamily="34" charset="0"/>
              </a:rPr>
              <a:t>: Banned or restricted in multiple jurisdictions (US, UK, Japan, China) - notorious for jurisdiction shopping</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FTX: Relocated to Bahamas to avoid stricter US regulations - collapsed in 2022</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US restrictions: </a:t>
            </a:r>
            <a:r>
              <a:rPr kumimoji="1" lang="en-US" altLang="zh-CN" dirty="0" err="1">
                <a:latin typeface="Tahoma" panose="020B0604030504040204" pitchFamily="34" charset="0"/>
                <a:ea typeface="Tahoma" panose="020B0604030504040204" pitchFamily="34" charset="0"/>
                <a:cs typeface="Tahoma" panose="020B0604030504040204" pitchFamily="34" charset="0"/>
              </a:rPr>
              <a:t>Binance.US</a:t>
            </a:r>
            <a:r>
              <a:rPr kumimoji="1" lang="en-US" altLang="zh-CN" dirty="0">
                <a:latin typeface="Tahoma" panose="020B0604030504040204" pitchFamily="34" charset="0"/>
                <a:ea typeface="Tahoma" panose="020B0604030504040204" pitchFamily="34" charset="0"/>
                <a:cs typeface="Tahoma" panose="020B0604030504040204" pitchFamily="34" charset="0"/>
              </a:rPr>
              <a:t> still banned in 6 states including New York and Texas</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Service withdrawals: Exchanges regularly exit markets due to regulatory pressure</a:t>
            </a:r>
          </a:p>
        </p:txBody>
      </p:sp>
    </p:spTree>
    <p:extLst>
      <p:ext uri="{BB962C8B-B14F-4D97-AF65-F5344CB8AC3E}">
        <p14:creationId xmlns:p14="http://schemas.microsoft.com/office/powerpoint/2010/main" val="383694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SPOT TRADING FEES AND VIP PROGRAMS</a:t>
            </a:r>
            <a:endParaRPr kumimoji="1" lang="zh-CN" altLang="en-US" sz="3200" b="1" dirty="0">
              <a:solidFill>
                <a:srgbClr val="0070C0"/>
              </a:solidFill>
              <a:latin typeface="Tahoma" panose="020B0604030504040204" pitchFamily="34" charset="0"/>
              <a:cs typeface="Tahoma" panose="020B0604030504040204" pitchFamily="34" charset="0"/>
            </a:endParaRPr>
          </a:p>
        </p:txBody>
      </p:sp>
      <p:graphicFrame>
        <p:nvGraphicFramePr>
          <p:cNvPr id="7" name="表格 6">
            <a:extLst>
              <a:ext uri="{FF2B5EF4-FFF2-40B4-BE49-F238E27FC236}">
                <a16:creationId xmlns:a16="http://schemas.microsoft.com/office/drawing/2014/main" id="{EC161E2A-E4BD-B400-A763-88167BCD63CA}"/>
              </a:ext>
            </a:extLst>
          </p:cNvPr>
          <p:cNvGraphicFramePr>
            <a:graphicFrameLocks noGrp="1"/>
          </p:cNvGraphicFramePr>
          <p:nvPr>
            <p:extLst>
              <p:ext uri="{D42A27DB-BD31-4B8C-83A1-F6EECF244321}">
                <p14:modId xmlns:p14="http://schemas.microsoft.com/office/powerpoint/2010/main" val="1055249608"/>
              </p:ext>
            </p:extLst>
          </p:nvPr>
        </p:nvGraphicFramePr>
        <p:xfrm>
          <a:off x="716224" y="1304550"/>
          <a:ext cx="10849242" cy="5082797"/>
        </p:xfrm>
        <a:graphic>
          <a:graphicData uri="http://schemas.openxmlformats.org/drawingml/2006/table">
            <a:tbl>
              <a:tblPr/>
              <a:tblGrid>
                <a:gridCol w="875146">
                  <a:extLst>
                    <a:ext uri="{9D8B030D-6E8A-4147-A177-3AD203B41FA5}">
                      <a16:colId xmlns:a16="http://schemas.microsoft.com/office/drawing/2014/main" val="1219197846"/>
                    </a:ext>
                  </a:extLst>
                </a:gridCol>
                <a:gridCol w="1013456">
                  <a:extLst>
                    <a:ext uri="{9D8B030D-6E8A-4147-A177-3AD203B41FA5}">
                      <a16:colId xmlns:a16="http://schemas.microsoft.com/office/drawing/2014/main" val="3578850112"/>
                    </a:ext>
                  </a:extLst>
                </a:gridCol>
                <a:gridCol w="1469512">
                  <a:extLst>
                    <a:ext uri="{9D8B030D-6E8A-4147-A177-3AD203B41FA5}">
                      <a16:colId xmlns:a16="http://schemas.microsoft.com/office/drawing/2014/main" val="3927195260"/>
                    </a:ext>
                  </a:extLst>
                </a:gridCol>
                <a:gridCol w="2432294">
                  <a:extLst>
                    <a:ext uri="{9D8B030D-6E8A-4147-A177-3AD203B41FA5}">
                      <a16:colId xmlns:a16="http://schemas.microsoft.com/office/drawing/2014/main" val="2179921263"/>
                    </a:ext>
                  </a:extLst>
                </a:gridCol>
                <a:gridCol w="1009904">
                  <a:extLst>
                    <a:ext uri="{9D8B030D-6E8A-4147-A177-3AD203B41FA5}">
                      <a16:colId xmlns:a16="http://schemas.microsoft.com/office/drawing/2014/main" val="3087317039"/>
                    </a:ext>
                  </a:extLst>
                </a:gridCol>
                <a:gridCol w="1577130">
                  <a:extLst>
                    <a:ext uri="{9D8B030D-6E8A-4147-A177-3AD203B41FA5}">
                      <a16:colId xmlns:a16="http://schemas.microsoft.com/office/drawing/2014/main" val="936630949"/>
                    </a:ext>
                  </a:extLst>
                </a:gridCol>
                <a:gridCol w="2471800">
                  <a:extLst>
                    <a:ext uri="{9D8B030D-6E8A-4147-A177-3AD203B41FA5}">
                      <a16:colId xmlns:a16="http://schemas.microsoft.com/office/drawing/2014/main" val="1430319904"/>
                    </a:ext>
                  </a:extLst>
                </a:gridCol>
              </a:tblGrid>
              <a:tr h="524876">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Lowest Tier (spot)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Fee at lowest tier</a:t>
                      </a:r>
                    </a:p>
                    <a:p>
                      <a:pPr algn="l"/>
                      <a:r>
                        <a:rPr lang="en-US" sz="1200" b="1" dirty="0">
                          <a:solidFill>
                            <a:srgbClr val="FFFFFF"/>
                          </a:solidFill>
                          <a:effectLst/>
                          <a:highlight>
                            <a:srgbClr val="0052CC"/>
                          </a:highlight>
                          <a:latin typeface="Montserrat" pitchFamily="2" charset="0"/>
                        </a:rPr>
                        <a:t>(Maker/Taker)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Main req. for lowest tier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Highest tier (spot)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FFFF"/>
                          </a:solidFill>
                          <a:effectLst/>
                          <a:highlight>
                            <a:srgbClr val="0052CC"/>
                          </a:highlight>
                          <a:latin typeface="Montserrat" pitchFamily="2" charset="0"/>
                        </a:rPr>
                        <a:t>Fee at highest tier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FFFF"/>
                          </a:solidFill>
                          <a:effectLst/>
                          <a:highlight>
                            <a:srgbClr val="0052CC"/>
                          </a:highlight>
                          <a:latin typeface="Montserrat" pitchFamily="2" charset="0"/>
                        </a:rPr>
                        <a:t>(Maker/Taker)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Main req. for highest tier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783148">
                <a:tc>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0.10% / 0.10%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30D trade volume &lt; $1M or </a:t>
                      </a:r>
                    </a:p>
                    <a:p>
                      <a:pPr fontAlgn="t"/>
                      <a:r>
                        <a:rPr lang="en-US" altLang="zh-CN" sz="1200" dirty="0">
                          <a:solidFill>
                            <a:srgbClr val="003366"/>
                          </a:solidFill>
                          <a:effectLst/>
                        </a:rPr>
                        <a:t>BNB Balance ≥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9</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0.011% / 0.023%</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trade volume ≥ $4B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BNB Balance ≥ 5,500</a:t>
                      </a:r>
                    </a:p>
                    <a:p>
                      <a:pPr fontAlgn="t"/>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783148">
                <a:tc>
                  <a:txBody>
                    <a:bodyPr/>
                    <a:lstStyle/>
                    <a:p>
                      <a:pPr fontAlgn="t"/>
                      <a:r>
                        <a:rPr lang="en-US" sz="1200" b="1" dirty="0">
                          <a:solidFill>
                            <a:srgbClr val="0052CC"/>
                          </a:solidFill>
                          <a:effectLst/>
                        </a:rPr>
                        <a:t>Coinbase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Intro 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0.60% / 1.20%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30D spot volume ≥</a:t>
                      </a:r>
                      <a:r>
                        <a:rPr lang="en-US" altLang="zh-CN" sz="1200" dirty="0">
                          <a:solidFill>
                            <a:srgbClr val="003366"/>
                          </a:solidFill>
                          <a:effectLst/>
                        </a:rPr>
                        <a:t> $0</a:t>
                      </a:r>
                      <a:r>
                        <a:rPr lang="zh-CN" altLang="en-US" sz="1200" dirty="0">
                          <a:solidFill>
                            <a:srgbClr val="003366"/>
                          </a:solidFill>
                          <a:effectLst/>
                        </a:rPr>
                        <a:t> </a:t>
                      </a:r>
                      <a:r>
                        <a:rPr lang="en-US" sz="1200" dirty="0">
                          <a:solidFill>
                            <a:srgbClr val="003366"/>
                          </a:solidFill>
                          <a:effectLst/>
                        </a:rPr>
                        <a:t>or </a:t>
                      </a:r>
                    </a:p>
                    <a:p>
                      <a:pPr fontAlgn="t"/>
                      <a:r>
                        <a:rPr lang="en-US" sz="1200" dirty="0">
                          <a:solidFill>
                            <a:srgbClr val="003366"/>
                          </a:solidFill>
                          <a:effectLst/>
                        </a:rPr>
                        <a:t>30D derivatives volume ≥</a:t>
                      </a:r>
                      <a:r>
                        <a:rPr lang="en-US" altLang="zh-CN" sz="1200" dirty="0">
                          <a:solidFill>
                            <a:srgbClr val="003366"/>
                          </a:solidFill>
                          <a:effectLst/>
                        </a:rPr>
                        <a:t> $0</a:t>
                      </a:r>
                      <a:r>
                        <a:rPr lang="zh-CN" altLang="en-US" sz="1200" dirty="0">
                          <a:solidFill>
                            <a:srgbClr val="003366"/>
                          </a:solidFill>
                          <a:effectLst/>
                        </a:rPr>
                        <a:t> </a:t>
                      </a:r>
                      <a:r>
                        <a:rPr lang="en-US" sz="1200" dirty="0">
                          <a:solidFill>
                            <a:srgbClr val="003366"/>
                          </a:solidFill>
                          <a:effectLst/>
                        </a:rPr>
                        <a:t>or</a:t>
                      </a:r>
                    </a:p>
                    <a:p>
                      <a:pPr fontAlgn="t"/>
                      <a:r>
                        <a:rPr lang="en-US" sz="1200" dirty="0">
                          <a:solidFill>
                            <a:srgbClr val="003366"/>
                          </a:solidFill>
                          <a:effectLst/>
                        </a:rPr>
                        <a:t>assets balance ≥</a:t>
                      </a:r>
                      <a:r>
                        <a:rPr lang="en-US" altLang="zh-CN" sz="1200" dirty="0">
                          <a:solidFill>
                            <a:srgbClr val="003366"/>
                          </a:solidFill>
                          <a:effectLst/>
                        </a:rPr>
                        <a:t> $0</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VIP 8</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0.000% / 0.020%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$250M</a:t>
                      </a:r>
                      <a:r>
                        <a:rPr lang="zh-CN" altLang="en-US" sz="1200" dirty="0">
                          <a:solidFill>
                            <a:srgbClr val="003366"/>
                          </a:solidFill>
                          <a:effectLst/>
                        </a:rPr>
                        <a:t> </a:t>
                      </a:r>
                      <a:r>
                        <a:rPr lang="en-US" altLang="zh-CN" sz="1200" dirty="0">
                          <a:solidFill>
                            <a:srgbClr val="003366"/>
                          </a:solidFill>
                          <a:effectLst/>
                        </a:rPr>
                        <a:t>or</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derivatives volume ≥ $250M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783148">
                <a:tc>
                  <a:txBody>
                    <a:bodyPr/>
                    <a:lstStyle/>
                    <a:p>
                      <a:pPr fontAlgn="t"/>
                      <a:r>
                        <a:rPr lang="en-US" sz="1200" b="1" dirty="0">
                          <a:solidFill>
                            <a:srgbClr val="0052CC"/>
                          </a:solidFill>
                          <a:effectLst/>
                        </a:rPr>
                        <a:t>OKX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0.08% / 0.10%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Assets (USD) ≤ $100K or </a:t>
                      </a:r>
                    </a:p>
                    <a:p>
                      <a:pPr fontAlgn="t"/>
                      <a:r>
                        <a:rPr lang="en-US" altLang="zh-CN" sz="1200" dirty="0">
                          <a:solidFill>
                            <a:srgbClr val="003366"/>
                          </a:solidFill>
                          <a:effectLst/>
                        </a:rPr>
                        <a:t>30D derivatives volume ≤ $1M </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9</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-0.0075% / 0.0175%</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30D trade volume ≥ $5B </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783148">
                <a:tc>
                  <a:txBody>
                    <a:bodyPr/>
                    <a:lstStyle/>
                    <a:p>
                      <a:pPr fontAlgn="t"/>
                      <a:r>
                        <a:rPr lang="en-US" sz="1200" b="1" dirty="0" err="1">
                          <a:solidFill>
                            <a:srgbClr val="0052CC"/>
                          </a:solidFill>
                          <a:effectLst/>
                        </a:rPr>
                        <a:t>Bybit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VIP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0.10% / </a:t>
                      </a:r>
                      <a:r>
                        <a:rPr lang="en-US" altLang="zh-CN" sz="1200" dirty="0">
                          <a:solidFill>
                            <a:srgbClr val="003366"/>
                          </a:solidFill>
                          <a:effectLst/>
                        </a:rPr>
                        <a:t>0.10%</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$1M</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derivatives volume ≤ $10M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options volume ≤ $5M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Supreme VIP</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0.0300% / </a:t>
                      </a:r>
                      <a:r>
                        <a:rPr lang="en-US" sz="1200" dirty="0">
                          <a:solidFill>
                            <a:srgbClr val="003366"/>
                          </a:solidFill>
                          <a:effectLst/>
                        </a:rPr>
                        <a:t>0.0450%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$100M</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derivatives volume ≥ $500M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options volume ≥ $100M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783148">
                <a:tc>
                  <a:txBody>
                    <a:bodyPr/>
                    <a:lstStyle/>
                    <a:p>
                      <a:pPr fontAlgn="t"/>
                      <a:r>
                        <a:rPr lang="en-US" sz="1200" b="1" dirty="0" err="1">
                          <a:solidFill>
                            <a:srgbClr val="0052CC"/>
                          </a:solidFill>
                          <a:effectLst/>
                        </a:rPr>
                        <a:t>Bitget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0.10% / 0.10%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$0</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daily balance ≥ $0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daily balance ≥ $0</a:t>
                      </a:r>
                      <a:r>
                        <a:rPr lang="zh-CN" altLang="en-US" sz="1200" dirty="0">
                          <a:solidFill>
                            <a:srgbClr val="003366"/>
                          </a:solidFill>
                          <a:effectLst/>
                        </a:rPr>
                        <a:t> </a:t>
                      </a:r>
                      <a:endParaRPr lang="en-US" altLang="zh-CN"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7</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 / 0.03%</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$100M</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daily balance ≥ $10M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asset balance ≥ $10M</a:t>
                      </a:r>
                      <a:r>
                        <a:rPr lang="zh-CN" altLang="en-US" sz="1200" dirty="0">
                          <a:solidFill>
                            <a:srgbClr val="003366"/>
                          </a:solidFill>
                          <a:effectLst/>
                        </a:rPr>
                        <a:t> </a:t>
                      </a:r>
                      <a:endParaRPr lang="en-US" altLang="zh-CN"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642181">
                <a:tc>
                  <a:txBody>
                    <a:bodyPr/>
                    <a:lstStyle/>
                    <a:p>
                      <a:pPr fontAlgn="t"/>
                      <a:r>
                        <a:rPr lang="en-US" sz="1200" b="1" dirty="0" err="1">
                          <a:solidFill>
                            <a:srgbClr val="0052CC"/>
                          </a:solidFill>
                          <a:effectLst/>
                        </a:rPr>
                        <a:t>BitMart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0.10% / 0.10%</a:t>
                      </a:r>
                      <a:r>
                        <a:rPr lang="zh-CN" altLang="en-US" sz="1200" dirty="0">
                          <a:solidFill>
                            <a:srgbClr val="003366"/>
                          </a:solidFill>
                          <a:effectLst/>
                        </a:rPr>
                        <a:t> </a:t>
                      </a:r>
                      <a:endParaRPr lang="en-US" altLang="zh-CN" sz="1200" dirty="0">
                        <a:solidFill>
                          <a:srgbClr val="003366"/>
                        </a:solidFill>
                        <a:effectLst/>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(Class-A Pair)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30D spot volume &lt; $20K or </a:t>
                      </a:r>
                    </a:p>
                    <a:p>
                      <a:pPr fontAlgn="t"/>
                      <a:r>
                        <a:rPr lang="en-US" altLang="zh-CN" sz="1200" dirty="0">
                          <a:solidFill>
                            <a:srgbClr val="003366"/>
                          </a:solidFill>
                          <a:effectLst/>
                        </a:rPr>
                        <a:t>30D contract volume &lt; $20K or </a:t>
                      </a:r>
                    </a:p>
                    <a:p>
                      <a:pPr fontAlgn="t"/>
                      <a:r>
                        <a:rPr lang="en-US" altLang="zh-CN" sz="1200" dirty="0">
                          <a:solidFill>
                            <a:srgbClr val="003366"/>
                          </a:solidFill>
                          <a:effectLst/>
                        </a:rPr>
                        <a:t>asset balance &lt; $10K</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VIP 8</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0.015% / 0.02%</a:t>
                      </a:r>
                      <a:r>
                        <a:rPr lang="zh-CN" altLang="en-US" sz="1200" dirty="0">
                          <a:solidFill>
                            <a:srgbClr val="003366"/>
                          </a:solidFill>
                          <a:effectLst/>
                        </a:rPr>
                        <a:t> </a:t>
                      </a:r>
                      <a:endParaRPr lang="en-US" altLang="zh-CN" sz="1200" dirty="0">
                        <a:solidFill>
                          <a:srgbClr val="003366"/>
                        </a:solidFill>
                        <a:effectLst/>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(Class-A Pair)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$50M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contract volume ≥ $1B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asset balance ≥ $5M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2722834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PERPETUAL FUTURES (USDT-M) FEES</a:t>
            </a:r>
            <a:endParaRPr kumimoji="1" lang="zh-CN" altLang="en-US" sz="3200" b="1" dirty="0">
              <a:solidFill>
                <a:srgbClr val="0070C0"/>
              </a:solidFill>
              <a:latin typeface="Tahoma" panose="020B0604030504040204" pitchFamily="34" charset="0"/>
              <a:cs typeface="Tahoma" panose="020B0604030504040204" pitchFamily="34" charset="0"/>
            </a:endParaRPr>
          </a:p>
        </p:txBody>
      </p:sp>
      <p:graphicFrame>
        <p:nvGraphicFramePr>
          <p:cNvPr id="7" name="表格 6">
            <a:extLst>
              <a:ext uri="{FF2B5EF4-FFF2-40B4-BE49-F238E27FC236}">
                <a16:creationId xmlns:a16="http://schemas.microsoft.com/office/drawing/2014/main" id="{EC161E2A-E4BD-B400-A763-88167BCD63CA}"/>
              </a:ext>
            </a:extLst>
          </p:cNvPr>
          <p:cNvGraphicFramePr>
            <a:graphicFrameLocks noGrp="1"/>
          </p:cNvGraphicFramePr>
          <p:nvPr>
            <p:extLst>
              <p:ext uri="{D42A27DB-BD31-4B8C-83A1-F6EECF244321}">
                <p14:modId xmlns:p14="http://schemas.microsoft.com/office/powerpoint/2010/main" val="403885232"/>
              </p:ext>
            </p:extLst>
          </p:nvPr>
        </p:nvGraphicFramePr>
        <p:xfrm>
          <a:off x="716224" y="1304550"/>
          <a:ext cx="10849242" cy="5082797"/>
        </p:xfrm>
        <a:graphic>
          <a:graphicData uri="http://schemas.openxmlformats.org/drawingml/2006/table">
            <a:tbl>
              <a:tblPr/>
              <a:tblGrid>
                <a:gridCol w="915352">
                  <a:extLst>
                    <a:ext uri="{9D8B030D-6E8A-4147-A177-3AD203B41FA5}">
                      <a16:colId xmlns:a16="http://schemas.microsoft.com/office/drawing/2014/main" val="1219197846"/>
                    </a:ext>
                  </a:extLst>
                </a:gridCol>
                <a:gridCol w="973250">
                  <a:extLst>
                    <a:ext uri="{9D8B030D-6E8A-4147-A177-3AD203B41FA5}">
                      <a16:colId xmlns:a16="http://schemas.microsoft.com/office/drawing/2014/main" val="3578850112"/>
                    </a:ext>
                  </a:extLst>
                </a:gridCol>
                <a:gridCol w="1469512">
                  <a:extLst>
                    <a:ext uri="{9D8B030D-6E8A-4147-A177-3AD203B41FA5}">
                      <a16:colId xmlns:a16="http://schemas.microsoft.com/office/drawing/2014/main" val="3927195260"/>
                    </a:ext>
                  </a:extLst>
                </a:gridCol>
                <a:gridCol w="2432294">
                  <a:extLst>
                    <a:ext uri="{9D8B030D-6E8A-4147-A177-3AD203B41FA5}">
                      <a16:colId xmlns:a16="http://schemas.microsoft.com/office/drawing/2014/main" val="2179921263"/>
                    </a:ext>
                  </a:extLst>
                </a:gridCol>
                <a:gridCol w="1009904">
                  <a:extLst>
                    <a:ext uri="{9D8B030D-6E8A-4147-A177-3AD203B41FA5}">
                      <a16:colId xmlns:a16="http://schemas.microsoft.com/office/drawing/2014/main" val="3087317039"/>
                    </a:ext>
                  </a:extLst>
                </a:gridCol>
                <a:gridCol w="1577130">
                  <a:extLst>
                    <a:ext uri="{9D8B030D-6E8A-4147-A177-3AD203B41FA5}">
                      <a16:colId xmlns:a16="http://schemas.microsoft.com/office/drawing/2014/main" val="936630949"/>
                    </a:ext>
                  </a:extLst>
                </a:gridCol>
                <a:gridCol w="2471800">
                  <a:extLst>
                    <a:ext uri="{9D8B030D-6E8A-4147-A177-3AD203B41FA5}">
                      <a16:colId xmlns:a16="http://schemas.microsoft.com/office/drawing/2014/main" val="1430319904"/>
                    </a:ext>
                  </a:extLst>
                </a:gridCol>
              </a:tblGrid>
              <a:tr h="524876">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Lowest Tier (spot)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Fee at lowest tier</a:t>
                      </a:r>
                    </a:p>
                    <a:p>
                      <a:pPr algn="l"/>
                      <a:r>
                        <a:rPr lang="en-US" sz="1200" b="1" dirty="0">
                          <a:solidFill>
                            <a:srgbClr val="FFFFFF"/>
                          </a:solidFill>
                          <a:effectLst/>
                          <a:highlight>
                            <a:srgbClr val="0052CC"/>
                          </a:highlight>
                          <a:latin typeface="Montserrat" pitchFamily="2" charset="0"/>
                        </a:rPr>
                        <a:t>(Maker/Taker)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Main req. for lowest tier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Highest tier (spot)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FFFF"/>
                          </a:solidFill>
                          <a:effectLst/>
                          <a:highlight>
                            <a:srgbClr val="0052CC"/>
                          </a:highlight>
                          <a:latin typeface="Montserrat" pitchFamily="2" charset="0"/>
                        </a:rPr>
                        <a:t>Fee at highest tier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dirty="0">
                          <a:solidFill>
                            <a:srgbClr val="FFFFFF"/>
                          </a:solidFill>
                          <a:effectLst/>
                          <a:highlight>
                            <a:srgbClr val="0052CC"/>
                          </a:highlight>
                          <a:latin typeface="Montserrat" pitchFamily="2" charset="0"/>
                        </a:rPr>
                        <a:t>(Maker/Taker)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Main req. for highest tier</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783148">
                <a:tc>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0.02% / 0.05%</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30D trade volume &lt; $15M or </a:t>
                      </a:r>
                    </a:p>
                    <a:p>
                      <a:pPr fontAlgn="t"/>
                      <a:r>
                        <a:rPr lang="en-US" altLang="zh-CN" sz="1200" dirty="0">
                          <a:solidFill>
                            <a:srgbClr val="003366"/>
                          </a:solidFill>
                          <a:effectLst/>
                        </a:rPr>
                        <a:t>BNB Balance ≥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9</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0.000% / 0.017%</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trade volume ≥ $25B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BNB Balance ≥ 5,500</a:t>
                      </a:r>
                    </a:p>
                    <a:p>
                      <a:pPr fontAlgn="t"/>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783148">
                <a:tc>
                  <a:txBody>
                    <a:bodyPr/>
                    <a:lstStyle/>
                    <a:p>
                      <a:pPr fontAlgn="t"/>
                      <a:r>
                        <a:rPr lang="en-US" sz="1200" b="1" dirty="0">
                          <a:solidFill>
                            <a:srgbClr val="0052CC"/>
                          </a:solidFill>
                          <a:effectLst/>
                        </a:rPr>
                        <a:t>Coinbase</a:t>
                      </a:r>
                    </a:p>
                    <a:p>
                      <a:pPr fontAlgn="t"/>
                      <a:r>
                        <a:rPr lang="en-US" sz="1050" b="1" dirty="0">
                          <a:solidFill>
                            <a:srgbClr val="0052CC"/>
                          </a:solidFill>
                          <a:effectLst/>
                        </a:rPr>
                        <a:t>(International Exchange Fees)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Public Tier 10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0.02% / 0.04%</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30D Perps volume ≥</a:t>
                      </a:r>
                      <a:r>
                        <a:rPr lang="en-US" altLang="zh-CN" sz="1200" dirty="0">
                          <a:solidFill>
                            <a:srgbClr val="003366"/>
                          </a:solidFill>
                          <a:effectLst/>
                        </a:rPr>
                        <a:t> $0</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Public Tier 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0.000% / 0.015%</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30D Perps volume ≥ $20B</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783148">
                <a:tc>
                  <a:txBody>
                    <a:bodyPr/>
                    <a:lstStyle/>
                    <a:p>
                      <a:pPr fontAlgn="t"/>
                      <a:r>
                        <a:rPr lang="en-US" sz="1200" b="1" dirty="0">
                          <a:solidFill>
                            <a:srgbClr val="0052CC"/>
                          </a:solidFill>
                          <a:effectLst/>
                        </a:rPr>
                        <a:t>OKX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0.08% / 0.10%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Assets (USD) ≤ $100K or </a:t>
                      </a:r>
                    </a:p>
                    <a:p>
                      <a:pPr fontAlgn="t"/>
                      <a:r>
                        <a:rPr lang="en-US" altLang="zh-CN" sz="1200" dirty="0">
                          <a:solidFill>
                            <a:srgbClr val="003366"/>
                          </a:solidFill>
                          <a:effectLst/>
                        </a:rPr>
                        <a:t>30D derivatives volume ≤ $1M </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9</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-0.0075% / 0.0175%</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30D trade volume ≥ $5B </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783148">
                <a:tc>
                  <a:txBody>
                    <a:bodyPr/>
                    <a:lstStyle/>
                    <a:p>
                      <a:pPr fontAlgn="t"/>
                      <a:r>
                        <a:rPr lang="en-US" sz="1200" b="1" dirty="0" err="1">
                          <a:solidFill>
                            <a:srgbClr val="0052CC"/>
                          </a:solidFill>
                          <a:effectLst/>
                        </a:rPr>
                        <a:t>Bybit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VIP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0.02% / </a:t>
                      </a:r>
                      <a:r>
                        <a:rPr lang="en-US" sz="1200" dirty="0">
                          <a:solidFill>
                            <a:srgbClr val="003366"/>
                          </a:solidFill>
                          <a:effectLst/>
                        </a:rPr>
                        <a:t>0.055%</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$1M</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derivatives volume ≤ $10M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options volume ≤ $5M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Supreme VIP</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0.00% / 0.03%</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$100M</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derivatives volume ≥ $500M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options volume ≥ $100M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783148">
                <a:tc>
                  <a:txBody>
                    <a:bodyPr/>
                    <a:lstStyle/>
                    <a:p>
                      <a:pPr fontAlgn="t"/>
                      <a:r>
                        <a:rPr lang="en-US" sz="1200" b="1" dirty="0" err="1">
                          <a:solidFill>
                            <a:srgbClr val="0052CC"/>
                          </a:solidFill>
                          <a:effectLst/>
                        </a:rPr>
                        <a:t>Bitget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0</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0.02% / 0.06%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futures volume ≥ $0</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daily balance ≥ $0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daily balance ≥ $0</a:t>
                      </a:r>
                      <a:r>
                        <a:rPr lang="zh-CN" altLang="en-US" sz="1200" dirty="0">
                          <a:solidFill>
                            <a:srgbClr val="003366"/>
                          </a:solidFill>
                          <a:effectLst/>
                        </a:rPr>
                        <a:t> </a:t>
                      </a:r>
                      <a:endParaRPr lang="en-US" altLang="zh-CN"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VIP 7</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0% / 0.02%</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futures volume ≥ $1B</a:t>
                      </a:r>
                      <a:r>
                        <a:rPr lang="zh-CN" altLang="en-US" sz="1200" dirty="0">
                          <a:solidFill>
                            <a:srgbClr val="003366"/>
                          </a:solidFill>
                          <a:effectLst/>
                        </a:rPr>
                        <a:t> </a:t>
                      </a:r>
                      <a:r>
                        <a:rPr lang="en-US" altLang="zh-CN" sz="1200" dirty="0">
                          <a:solidFill>
                            <a:srgbClr val="003366"/>
                          </a:solidFill>
                          <a:effectLst/>
                        </a:rPr>
                        <a:t>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daily balance ≥ $10M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asset balance ≥ $10M</a:t>
                      </a:r>
                      <a:r>
                        <a:rPr lang="zh-CN" altLang="en-US" sz="1200" dirty="0">
                          <a:solidFill>
                            <a:srgbClr val="003366"/>
                          </a:solidFill>
                          <a:effectLst/>
                        </a:rPr>
                        <a:t> </a:t>
                      </a:r>
                      <a:endParaRPr lang="en-US" altLang="zh-CN"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642181">
                <a:tc>
                  <a:txBody>
                    <a:bodyPr/>
                    <a:lstStyle/>
                    <a:p>
                      <a:pPr fontAlgn="t"/>
                      <a:r>
                        <a:rPr lang="en-US" sz="1200" b="1" dirty="0" err="1">
                          <a:solidFill>
                            <a:srgbClr val="0052CC"/>
                          </a:solidFill>
                          <a:effectLst/>
                        </a:rPr>
                        <a:t>BitMart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Regular User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0.02% / 0.06%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30D spot volume &lt; $20K or </a:t>
                      </a:r>
                    </a:p>
                    <a:p>
                      <a:pPr fontAlgn="t"/>
                      <a:r>
                        <a:rPr lang="en-US" altLang="zh-CN" sz="1200" dirty="0">
                          <a:solidFill>
                            <a:srgbClr val="003366"/>
                          </a:solidFill>
                          <a:effectLst/>
                        </a:rPr>
                        <a:t>30D contract volume &lt; $20K or </a:t>
                      </a:r>
                    </a:p>
                    <a:p>
                      <a:pPr fontAlgn="t"/>
                      <a:r>
                        <a:rPr lang="en-US" altLang="zh-CN" sz="1200" dirty="0">
                          <a:solidFill>
                            <a:srgbClr val="003366"/>
                          </a:solidFill>
                          <a:effectLst/>
                        </a:rPr>
                        <a:t>asset balance &lt; $10K</a:t>
                      </a:r>
                      <a:endParaRPr lang="en-US"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VIP 8</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0.014% / 0.03%</a:t>
                      </a:r>
                      <a:r>
                        <a:rPr lang="zh-CN" altLang="en-US" sz="1200" dirty="0">
                          <a:solidFill>
                            <a:srgbClr val="003366"/>
                          </a:solidFill>
                          <a:effectLst/>
                        </a:rPr>
                        <a:t> </a:t>
                      </a:r>
                      <a:endParaRPr lang="en-US" altLang="zh-CN" sz="1200" dirty="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spot volume ≥ $50M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30D contract volume ≥ $1B or </a:t>
                      </a:r>
                    </a:p>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asset balance ≥ $5M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6718691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LEADING</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CEXs</a:t>
            </a:r>
            <a:endParaRPr kumimoji="1" lang="zh-CN" altLang="en-US" sz="3200" b="1" dirty="0">
              <a:solidFill>
                <a:srgbClr val="0070C0"/>
              </a:solidFill>
              <a:latin typeface="Tahoma" panose="020B0604030504040204" pitchFamily="34" charset="0"/>
              <a:cs typeface="Tahoma" panose="020B0604030504040204" pitchFamily="34" charset="0"/>
            </a:endParaRPr>
          </a:p>
        </p:txBody>
      </p:sp>
      <p:graphicFrame>
        <p:nvGraphicFramePr>
          <p:cNvPr id="7" name="表格 6">
            <a:extLst>
              <a:ext uri="{FF2B5EF4-FFF2-40B4-BE49-F238E27FC236}">
                <a16:creationId xmlns:a16="http://schemas.microsoft.com/office/drawing/2014/main" id="{EC161E2A-E4BD-B400-A763-88167BCD63CA}"/>
              </a:ext>
            </a:extLst>
          </p:cNvPr>
          <p:cNvGraphicFramePr>
            <a:graphicFrameLocks noGrp="1"/>
          </p:cNvGraphicFramePr>
          <p:nvPr>
            <p:extLst>
              <p:ext uri="{D42A27DB-BD31-4B8C-83A1-F6EECF244321}">
                <p14:modId xmlns:p14="http://schemas.microsoft.com/office/powerpoint/2010/main" val="1518471126"/>
              </p:ext>
            </p:extLst>
          </p:nvPr>
        </p:nvGraphicFramePr>
        <p:xfrm>
          <a:off x="716225" y="1350960"/>
          <a:ext cx="10524933" cy="5044721"/>
        </p:xfrm>
        <a:graphic>
          <a:graphicData uri="http://schemas.openxmlformats.org/drawingml/2006/table">
            <a:tbl>
              <a:tblPr/>
              <a:tblGrid>
                <a:gridCol w="1262929">
                  <a:extLst>
                    <a:ext uri="{9D8B030D-6E8A-4147-A177-3AD203B41FA5}">
                      <a16:colId xmlns:a16="http://schemas.microsoft.com/office/drawing/2014/main" val="1219197846"/>
                    </a:ext>
                  </a:extLst>
                </a:gridCol>
                <a:gridCol w="1894428">
                  <a:extLst>
                    <a:ext uri="{9D8B030D-6E8A-4147-A177-3AD203B41FA5}">
                      <a16:colId xmlns:a16="http://schemas.microsoft.com/office/drawing/2014/main" val="3578850112"/>
                    </a:ext>
                  </a:extLst>
                </a:gridCol>
                <a:gridCol w="1894428">
                  <a:extLst>
                    <a:ext uri="{9D8B030D-6E8A-4147-A177-3AD203B41FA5}">
                      <a16:colId xmlns:a16="http://schemas.microsoft.com/office/drawing/2014/main" val="3927195260"/>
                    </a:ext>
                  </a:extLst>
                </a:gridCol>
                <a:gridCol w="1473471">
                  <a:extLst>
                    <a:ext uri="{9D8B030D-6E8A-4147-A177-3AD203B41FA5}">
                      <a16:colId xmlns:a16="http://schemas.microsoft.com/office/drawing/2014/main" val="2179921263"/>
                    </a:ext>
                  </a:extLst>
                </a:gridCol>
                <a:gridCol w="1262929">
                  <a:extLst>
                    <a:ext uri="{9D8B030D-6E8A-4147-A177-3AD203B41FA5}">
                      <a16:colId xmlns:a16="http://schemas.microsoft.com/office/drawing/2014/main" val="3087317039"/>
                    </a:ext>
                  </a:extLst>
                </a:gridCol>
                <a:gridCol w="2736748">
                  <a:extLst>
                    <a:ext uri="{9D8B030D-6E8A-4147-A177-3AD203B41FA5}">
                      <a16:colId xmlns:a16="http://schemas.microsoft.com/office/drawing/2014/main" val="1430319904"/>
                    </a:ext>
                  </a:extLst>
                </a:gridCol>
              </a:tblGrid>
              <a:tr h="379826">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Licenses/Regions</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Core Products</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Fees</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a:solidFill>
                            <a:srgbClr val="FFFFFF"/>
                          </a:solidFill>
                          <a:effectLst/>
                          <a:highlight>
                            <a:srgbClr val="0052CC"/>
                          </a:highlight>
                          <a:latin typeface="Montserrat" pitchFamily="2" charset="0"/>
                        </a:rPr>
                        <a:t>Proof-of-Reserves</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Notable Features</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783148">
                <a:tc>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Global (150+ countries); UAE, France, Italy, Spain licenses; US-restricted</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Spot, margin, perpetuals, options, staking, earn, launchpad</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Tiered 0-0.1% maker/taker; VIP discounts; BNB fee reduction</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 </a:t>
                      </a:r>
                      <a:r>
                        <a:rPr lang="en-US" sz="1200">
                          <a:solidFill>
                            <a:srgbClr val="4CAF50"/>
                          </a:solidFill>
                          <a:effectLst/>
                        </a:rPr>
                        <a:t>Yes</a:t>
                      </a:r>
                      <a:r>
                        <a:rPr lang="en-US" sz="1200">
                          <a:solidFill>
                            <a:srgbClr val="003366"/>
                          </a:solidFill>
                          <a:effectLst/>
                        </a:rPr>
                        <a:t> (monthly PoR)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600+ pairs, deepest liquidity, </a:t>
                      </a:r>
                      <a:r>
                        <a:rPr lang="en-US" sz="1200" dirty="0" err="1">
                          <a:solidFill>
                            <a:srgbClr val="003366"/>
                          </a:solidFill>
                          <a:effectLst/>
                        </a:rPr>
                        <a:t>Binance</a:t>
                      </a:r>
                      <a:r>
                        <a:rPr lang="en-US" sz="1200" dirty="0">
                          <a:solidFill>
                            <a:srgbClr val="003366"/>
                          </a:solidFill>
                          <a:effectLst/>
                        </a:rPr>
                        <a:t> Launchpad, institutional APIs, BNB ecosystem</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783148">
                <a:tc>
                  <a:txBody>
                    <a:bodyPr/>
                    <a:lstStyle/>
                    <a:p>
                      <a:pPr fontAlgn="t"/>
                      <a:r>
                        <a:rPr lang="en-US" sz="1200" b="1">
                          <a:solidFill>
                            <a:srgbClr val="0052CC"/>
                          </a:solidFill>
                          <a:effectLst/>
                        </a:rPr>
                        <a:t>Coinbase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US (all 50 states), EU, UK, Canada, Singapore; publicly traded (NASDAQ: COIN)</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Spot, derivatives (</a:t>
                      </a:r>
                      <a:r>
                        <a:rPr lang="en-US" sz="1200" dirty="0" err="1">
                          <a:solidFill>
                            <a:srgbClr val="003366"/>
                          </a:solidFill>
                          <a:effectLst/>
                        </a:rPr>
                        <a:t>intl</a:t>
                      </a:r>
                      <a:r>
                        <a:rPr lang="en-US" sz="1200" dirty="0">
                          <a:solidFill>
                            <a:srgbClr val="003366"/>
                          </a:solidFill>
                          <a:effectLst/>
                        </a:rPr>
                        <a:t>), staking, custody, Prime (institutional)</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0.4-0.6% retail; 0-0.35% advanced; lower for institutions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 </a:t>
                      </a:r>
                      <a:r>
                        <a:rPr lang="en-US" sz="1200">
                          <a:solidFill>
                            <a:srgbClr val="4CAF50"/>
                          </a:solidFill>
                          <a:effectLst/>
                        </a:rPr>
                        <a:t>Yes</a:t>
                      </a:r>
                      <a:r>
                        <a:rPr lang="en-US" sz="1200">
                          <a:solidFill>
                            <a:srgbClr val="003366"/>
                          </a:solidFill>
                          <a:effectLst/>
                        </a:rPr>
                        <a:t> (quarterly)</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Strong compliance, user-friendly, Coinbase Custody, institutional grade, fiat ramps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783148">
                <a:tc>
                  <a:txBody>
                    <a:bodyPr/>
                    <a:lstStyle/>
                    <a:p>
                      <a:pPr fontAlgn="t"/>
                      <a:r>
                        <a:rPr lang="en-US" sz="1200" b="1">
                          <a:solidFill>
                            <a:srgbClr val="0052CC"/>
                          </a:solidFill>
                          <a:effectLst/>
                        </a:rPr>
                        <a:t>OKX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Global (ex-US); Malta, Bahamas, UAE licenses; 180+ countries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Spot, perpetuals, options, copy trading, earn, Web3 wallet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Tiered 0.08-0.1% maker/taker; VIP up to 0.02%</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 </a:t>
                      </a:r>
                      <a:r>
                        <a:rPr lang="en-US" sz="1200">
                          <a:solidFill>
                            <a:srgbClr val="4CAF50"/>
                          </a:solidFill>
                          <a:effectLst/>
                        </a:rPr>
                        <a:t>Yes</a:t>
                      </a:r>
                      <a:r>
                        <a:rPr lang="en-US" sz="1200">
                          <a:solidFill>
                            <a:srgbClr val="003366"/>
                          </a:solidFill>
                          <a:effectLst/>
                        </a:rPr>
                        <a:t> (monthly)</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Advanced derivatives, Web3 wallet integration, competitive fees, strong retail tools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783148">
                <a:tc>
                  <a:txBody>
                    <a:bodyPr/>
                    <a:lstStyle/>
                    <a:p>
                      <a:pPr fontAlgn="t"/>
                      <a:r>
                        <a:rPr lang="en-US" sz="1200" b="1">
                          <a:solidFill>
                            <a:srgbClr val="0052CC"/>
                          </a:solidFill>
                          <a:effectLst/>
                        </a:rPr>
                        <a:t>Kraken</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US, EU, UK, Canada, Australia; FCA, FinCEN, FINTRAC registered</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Spot, margin, futures (non-US), staking, OTC</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0-0.26% maker/taker tiered; volume discounts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 </a:t>
                      </a:r>
                      <a:r>
                        <a:rPr lang="en-US" sz="1200" dirty="0">
                          <a:solidFill>
                            <a:srgbClr val="4CAF50"/>
                          </a:solidFill>
                          <a:effectLst/>
                        </a:rPr>
                        <a:t>Yes</a:t>
                      </a:r>
                      <a:r>
                        <a:rPr lang="en-US" sz="1200" dirty="0">
                          <a:solidFill>
                            <a:srgbClr val="003366"/>
                          </a:solidFill>
                          <a:effectLst/>
                        </a:rPr>
                        <a:t> (</a:t>
                      </a:r>
                      <a:r>
                        <a:rPr lang="en-US" sz="1200" dirty="0" err="1">
                          <a:solidFill>
                            <a:srgbClr val="003366"/>
                          </a:solidFill>
                          <a:effectLst/>
                        </a:rPr>
                        <a:t>PoR</a:t>
                      </a:r>
                      <a:r>
                        <a:rPr lang="en-US" sz="1200" dirty="0">
                          <a:solidFill>
                            <a:srgbClr val="003366"/>
                          </a:solidFill>
                          <a:effectLst/>
                        </a:rPr>
                        <a:t> pioneer since 2014)</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Security-first approach, strong fiat support, institutional OTC, PoR transparency leader</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783148">
                <a:tc>
                  <a:txBody>
                    <a:bodyPr/>
                    <a:lstStyle/>
                    <a:p>
                      <a:pPr fontAlgn="t"/>
                      <a:r>
                        <a:rPr lang="en-US" sz="1200" b="1">
                          <a:solidFill>
                            <a:srgbClr val="0052CC"/>
                          </a:solidFill>
                          <a:effectLst/>
                        </a:rPr>
                        <a:t>Bybit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Global (ex-US); Dubai, Cyprus licenses; 160+ countries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Spot, perpetuals, options, copy trading, NFT marketplace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0.02-0.075% maker/taker; competitive derivatives fees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a:solidFill>
                            <a:srgbClr val="003366"/>
                          </a:solidFill>
                          <a:effectLst/>
                        </a:rPr>
                        <a:t> </a:t>
                      </a:r>
                      <a:r>
                        <a:rPr lang="en-US" sz="1200">
                          <a:solidFill>
                            <a:srgbClr val="4CAF50"/>
                          </a:solidFill>
                          <a:effectLst/>
                        </a:rPr>
                        <a:t>Yes</a:t>
                      </a:r>
                      <a:r>
                        <a:rPr lang="en-US" sz="1200">
                          <a:solidFill>
                            <a:srgbClr val="003366"/>
                          </a:solidFill>
                          <a:effectLst/>
                        </a:rPr>
                        <a:t> (monthly)</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Derivatives focus, copy trading popular, active retail community, trading competitions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642181">
                <a:tc>
                  <a:txBody>
                    <a:bodyPr/>
                    <a:lstStyle/>
                    <a:p>
                      <a:pPr fontAlgn="t"/>
                      <a:r>
                        <a:rPr lang="en-US" sz="1200" b="1">
                          <a:solidFill>
                            <a:srgbClr val="0052CC"/>
                          </a:solidFill>
                          <a:effectLst/>
                        </a:rPr>
                        <a:t>Bitget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Global (ex-US); 100+ countries; various local licenses</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Spot, perpetuals, copy trading, launchpad</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0.02-0.1% maker/taker; copy trading fees separate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a:solidFill>
                            <a:srgbClr val="003366"/>
                          </a:solidFill>
                          <a:effectLst/>
                        </a:rPr>
                        <a:t> </a:t>
                      </a:r>
                      <a:r>
                        <a:rPr lang="en-US" sz="1200">
                          <a:solidFill>
                            <a:srgbClr val="4CAF50"/>
                          </a:solidFill>
                          <a:effectLst/>
                        </a:rPr>
                        <a:t>Yes</a:t>
                      </a:r>
                      <a:endParaRPr lang="en-US" sz="1200">
                        <a:solidFill>
                          <a:srgbClr val="003366"/>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Copy trading leader, BGB token ecosystem, derivatives focused, growing user base</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11857602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LEADING</a:t>
            </a:r>
            <a:r>
              <a:rPr lang="zh-CN" altLang="en-US" sz="3200" b="1" i="0" dirty="0">
                <a:solidFill>
                  <a:srgbClr val="0070C0"/>
                </a:solidFill>
                <a:effectLst/>
                <a:highlight>
                  <a:srgbClr val="FFFFFF"/>
                </a:highlight>
                <a:latin typeface="Montserrat" pitchFamily="2" charset="0"/>
              </a:rPr>
              <a:t> </a:t>
            </a:r>
            <a:r>
              <a:rPr lang="en-US" altLang="zh-CN" sz="3200" b="1" i="0" dirty="0">
                <a:solidFill>
                  <a:srgbClr val="0070C0"/>
                </a:solidFill>
                <a:effectLst/>
                <a:highlight>
                  <a:srgbClr val="FFFFFF"/>
                </a:highlight>
                <a:latin typeface="Montserrat" pitchFamily="2" charset="0"/>
              </a:rPr>
              <a:t>CEXs</a:t>
            </a:r>
            <a:r>
              <a:rPr lang="zh-CN" altLang="en-US" sz="3200" b="1" i="0" dirty="0">
                <a:solidFill>
                  <a:srgbClr val="0070C0"/>
                </a:solidFill>
                <a:effectLst/>
                <a:highlight>
                  <a:srgbClr val="FFFFFF"/>
                </a:highlight>
                <a:latin typeface="Montserrat" pitchFamily="2" charset="0"/>
              </a:rPr>
              <a:t> </a:t>
            </a:r>
            <a:r>
              <a:rPr lang="en-US" altLang="zh-CN" sz="2000" b="1" i="0" dirty="0">
                <a:solidFill>
                  <a:srgbClr val="0070C0"/>
                </a:solidFill>
                <a:effectLst/>
                <a:highlight>
                  <a:srgbClr val="FFFFFF"/>
                </a:highlight>
                <a:latin typeface="Montserrat" pitchFamily="2" charset="0"/>
              </a:rPr>
              <a:t>(2026-03-01 by </a:t>
            </a:r>
            <a:r>
              <a:rPr lang="en-US" altLang="zh-CN" sz="2000" b="1" i="1" dirty="0" err="1">
                <a:solidFill>
                  <a:srgbClr val="0070C0"/>
                </a:solidFill>
                <a:effectLst/>
                <a:highlight>
                  <a:srgbClr val="FFFFFF"/>
                </a:highlight>
                <a:latin typeface="Montserrat" pitchFamily="2" charset="0"/>
              </a:rPr>
              <a:t>coinmarketcap.com</a:t>
            </a:r>
            <a:r>
              <a:rPr lang="en-US" altLang="zh-CN" sz="2000" b="1" i="0" dirty="0">
                <a:solidFill>
                  <a:srgbClr val="0070C0"/>
                </a:solidFill>
                <a:effectLst/>
                <a:highlight>
                  <a:srgbClr val="FFFFFF"/>
                </a:highlight>
                <a:latin typeface="Montserrat" pitchFamily="2" charset="0"/>
              </a:rPr>
              <a:t>)</a:t>
            </a:r>
            <a:endParaRPr kumimoji="1" lang="zh-CN" altLang="en-US" sz="2400" b="1" dirty="0">
              <a:solidFill>
                <a:srgbClr val="0070C0"/>
              </a:solidFill>
              <a:latin typeface="Tahoma" panose="020B0604030504040204" pitchFamily="34" charset="0"/>
              <a:cs typeface="Tahoma" panose="020B0604030504040204" pitchFamily="34" charset="0"/>
            </a:endParaRPr>
          </a:p>
        </p:txBody>
      </p:sp>
      <p:pic>
        <p:nvPicPr>
          <p:cNvPr id="3" name="图片 2">
            <a:extLst>
              <a:ext uri="{FF2B5EF4-FFF2-40B4-BE49-F238E27FC236}">
                <a16:creationId xmlns:a16="http://schemas.microsoft.com/office/drawing/2014/main" id="{013712E0-60B0-AEEB-29B0-DA24625A17FB}"/>
              </a:ext>
            </a:extLst>
          </p:cNvPr>
          <p:cNvPicPr>
            <a:picLocks noChangeAspect="1"/>
          </p:cNvPicPr>
          <p:nvPr/>
        </p:nvPicPr>
        <p:blipFill>
          <a:blip r:embed="rId3"/>
          <a:stretch>
            <a:fillRect/>
          </a:stretch>
        </p:blipFill>
        <p:spPr>
          <a:xfrm>
            <a:off x="716225" y="1201056"/>
            <a:ext cx="10554749" cy="5533143"/>
          </a:xfrm>
          <a:prstGeom prst="rect">
            <a:avLst/>
          </a:prstGeom>
        </p:spPr>
      </p:pic>
    </p:spTree>
    <p:extLst>
      <p:ext uri="{BB962C8B-B14F-4D97-AF65-F5344CB8AC3E}">
        <p14:creationId xmlns:p14="http://schemas.microsoft.com/office/powerpoint/2010/main" val="18428649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513B2C-6E72-3344-8D05-A81B8F08F986}"/>
              </a:ext>
            </a:extLst>
          </p:cNvPr>
          <p:cNvSpPr>
            <a:spLocks noGrp="1"/>
          </p:cNvSpPr>
          <p:nvPr>
            <p:ph type="ctrTitle"/>
          </p:nvPr>
        </p:nvSpPr>
        <p:spPr>
          <a:xfrm>
            <a:off x="1223681" y="2325333"/>
            <a:ext cx="9659667" cy="701731"/>
          </a:xfrm>
        </p:spPr>
        <p:txBody>
          <a:bodyPr wrap="square">
            <a:spAutoFit/>
          </a:bodyPr>
          <a:lstStyle/>
          <a:p>
            <a:pPr defTabSz="685800"/>
            <a:r>
              <a:rPr lang="en-US" altLang="zh-CN"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rPr>
              <a:t>CEX Spot Data</a:t>
            </a:r>
            <a:endParaRPr lang="zh-CN" altLang="en-US" sz="4400" b="1" dirty="0">
              <a:solidFill>
                <a:srgbClr val="0070C0"/>
              </a:solidFill>
              <a:latin typeface="Microsoft YaHei" panose="020B0503020204020204" pitchFamily="34" charset="-122"/>
              <a:ea typeface="Microsoft YaHei" panose="020B0503020204020204" pitchFamily="34" charset="-122"/>
              <a:cs typeface="Times New Roman" panose="02020603050405020304" pitchFamily="18" charset="0"/>
            </a:endParaRPr>
          </a:p>
        </p:txBody>
      </p:sp>
      <p:pic>
        <p:nvPicPr>
          <p:cNvPr id="4" name="图片 3">
            <a:extLst>
              <a:ext uri="{FF2B5EF4-FFF2-40B4-BE49-F238E27FC236}">
                <a16:creationId xmlns:a16="http://schemas.microsoft.com/office/drawing/2014/main" id="{4BAF81D8-24EC-DF4A-8574-EACD5AEC3A11}"/>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6" name="直线连接符 5">
            <a:extLst>
              <a:ext uri="{FF2B5EF4-FFF2-40B4-BE49-F238E27FC236}">
                <a16:creationId xmlns:a16="http://schemas.microsoft.com/office/drawing/2014/main" id="{C64D6872-E037-E46C-EC2D-8B94772A2920}"/>
              </a:ext>
            </a:extLst>
          </p:cNvPr>
          <p:cNvCxnSpPr>
            <a:cxnSpLocks/>
          </p:cNvCxnSpPr>
          <p:nvPr/>
        </p:nvCxnSpPr>
        <p:spPr>
          <a:xfrm>
            <a:off x="5371272" y="3225822"/>
            <a:ext cx="1140739" cy="0"/>
          </a:xfrm>
          <a:prstGeom prst="line">
            <a:avLst/>
          </a:prstGeom>
          <a:ln w="3175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3" name="文本框 2">
            <a:extLst>
              <a:ext uri="{FF2B5EF4-FFF2-40B4-BE49-F238E27FC236}">
                <a16:creationId xmlns:a16="http://schemas.microsoft.com/office/drawing/2014/main" id="{1356A55C-D602-0A39-5E1B-901323FDE8A9}"/>
              </a:ext>
            </a:extLst>
          </p:cNvPr>
          <p:cNvSpPr txBox="1"/>
          <p:nvPr/>
        </p:nvSpPr>
        <p:spPr>
          <a:xfrm>
            <a:off x="2591466" y="3632178"/>
            <a:ext cx="6700349" cy="1268232"/>
          </a:xfrm>
          <a:prstGeom prst="rect">
            <a:avLst/>
          </a:prstGeom>
          <a:noFill/>
        </p:spPr>
        <p:txBody>
          <a:bodyPr wrap="square" rtlCol="0">
            <a:spAutoFit/>
          </a:bodyPr>
          <a:lstStyle/>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Open, High, Low, Close and Volume (1-min OHLCV)</a:t>
            </a:r>
          </a:p>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Order Book (1-min</a:t>
            </a:r>
            <a:r>
              <a:rPr kumimoji="1" lang="zh-CN" altLang="en-US" dirty="0">
                <a:latin typeface="Tahoma" panose="020B0604030504040204" pitchFamily="34" charset="0"/>
                <a:ea typeface="Tahoma" panose="020B0604030504040204" pitchFamily="34" charset="0"/>
                <a:cs typeface="Tahoma" panose="020B0604030504040204" pitchFamily="34" charset="0"/>
              </a:rPr>
              <a:t> </a:t>
            </a:r>
            <a:r>
              <a:rPr kumimoji="1" lang="en-US" altLang="zh-CN" dirty="0">
                <a:latin typeface="Tahoma" panose="020B0604030504040204" pitchFamily="34" charset="0"/>
                <a:ea typeface="Tahoma" panose="020B0604030504040204" pitchFamily="34" charset="0"/>
                <a:cs typeface="Tahoma" panose="020B0604030504040204" pitchFamily="34" charset="0"/>
              </a:rPr>
              <a:t>Snapshots)</a:t>
            </a:r>
          </a:p>
          <a:p>
            <a:pPr marL="800100" lvl="1" indent="-342900" algn="ctr">
              <a:lnSpc>
                <a:spcPts val="3200"/>
              </a:lnSpc>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Tick-by-Tick Trades</a:t>
            </a:r>
          </a:p>
        </p:txBody>
      </p:sp>
    </p:spTree>
    <p:extLst>
      <p:ext uri="{BB962C8B-B14F-4D97-AF65-F5344CB8AC3E}">
        <p14:creationId xmlns:p14="http://schemas.microsoft.com/office/powerpoint/2010/main" val="709725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FILE STRUCTURE</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229203"/>
            <a:ext cx="10849241" cy="2344296"/>
          </a:xfrm>
          <a:prstGeom prst="rect">
            <a:avLst/>
          </a:prstGeom>
          <a:noFill/>
        </p:spPr>
        <p:txBody>
          <a:bodyPr wrap="square" rtlCol="0">
            <a:spAutoFit/>
          </a:bodyPr>
          <a:lstStyle/>
          <a:p>
            <a:pPr>
              <a:lnSpc>
                <a:spcPts val="30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Shared folder: </a:t>
            </a:r>
            <a:r>
              <a:rPr kumimoji="1" lang="en-US" altLang="zh-CN" sz="1300" dirty="0">
                <a:latin typeface="Tahoma" panose="020B0604030504040204" pitchFamily="34" charset="0"/>
                <a:ea typeface="Tahoma" panose="020B0604030504040204" pitchFamily="34" charset="0"/>
                <a:cs typeface="Tahoma" panose="020B0604030504040204" pitchFamily="34" charset="0"/>
                <a:hlinkClick r:id="rId3"/>
              </a:rPr>
              <a:t>https://www.dropbox.com/scl/fo/wrkuqu4fi5876rfhhngz6/AAqSNC5YZYDDhozhjU4FQaQ?rlkey=0aojdkzzcvfpzdkfuz7nkiagf&amp;st=zlf07olq&amp;dl=0</a:t>
            </a:r>
            <a:endParaRPr kumimoji="1" lang="en-US" altLang="zh-CN" sz="1300" dirty="0">
              <a:latin typeface="Tahoma" panose="020B0604030504040204" pitchFamily="34" charset="0"/>
              <a:ea typeface="Tahoma" panose="020B0604030504040204" pitchFamily="34" charset="0"/>
              <a:cs typeface="Tahoma" panose="020B0604030504040204" pitchFamily="34" charset="0"/>
            </a:endParaRPr>
          </a:p>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Suggested File Structure:</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a:lnSpc>
                <a:spcPts val="3400"/>
              </a:lnSpc>
              <a:spcAft>
                <a:spcPts val="600"/>
              </a:spcAft>
            </a:pPr>
            <a:endPar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a:lnSpc>
                <a:spcPts val="3400"/>
              </a:lnSpc>
              <a:spcAft>
                <a:spcPts val="600"/>
              </a:spcAft>
            </a:pPr>
            <a:endPar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6" name="图片 5">
            <a:extLst>
              <a:ext uri="{FF2B5EF4-FFF2-40B4-BE49-F238E27FC236}">
                <a16:creationId xmlns:a16="http://schemas.microsoft.com/office/drawing/2014/main" id="{CCACA2FB-9E2E-0C7A-693D-78E86692EA6D}"/>
              </a:ext>
            </a:extLst>
          </p:cNvPr>
          <p:cNvPicPr>
            <a:picLocks noChangeAspect="1"/>
          </p:cNvPicPr>
          <p:nvPr/>
        </p:nvPicPr>
        <p:blipFill>
          <a:blip r:embed="rId4"/>
          <a:stretch>
            <a:fillRect/>
          </a:stretch>
        </p:blipFill>
        <p:spPr>
          <a:xfrm>
            <a:off x="4710629" y="2078012"/>
            <a:ext cx="6218104" cy="4513140"/>
          </a:xfrm>
          <a:prstGeom prst="rect">
            <a:avLst/>
          </a:prstGeom>
        </p:spPr>
      </p:pic>
    </p:spTree>
    <p:extLst>
      <p:ext uri="{BB962C8B-B14F-4D97-AF65-F5344CB8AC3E}">
        <p14:creationId xmlns:p14="http://schemas.microsoft.com/office/powerpoint/2010/main" val="2256364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MARKET DATA COVERAGE</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3" name="文本框 2">
            <a:extLst>
              <a:ext uri="{FF2B5EF4-FFF2-40B4-BE49-F238E27FC236}">
                <a16:creationId xmlns:a16="http://schemas.microsoft.com/office/drawing/2014/main" id="{02507583-12BC-05A2-5EB8-72C2ABC5F887}"/>
              </a:ext>
            </a:extLst>
          </p:cNvPr>
          <p:cNvSpPr txBox="1"/>
          <p:nvPr/>
        </p:nvSpPr>
        <p:spPr>
          <a:xfrm>
            <a:off x="615623" y="1430026"/>
            <a:ext cx="10849241" cy="984950"/>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1. Spot – 1-min OHLCV</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表格 5">
            <a:extLst>
              <a:ext uri="{FF2B5EF4-FFF2-40B4-BE49-F238E27FC236}">
                <a16:creationId xmlns:a16="http://schemas.microsoft.com/office/drawing/2014/main" id="{60E489B0-5013-B566-689A-F5E7CEB007DC}"/>
              </a:ext>
            </a:extLst>
          </p:cNvPr>
          <p:cNvGraphicFramePr>
            <a:graphicFrameLocks noGrp="1"/>
          </p:cNvGraphicFramePr>
          <p:nvPr>
            <p:extLst>
              <p:ext uri="{D42A27DB-BD31-4B8C-83A1-F6EECF244321}">
                <p14:modId xmlns:p14="http://schemas.microsoft.com/office/powerpoint/2010/main" val="2167126445"/>
              </p:ext>
            </p:extLst>
          </p:nvPr>
        </p:nvGraphicFramePr>
        <p:xfrm>
          <a:off x="1874392" y="2275834"/>
          <a:ext cx="8443215" cy="3712589"/>
        </p:xfrm>
        <a:graphic>
          <a:graphicData uri="http://schemas.openxmlformats.org/drawingml/2006/table">
            <a:tbl>
              <a:tblPr/>
              <a:tblGrid>
                <a:gridCol w="1495569">
                  <a:extLst>
                    <a:ext uri="{9D8B030D-6E8A-4147-A177-3AD203B41FA5}">
                      <a16:colId xmlns:a16="http://schemas.microsoft.com/office/drawing/2014/main" val="1219197846"/>
                    </a:ext>
                  </a:extLst>
                </a:gridCol>
                <a:gridCol w="2315882">
                  <a:extLst>
                    <a:ext uri="{9D8B030D-6E8A-4147-A177-3AD203B41FA5}">
                      <a16:colId xmlns:a16="http://schemas.microsoft.com/office/drawing/2014/main" val="3578850112"/>
                    </a:ext>
                  </a:extLst>
                </a:gridCol>
                <a:gridCol w="2315882">
                  <a:extLst>
                    <a:ext uri="{9D8B030D-6E8A-4147-A177-3AD203B41FA5}">
                      <a16:colId xmlns:a16="http://schemas.microsoft.com/office/drawing/2014/main" val="2652481657"/>
                    </a:ext>
                  </a:extLst>
                </a:gridCol>
                <a:gridCol w="2315882">
                  <a:extLst>
                    <a:ext uri="{9D8B030D-6E8A-4147-A177-3AD203B41FA5}">
                      <a16:colId xmlns:a16="http://schemas.microsoft.com/office/drawing/2014/main" val="3549531216"/>
                    </a:ext>
                  </a:extLst>
                </a:gridCol>
              </a:tblGrid>
              <a:tr h="383381">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Instrument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Start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End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572029">
                <a:tc rowSpan="2">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2022-01-01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572029">
                <a:tc vMerge="1">
                  <a:txBody>
                    <a:bodyPr/>
                    <a:lstStyle/>
                    <a:p>
                      <a:pPr fontAlgn="t"/>
                      <a:endParaRPr lang="en-US" altLang="zh-CN"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PAXG/USDT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2020-08-28</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572029">
                <a:tc>
                  <a:txBody>
                    <a:bodyPr/>
                    <a:lstStyle/>
                    <a:p>
                      <a:pPr fontAlgn="t"/>
                      <a:r>
                        <a:rPr lang="en-US" sz="1200" b="1" dirty="0" err="1">
                          <a:solidFill>
                            <a:srgbClr val="0052CC"/>
                          </a:solidFill>
                          <a:effectLst/>
                        </a:rPr>
                        <a:t>Bitget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2022-01-01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572029">
                <a:tc>
                  <a:txBody>
                    <a:bodyPr/>
                    <a:lstStyle/>
                    <a:p>
                      <a:pPr fontAlgn="t"/>
                      <a:r>
                        <a:rPr lang="en-US" sz="1200" b="1" dirty="0" err="1">
                          <a:solidFill>
                            <a:srgbClr val="0052CC"/>
                          </a:solidFill>
                          <a:effectLst/>
                        </a:rPr>
                        <a:t>BitMart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2022-08-01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572029">
                <a:tc>
                  <a:txBody>
                    <a:bodyPr/>
                    <a:lstStyle/>
                    <a:p>
                      <a:pPr fontAlgn="t"/>
                      <a:r>
                        <a:rPr lang="en-US" sz="1200" b="1" dirty="0" err="1">
                          <a:solidFill>
                            <a:srgbClr val="0052CC"/>
                          </a:solidFill>
                          <a:effectLst/>
                        </a:rPr>
                        <a:t>Bybit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2022-01-01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469063">
                <a:tc>
                  <a:txBody>
                    <a:bodyPr/>
                    <a:lstStyle/>
                    <a:p>
                      <a:pPr fontAlgn="t"/>
                      <a:r>
                        <a:rPr lang="en-US" sz="1200" b="1" dirty="0">
                          <a:solidFill>
                            <a:srgbClr val="0052CC"/>
                          </a:solidFill>
                          <a:effectLst/>
                        </a:rPr>
                        <a:t>OKX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XAUT/USDT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2022-07-19</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3998781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MARKET DATA COVERAGE</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3" name="文本框 2">
            <a:extLst>
              <a:ext uri="{FF2B5EF4-FFF2-40B4-BE49-F238E27FC236}">
                <a16:creationId xmlns:a16="http://schemas.microsoft.com/office/drawing/2014/main" id="{02507583-12BC-05A2-5EB8-72C2ABC5F887}"/>
              </a:ext>
            </a:extLst>
          </p:cNvPr>
          <p:cNvSpPr txBox="1"/>
          <p:nvPr/>
        </p:nvSpPr>
        <p:spPr>
          <a:xfrm>
            <a:off x="615623" y="1430026"/>
            <a:ext cx="10849241" cy="984950"/>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2. Spot – Order Book (1-min Snapshots)</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600"/>
              </a:spcAft>
              <a:buFont typeface="Arial" panose="020B0604020202020204" pitchFamily="34" charset="0"/>
              <a:buChar char="•"/>
            </a:pP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表格 5">
            <a:extLst>
              <a:ext uri="{FF2B5EF4-FFF2-40B4-BE49-F238E27FC236}">
                <a16:creationId xmlns:a16="http://schemas.microsoft.com/office/drawing/2014/main" id="{60E489B0-5013-B566-689A-F5E7CEB007DC}"/>
              </a:ext>
            </a:extLst>
          </p:cNvPr>
          <p:cNvGraphicFramePr>
            <a:graphicFrameLocks noGrp="1"/>
          </p:cNvGraphicFramePr>
          <p:nvPr>
            <p:extLst>
              <p:ext uri="{D42A27DB-BD31-4B8C-83A1-F6EECF244321}">
                <p14:modId xmlns:p14="http://schemas.microsoft.com/office/powerpoint/2010/main" val="3625729211"/>
              </p:ext>
            </p:extLst>
          </p:nvPr>
        </p:nvGraphicFramePr>
        <p:xfrm>
          <a:off x="1874392" y="2275834"/>
          <a:ext cx="8443215" cy="2671497"/>
        </p:xfrm>
        <a:graphic>
          <a:graphicData uri="http://schemas.openxmlformats.org/drawingml/2006/table">
            <a:tbl>
              <a:tblPr/>
              <a:tblGrid>
                <a:gridCol w="1495569">
                  <a:extLst>
                    <a:ext uri="{9D8B030D-6E8A-4147-A177-3AD203B41FA5}">
                      <a16:colId xmlns:a16="http://schemas.microsoft.com/office/drawing/2014/main" val="1219197846"/>
                    </a:ext>
                  </a:extLst>
                </a:gridCol>
                <a:gridCol w="2315882">
                  <a:extLst>
                    <a:ext uri="{9D8B030D-6E8A-4147-A177-3AD203B41FA5}">
                      <a16:colId xmlns:a16="http://schemas.microsoft.com/office/drawing/2014/main" val="3578850112"/>
                    </a:ext>
                  </a:extLst>
                </a:gridCol>
                <a:gridCol w="2315882">
                  <a:extLst>
                    <a:ext uri="{9D8B030D-6E8A-4147-A177-3AD203B41FA5}">
                      <a16:colId xmlns:a16="http://schemas.microsoft.com/office/drawing/2014/main" val="2652481657"/>
                    </a:ext>
                  </a:extLst>
                </a:gridCol>
                <a:gridCol w="2315882">
                  <a:extLst>
                    <a:ext uri="{9D8B030D-6E8A-4147-A177-3AD203B41FA5}">
                      <a16:colId xmlns:a16="http://schemas.microsoft.com/office/drawing/2014/main" val="3549531216"/>
                    </a:ext>
                  </a:extLst>
                </a:gridCol>
              </a:tblGrid>
              <a:tr h="383381">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Instrument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Start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End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572029">
                <a:tc>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572029">
                <a:tc>
                  <a:txBody>
                    <a:bodyPr/>
                    <a:lstStyle/>
                    <a:p>
                      <a:pPr fontAlgn="t"/>
                      <a:r>
                        <a:rPr lang="en-US" sz="1200" b="1" dirty="0" err="1">
                          <a:solidFill>
                            <a:srgbClr val="0052CC"/>
                          </a:solidFill>
                          <a:effectLst/>
                        </a:rPr>
                        <a:t>Bitget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572029">
                <a:tc>
                  <a:txBody>
                    <a:bodyPr/>
                    <a:lstStyle/>
                    <a:p>
                      <a:pPr fontAlgn="t"/>
                      <a:r>
                        <a:rPr lang="en-US" sz="1200" b="1" dirty="0" err="1">
                          <a:solidFill>
                            <a:srgbClr val="0052CC"/>
                          </a:solidFill>
                          <a:effectLst/>
                        </a:rPr>
                        <a:t>BitMart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572029">
                <a:tc>
                  <a:txBody>
                    <a:bodyPr/>
                    <a:lstStyle/>
                    <a:p>
                      <a:pPr fontAlgn="t"/>
                      <a:r>
                        <a:rPr lang="en-US" sz="1200" b="1" dirty="0" err="1">
                          <a:solidFill>
                            <a:srgbClr val="0052CC"/>
                          </a:solidFill>
                          <a:effectLst/>
                        </a:rPr>
                        <a:t>Bybit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bl>
          </a:graphicData>
        </a:graphic>
      </p:graphicFrame>
    </p:spTree>
    <p:extLst>
      <p:ext uri="{BB962C8B-B14F-4D97-AF65-F5344CB8AC3E}">
        <p14:creationId xmlns:p14="http://schemas.microsoft.com/office/powerpoint/2010/main" val="2074602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MARKET DATA COVERAGE</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3" name="文本框 2">
            <a:extLst>
              <a:ext uri="{FF2B5EF4-FFF2-40B4-BE49-F238E27FC236}">
                <a16:creationId xmlns:a16="http://schemas.microsoft.com/office/drawing/2014/main" id="{02507583-12BC-05A2-5EB8-72C2ABC5F887}"/>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3. Spot – Trades</a:t>
            </a:r>
            <a:endParaRPr kumimoji="1" lang="en-US" altLang="zh-CN" sz="20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6" name="表格 5">
            <a:extLst>
              <a:ext uri="{FF2B5EF4-FFF2-40B4-BE49-F238E27FC236}">
                <a16:creationId xmlns:a16="http://schemas.microsoft.com/office/drawing/2014/main" id="{60E489B0-5013-B566-689A-F5E7CEB007DC}"/>
              </a:ext>
            </a:extLst>
          </p:cNvPr>
          <p:cNvGraphicFramePr>
            <a:graphicFrameLocks noGrp="1"/>
          </p:cNvGraphicFramePr>
          <p:nvPr>
            <p:extLst>
              <p:ext uri="{D42A27DB-BD31-4B8C-83A1-F6EECF244321}">
                <p14:modId xmlns:p14="http://schemas.microsoft.com/office/powerpoint/2010/main" val="395590378"/>
              </p:ext>
            </p:extLst>
          </p:nvPr>
        </p:nvGraphicFramePr>
        <p:xfrm>
          <a:off x="1874392" y="2275834"/>
          <a:ext cx="8443215" cy="3712589"/>
        </p:xfrm>
        <a:graphic>
          <a:graphicData uri="http://schemas.openxmlformats.org/drawingml/2006/table">
            <a:tbl>
              <a:tblPr/>
              <a:tblGrid>
                <a:gridCol w="1495569">
                  <a:extLst>
                    <a:ext uri="{9D8B030D-6E8A-4147-A177-3AD203B41FA5}">
                      <a16:colId xmlns:a16="http://schemas.microsoft.com/office/drawing/2014/main" val="1219197846"/>
                    </a:ext>
                  </a:extLst>
                </a:gridCol>
                <a:gridCol w="2315882">
                  <a:extLst>
                    <a:ext uri="{9D8B030D-6E8A-4147-A177-3AD203B41FA5}">
                      <a16:colId xmlns:a16="http://schemas.microsoft.com/office/drawing/2014/main" val="3578850112"/>
                    </a:ext>
                  </a:extLst>
                </a:gridCol>
                <a:gridCol w="2315882">
                  <a:extLst>
                    <a:ext uri="{9D8B030D-6E8A-4147-A177-3AD203B41FA5}">
                      <a16:colId xmlns:a16="http://schemas.microsoft.com/office/drawing/2014/main" val="2652481657"/>
                    </a:ext>
                  </a:extLst>
                </a:gridCol>
                <a:gridCol w="2315882">
                  <a:extLst>
                    <a:ext uri="{9D8B030D-6E8A-4147-A177-3AD203B41FA5}">
                      <a16:colId xmlns:a16="http://schemas.microsoft.com/office/drawing/2014/main" val="3549531216"/>
                    </a:ext>
                  </a:extLst>
                </a:gridCol>
              </a:tblGrid>
              <a:tr h="383381">
                <a:tc>
                  <a:txBody>
                    <a:bodyPr/>
                    <a:lstStyle/>
                    <a:p>
                      <a:pPr algn="l"/>
                      <a:r>
                        <a:rPr lang="en-US" sz="1200" b="1" dirty="0">
                          <a:solidFill>
                            <a:srgbClr val="FFFFFF"/>
                          </a:solidFill>
                          <a:effectLst/>
                          <a:highlight>
                            <a:srgbClr val="0052CC"/>
                          </a:highlight>
                          <a:latin typeface="Montserrat" pitchFamily="2" charset="0"/>
                        </a:rPr>
                        <a:t>Exchange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Instrument</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Start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tc>
                  <a:txBody>
                    <a:bodyPr/>
                    <a:lstStyle/>
                    <a:p>
                      <a:pPr algn="l"/>
                      <a:r>
                        <a:rPr lang="en-US" sz="1200" b="1" dirty="0">
                          <a:solidFill>
                            <a:srgbClr val="FFFFFF"/>
                          </a:solidFill>
                          <a:effectLst/>
                          <a:highlight>
                            <a:srgbClr val="0052CC"/>
                          </a:highlight>
                          <a:latin typeface="Montserrat" pitchFamily="2" charset="0"/>
                        </a:rPr>
                        <a:t>End Date</a:t>
                      </a:r>
                    </a:p>
                  </a:txBody>
                  <a:tcPr marL="34507" marR="34507" marT="43134" marB="43134" anchor="ctr">
                    <a:lnL w="9525" cap="flat" cmpd="sng" algn="ctr">
                      <a:solidFill>
                        <a:srgbClr val="003366"/>
                      </a:solidFill>
                      <a:prstDash val="solid"/>
                      <a:round/>
                      <a:headEnd type="none" w="med" len="med"/>
                      <a:tailEnd type="none" w="med" len="med"/>
                    </a:lnL>
                    <a:lnR w="9525" cap="flat" cmpd="sng" algn="ctr">
                      <a:solidFill>
                        <a:srgbClr val="003366"/>
                      </a:solidFill>
                      <a:prstDash val="solid"/>
                      <a:round/>
                      <a:headEnd type="none" w="med" len="med"/>
                      <a:tailEnd type="none" w="med" len="med"/>
                    </a:lnR>
                    <a:lnT w="9525" cap="flat" cmpd="sng" algn="ctr">
                      <a:solidFill>
                        <a:srgbClr val="003366"/>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0052CC"/>
                    </a:solidFill>
                  </a:tcPr>
                </a:tc>
                <a:extLst>
                  <a:ext uri="{0D108BD9-81ED-4DB2-BD59-A6C34878D82A}">
                    <a16:rowId xmlns:a16="http://schemas.microsoft.com/office/drawing/2014/main" val="780435811"/>
                  </a:ext>
                </a:extLst>
              </a:tr>
              <a:tr h="572029">
                <a:tc rowSpan="2">
                  <a:txBody>
                    <a:bodyPr/>
                    <a:lstStyle/>
                    <a:p>
                      <a:pPr fontAlgn="t"/>
                      <a:r>
                        <a:rPr lang="en-US" sz="1200" b="1" dirty="0" err="1">
                          <a:solidFill>
                            <a:srgbClr val="0052CC"/>
                          </a:solidFill>
                          <a:effectLst/>
                        </a:rPr>
                        <a:t>Binance</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118451920"/>
                  </a:ext>
                </a:extLst>
              </a:tr>
              <a:tr h="572029">
                <a:tc vMerge="1">
                  <a:txBody>
                    <a:bodyPr/>
                    <a:lstStyle/>
                    <a:p>
                      <a:pPr fontAlgn="t"/>
                      <a:endParaRPr lang="en-US" altLang="zh-CN"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PAXG/USDT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618742908"/>
                  </a:ext>
                </a:extLst>
              </a:tr>
              <a:tr h="572029">
                <a:tc>
                  <a:txBody>
                    <a:bodyPr/>
                    <a:lstStyle/>
                    <a:p>
                      <a:pPr fontAlgn="t"/>
                      <a:r>
                        <a:rPr lang="en-US" sz="1200" b="1" dirty="0" err="1">
                          <a:solidFill>
                            <a:srgbClr val="0052CC"/>
                          </a:solidFill>
                          <a:effectLst/>
                        </a:rPr>
                        <a:t>Bitget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397839533"/>
                  </a:ext>
                </a:extLst>
              </a:tr>
              <a:tr h="572029">
                <a:tc>
                  <a:txBody>
                    <a:bodyPr/>
                    <a:lstStyle/>
                    <a:p>
                      <a:pPr fontAlgn="t"/>
                      <a:r>
                        <a:rPr lang="en-US" sz="1200" b="1" dirty="0" err="1">
                          <a:solidFill>
                            <a:srgbClr val="0052CC"/>
                          </a:solidFill>
                          <a:effectLst/>
                        </a:rPr>
                        <a:t>BitMart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3550494015"/>
                  </a:ext>
                </a:extLst>
              </a:tr>
              <a:tr h="572029">
                <a:tc>
                  <a:txBody>
                    <a:bodyPr/>
                    <a:lstStyle/>
                    <a:p>
                      <a:pPr fontAlgn="t"/>
                      <a:r>
                        <a:rPr lang="en-US" sz="1200" b="1" dirty="0" err="1">
                          <a:solidFill>
                            <a:srgbClr val="0052CC"/>
                          </a:solidFill>
                          <a:effectLst/>
                        </a:rPr>
                        <a:t>Bybit</a:t>
                      </a:r>
                      <a:endParaRPr lang="en-US" sz="1200" b="1" dirty="0">
                        <a:solidFill>
                          <a:srgbClr val="0052CC"/>
                        </a:solidFill>
                        <a:effectLst/>
                      </a:endParaRP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altLang="zh-CN" sz="1200" dirty="0">
                          <a:solidFill>
                            <a:srgbClr val="003366"/>
                          </a:solidFill>
                          <a:effectLst/>
                        </a:rPr>
                        <a:t>ETH/USDT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tc>
                  <a:txBody>
                    <a:bodyPr/>
                    <a:lstStyle/>
                    <a:p>
                      <a:pPr fontAlgn="t"/>
                      <a:r>
                        <a:rPr lang="en-US"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FFFFF"/>
                    </a:solidFill>
                  </a:tcPr>
                </a:tc>
                <a:extLst>
                  <a:ext uri="{0D108BD9-81ED-4DB2-BD59-A6C34878D82A}">
                    <a16:rowId xmlns:a16="http://schemas.microsoft.com/office/drawing/2014/main" val="4227413452"/>
                  </a:ext>
                </a:extLst>
              </a:tr>
              <a:tr h="469063">
                <a:tc>
                  <a:txBody>
                    <a:bodyPr/>
                    <a:lstStyle/>
                    <a:p>
                      <a:pPr fontAlgn="t"/>
                      <a:r>
                        <a:rPr lang="en-US" sz="1200" b="1" dirty="0">
                          <a:solidFill>
                            <a:srgbClr val="0052CC"/>
                          </a:solidFill>
                          <a:effectLst/>
                        </a:rPr>
                        <a:t>OKX</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XAUT/USDT</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2025-09-01</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altLang="zh-CN" sz="1200" dirty="0">
                          <a:solidFill>
                            <a:srgbClr val="003366"/>
                          </a:solidFill>
                          <a:effectLst/>
                        </a:rPr>
                        <a:t>2026-02-26</a:t>
                      </a:r>
                    </a:p>
                  </a:txBody>
                  <a:tcPr marL="34507" marR="34507" marT="34507" marB="34507" anchor="ctr">
                    <a:lnL w="9525" cap="flat" cmpd="sng" algn="ctr">
                      <a:solidFill>
                        <a:srgbClr val="E6F2FF"/>
                      </a:solidFill>
                      <a:prstDash val="solid"/>
                      <a:round/>
                      <a:headEnd type="none" w="med" len="med"/>
                      <a:tailEnd type="none" w="med" len="med"/>
                    </a:lnL>
                    <a:lnR w="9525" cap="flat" cmpd="sng" algn="ctr">
                      <a:solidFill>
                        <a:srgbClr val="E6F2FF"/>
                      </a:solidFill>
                      <a:prstDash val="solid"/>
                      <a:round/>
                      <a:headEnd type="none" w="med" len="med"/>
                      <a:tailEnd type="none" w="med" len="med"/>
                    </a:lnR>
                    <a:lnT w="9525" cap="flat" cmpd="sng" algn="ctr">
                      <a:solidFill>
                        <a:srgbClr val="E6F2FF"/>
                      </a:solidFill>
                      <a:prstDash val="solid"/>
                      <a:round/>
                      <a:headEnd type="none" w="med" len="med"/>
                      <a:tailEnd type="none" w="med" len="med"/>
                    </a:lnT>
                    <a:lnB w="9525" cap="flat" cmpd="sng" algn="ctr">
                      <a:solidFill>
                        <a:srgbClr val="E6F2FF"/>
                      </a:solidFill>
                      <a:prstDash val="solid"/>
                      <a:round/>
                      <a:headEnd type="none" w="med" len="med"/>
                      <a:tailEnd type="none" w="med" len="med"/>
                    </a:lnB>
                    <a:solidFill>
                      <a:srgbClr val="F8FBFF"/>
                    </a:solidFill>
                  </a:tcPr>
                </a:tc>
                <a:extLst>
                  <a:ext uri="{0D108BD9-81ED-4DB2-BD59-A6C34878D82A}">
                    <a16:rowId xmlns:a16="http://schemas.microsoft.com/office/drawing/2014/main" val="2423569782"/>
                  </a:ext>
                </a:extLst>
              </a:tr>
            </a:tbl>
          </a:graphicData>
        </a:graphic>
      </p:graphicFrame>
    </p:spTree>
    <p:extLst>
      <p:ext uri="{BB962C8B-B14F-4D97-AF65-F5344CB8AC3E}">
        <p14:creationId xmlns:p14="http://schemas.microsoft.com/office/powerpoint/2010/main" val="2124050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3"/>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1-MIN OHLCV</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2087816"/>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Definition</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1800"/>
              </a:spcAft>
              <a:buFont typeface="Arial" panose="020B0604020202020204" pitchFamily="34" charset="0"/>
              <a:buChar char="•"/>
            </a:pPr>
            <a:r>
              <a:rPr kumimoji="1" lang="en-US" altLang="zh-CN" sz="2000" dirty="0">
                <a:latin typeface="Tahoma" panose="020B0604030504040204" pitchFamily="34" charset="0"/>
                <a:ea typeface="Tahoma" panose="020B0604030504040204" pitchFamily="34" charset="0"/>
                <a:cs typeface="Tahoma" panose="020B0604030504040204" pitchFamily="34" charset="0"/>
              </a:rPr>
              <a:t>OHLCV is an aggregated form of market data standing for Open, High, Low, Close and Volume. OHLCV data is provided with minutely granularity.</a:t>
            </a: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a:t>
            </a:r>
            <a:r>
              <a:rPr kumimoji="1" lang="en-US" altLang="zh-CN" sz="24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0" name="表格 9">
            <a:extLst>
              <a:ext uri="{FF2B5EF4-FFF2-40B4-BE49-F238E27FC236}">
                <a16:creationId xmlns:a16="http://schemas.microsoft.com/office/drawing/2014/main" id="{001ED89C-806A-C025-D769-CF4E4AC85B8B}"/>
              </a:ext>
            </a:extLst>
          </p:cNvPr>
          <p:cNvGraphicFramePr>
            <a:graphicFrameLocks noGrp="1"/>
          </p:cNvGraphicFramePr>
          <p:nvPr>
            <p:extLst>
              <p:ext uri="{D42A27DB-BD31-4B8C-83A1-F6EECF244321}">
                <p14:modId xmlns:p14="http://schemas.microsoft.com/office/powerpoint/2010/main" val="2875703914"/>
              </p:ext>
            </p:extLst>
          </p:nvPr>
        </p:nvGraphicFramePr>
        <p:xfrm>
          <a:off x="1656951" y="3721649"/>
          <a:ext cx="8766583" cy="2087817"/>
        </p:xfrm>
        <a:graphic>
          <a:graphicData uri="http://schemas.openxmlformats.org/drawingml/2006/table">
            <a:tbl>
              <a:tblPr firstRow="1">
                <a:tableStyleId>{17292A2E-F333-43FB-9621-5CBBE7FDCDCB}</a:tableStyleId>
              </a:tblPr>
              <a:tblGrid>
                <a:gridCol w="1815589">
                  <a:extLst>
                    <a:ext uri="{9D8B030D-6E8A-4147-A177-3AD203B41FA5}">
                      <a16:colId xmlns:a16="http://schemas.microsoft.com/office/drawing/2014/main" val="941845261"/>
                    </a:ext>
                  </a:extLst>
                </a:gridCol>
                <a:gridCol w="1344115">
                  <a:extLst>
                    <a:ext uri="{9D8B030D-6E8A-4147-A177-3AD203B41FA5}">
                      <a16:colId xmlns:a16="http://schemas.microsoft.com/office/drawing/2014/main" val="4242736190"/>
                    </a:ext>
                  </a:extLst>
                </a:gridCol>
                <a:gridCol w="1344115">
                  <a:extLst>
                    <a:ext uri="{9D8B030D-6E8A-4147-A177-3AD203B41FA5}">
                      <a16:colId xmlns:a16="http://schemas.microsoft.com/office/drawing/2014/main" val="2389468345"/>
                    </a:ext>
                  </a:extLst>
                </a:gridCol>
                <a:gridCol w="1344115">
                  <a:extLst>
                    <a:ext uri="{9D8B030D-6E8A-4147-A177-3AD203B41FA5}">
                      <a16:colId xmlns:a16="http://schemas.microsoft.com/office/drawing/2014/main" val="2264387108"/>
                    </a:ext>
                  </a:extLst>
                </a:gridCol>
                <a:gridCol w="1344115">
                  <a:extLst>
                    <a:ext uri="{9D8B030D-6E8A-4147-A177-3AD203B41FA5}">
                      <a16:colId xmlns:a16="http://schemas.microsoft.com/office/drawing/2014/main" val="2248436148"/>
                    </a:ext>
                  </a:extLst>
                </a:gridCol>
                <a:gridCol w="1574534">
                  <a:extLst>
                    <a:ext uri="{9D8B030D-6E8A-4147-A177-3AD203B41FA5}">
                      <a16:colId xmlns:a16="http://schemas.microsoft.com/office/drawing/2014/main" val="2309209088"/>
                    </a:ext>
                  </a:extLst>
                </a:gridCol>
              </a:tblGrid>
              <a:tr h="292387">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a:effectLst/>
                        </a:rPr>
                        <a:t>open</a:t>
                      </a:r>
                    </a:p>
                  </a:txBody>
                  <a:tcPr marL="76200" marR="76200" marT="38100" marB="38100" anchor="ctr"/>
                </a:tc>
                <a:tc>
                  <a:txBody>
                    <a:bodyPr/>
                    <a:lstStyle/>
                    <a:p>
                      <a:pPr algn="l" fontAlgn="ctr"/>
                      <a:r>
                        <a:rPr lang="en-US" sz="1400" dirty="0">
                          <a:effectLst/>
                        </a:rPr>
                        <a:t>high</a:t>
                      </a:r>
                    </a:p>
                  </a:txBody>
                  <a:tcPr marL="76200" marR="76200" marT="38100" marB="38100" anchor="ctr"/>
                </a:tc>
                <a:tc>
                  <a:txBody>
                    <a:bodyPr/>
                    <a:lstStyle/>
                    <a:p>
                      <a:pPr algn="l" fontAlgn="ctr"/>
                      <a:r>
                        <a:rPr lang="en-US" sz="1400" dirty="0">
                          <a:effectLst/>
                        </a:rPr>
                        <a:t>low</a:t>
                      </a:r>
                    </a:p>
                  </a:txBody>
                  <a:tcPr marL="76200" marR="76200" marT="38100" marB="38100" anchor="ctr"/>
                </a:tc>
                <a:tc>
                  <a:txBody>
                    <a:bodyPr/>
                    <a:lstStyle/>
                    <a:p>
                      <a:pPr algn="l" fontAlgn="ctr"/>
                      <a:r>
                        <a:rPr lang="en-US" sz="1400" dirty="0">
                          <a:effectLst/>
                        </a:rPr>
                        <a:t>close</a:t>
                      </a:r>
                    </a:p>
                  </a:txBody>
                  <a:tcPr marL="76200" marR="76200" marT="38100" marB="38100" anchor="ctr"/>
                </a:tc>
                <a:tc>
                  <a:txBody>
                    <a:bodyPr/>
                    <a:lstStyle/>
                    <a:p>
                      <a:pPr algn="l" fontAlgn="ctr"/>
                      <a:r>
                        <a:rPr lang="en-US" sz="1400" dirty="0">
                          <a:effectLst/>
                        </a:rPr>
                        <a:t>volume</a:t>
                      </a:r>
                    </a:p>
                  </a:txBody>
                  <a:tcPr marL="76200" marR="76200" marT="38100" marB="38100" anchor="ctr"/>
                </a:tc>
                <a:extLst>
                  <a:ext uri="{0D108BD9-81ED-4DB2-BD59-A6C34878D82A}">
                    <a16:rowId xmlns:a16="http://schemas.microsoft.com/office/drawing/2014/main" val="2701443269"/>
                  </a:ext>
                </a:extLst>
              </a:tr>
              <a:tr h="359086">
                <a:tc>
                  <a:txBody>
                    <a:bodyPr/>
                    <a:lstStyle/>
                    <a:p>
                      <a:pPr algn="l"/>
                      <a:r>
                        <a:rPr lang="en-US" altLang="zh-CN" sz="1400" b="1" dirty="0">
                          <a:solidFill>
                            <a:srgbClr val="FF0000"/>
                          </a:solidFill>
                          <a:effectLst/>
                        </a:rPr>
                        <a:t>1756684800000</a:t>
                      </a:r>
                    </a:p>
                  </a:txBody>
                  <a:tcPr marL="76200" marR="76200" marT="38100" marB="38100" anchor="ctr"/>
                </a:tc>
                <a:tc>
                  <a:txBody>
                    <a:bodyPr/>
                    <a:lstStyle/>
                    <a:p>
                      <a:pPr algn="l"/>
                      <a:r>
                        <a:rPr lang="en-US" altLang="zh-CN" sz="1400">
                          <a:effectLst/>
                        </a:rPr>
                        <a:t>4391.83</a:t>
                      </a:r>
                    </a:p>
                  </a:txBody>
                  <a:tcPr marL="76200" marR="76200" marT="38100" marB="38100" anchor="ctr"/>
                </a:tc>
                <a:tc>
                  <a:txBody>
                    <a:bodyPr/>
                    <a:lstStyle/>
                    <a:p>
                      <a:pPr algn="l"/>
                      <a:r>
                        <a:rPr lang="en-US" altLang="zh-CN" sz="1400" dirty="0">
                          <a:effectLst/>
                        </a:rPr>
                        <a:t>4391.83</a:t>
                      </a:r>
                    </a:p>
                  </a:txBody>
                  <a:tcPr marL="76200" marR="76200" marT="38100" marB="38100" anchor="ctr"/>
                </a:tc>
                <a:tc>
                  <a:txBody>
                    <a:bodyPr/>
                    <a:lstStyle/>
                    <a:p>
                      <a:pPr algn="l"/>
                      <a:r>
                        <a:rPr lang="en-US" altLang="zh-CN" sz="1400" dirty="0">
                          <a:effectLst/>
                        </a:rPr>
                        <a:t>4386.25</a:t>
                      </a:r>
                    </a:p>
                  </a:txBody>
                  <a:tcPr marL="76200" marR="76200" marT="38100" marB="38100" anchor="ctr"/>
                </a:tc>
                <a:tc>
                  <a:txBody>
                    <a:bodyPr/>
                    <a:lstStyle/>
                    <a:p>
                      <a:pPr algn="l"/>
                      <a:r>
                        <a:rPr lang="en-US" altLang="zh-CN" sz="1400" dirty="0">
                          <a:effectLst/>
                        </a:rPr>
                        <a:t>4389.95</a:t>
                      </a:r>
                    </a:p>
                  </a:txBody>
                  <a:tcPr marL="76200" marR="76200" marT="38100" marB="38100" anchor="ctr"/>
                </a:tc>
                <a:tc>
                  <a:txBody>
                    <a:bodyPr/>
                    <a:lstStyle/>
                    <a:p>
                      <a:pPr algn="l"/>
                      <a:r>
                        <a:rPr lang="en-US" altLang="zh-CN" sz="1400" dirty="0">
                          <a:effectLst/>
                        </a:rPr>
                        <a:t>325.8367</a:t>
                      </a:r>
                    </a:p>
                  </a:txBody>
                  <a:tcPr marL="76200" marR="76200" marT="38100" marB="38100" anchor="ctr"/>
                </a:tc>
                <a:extLst>
                  <a:ext uri="{0D108BD9-81ED-4DB2-BD59-A6C34878D82A}">
                    <a16:rowId xmlns:a16="http://schemas.microsoft.com/office/drawing/2014/main" val="3539087097"/>
                  </a:ext>
                </a:extLst>
              </a:tr>
              <a:tr h="359086">
                <a:tc>
                  <a:txBody>
                    <a:bodyPr/>
                    <a:lstStyle/>
                    <a:p>
                      <a:pPr algn="l"/>
                      <a:r>
                        <a:rPr lang="en-US" altLang="zh-CN" sz="1400" dirty="0">
                          <a:effectLst/>
                        </a:rPr>
                        <a:t>1756684860000</a:t>
                      </a:r>
                    </a:p>
                  </a:txBody>
                  <a:tcPr marL="76200" marR="76200" marT="38100" marB="38100" anchor="ctr"/>
                </a:tc>
                <a:tc>
                  <a:txBody>
                    <a:bodyPr/>
                    <a:lstStyle/>
                    <a:p>
                      <a:pPr algn="l"/>
                      <a:r>
                        <a:rPr lang="en-US" altLang="zh-CN" sz="1400">
                          <a:effectLst/>
                        </a:rPr>
                        <a:t>4389.96</a:t>
                      </a:r>
                    </a:p>
                  </a:txBody>
                  <a:tcPr marL="76200" marR="76200" marT="38100" marB="38100" anchor="ctr"/>
                </a:tc>
                <a:tc>
                  <a:txBody>
                    <a:bodyPr/>
                    <a:lstStyle/>
                    <a:p>
                      <a:pPr algn="l"/>
                      <a:r>
                        <a:rPr lang="en-US" altLang="zh-CN" sz="1400">
                          <a:effectLst/>
                        </a:rPr>
                        <a:t>4391.40</a:t>
                      </a:r>
                    </a:p>
                  </a:txBody>
                  <a:tcPr marL="76200" marR="76200" marT="38100" marB="38100" anchor="ctr"/>
                </a:tc>
                <a:tc>
                  <a:txBody>
                    <a:bodyPr/>
                    <a:lstStyle/>
                    <a:p>
                      <a:pPr algn="l"/>
                      <a:r>
                        <a:rPr lang="en-US" altLang="zh-CN" sz="1400">
                          <a:effectLst/>
                        </a:rPr>
                        <a:t>4389.68</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dirty="0">
                          <a:effectLst/>
                        </a:rPr>
                        <a:t>158.5513</a:t>
                      </a:r>
                    </a:p>
                  </a:txBody>
                  <a:tcPr marL="76200" marR="76200" marT="38100" marB="38100" anchor="ctr"/>
                </a:tc>
                <a:extLst>
                  <a:ext uri="{0D108BD9-81ED-4DB2-BD59-A6C34878D82A}">
                    <a16:rowId xmlns:a16="http://schemas.microsoft.com/office/drawing/2014/main" val="3717465620"/>
                  </a:ext>
                </a:extLst>
              </a:tr>
              <a:tr h="359086">
                <a:tc>
                  <a:txBody>
                    <a:bodyPr/>
                    <a:lstStyle/>
                    <a:p>
                      <a:pPr algn="l"/>
                      <a:r>
                        <a:rPr lang="en-US" altLang="zh-CN" sz="1400">
                          <a:effectLst/>
                        </a:rPr>
                        <a:t>1756684920000</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4386.14</a:t>
                      </a:r>
                    </a:p>
                  </a:txBody>
                  <a:tcPr marL="76200" marR="76200" marT="38100" marB="38100" anchor="ctr"/>
                </a:tc>
                <a:tc>
                  <a:txBody>
                    <a:bodyPr/>
                    <a:lstStyle/>
                    <a:p>
                      <a:pPr algn="l"/>
                      <a:r>
                        <a:rPr lang="en-US" altLang="zh-CN" sz="1400">
                          <a:effectLst/>
                        </a:rPr>
                        <a:t>4388.19</a:t>
                      </a:r>
                    </a:p>
                  </a:txBody>
                  <a:tcPr marL="76200" marR="76200" marT="38100" marB="38100" anchor="ctr"/>
                </a:tc>
                <a:tc>
                  <a:txBody>
                    <a:bodyPr/>
                    <a:lstStyle/>
                    <a:p>
                      <a:pPr algn="l"/>
                      <a:r>
                        <a:rPr lang="en-US" altLang="zh-CN" sz="1400" dirty="0">
                          <a:effectLst/>
                        </a:rPr>
                        <a:t>187.0756</a:t>
                      </a:r>
                    </a:p>
                  </a:txBody>
                  <a:tcPr marL="76200" marR="76200" marT="38100" marB="38100" anchor="ctr"/>
                </a:tc>
                <a:extLst>
                  <a:ext uri="{0D108BD9-81ED-4DB2-BD59-A6C34878D82A}">
                    <a16:rowId xmlns:a16="http://schemas.microsoft.com/office/drawing/2014/main" val="3228954593"/>
                  </a:ext>
                </a:extLst>
              </a:tr>
              <a:tr h="359086">
                <a:tc>
                  <a:txBody>
                    <a:bodyPr/>
                    <a:lstStyle/>
                    <a:p>
                      <a:pPr algn="l"/>
                      <a:r>
                        <a:rPr lang="en-US" altLang="zh-CN" sz="1400">
                          <a:effectLst/>
                        </a:rPr>
                        <a:t>1756684980000</a:t>
                      </a:r>
                    </a:p>
                  </a:txBody>
                  <a:tcPr marL="76200" marR="76200" marT="38100" marB="38100" anchor="ctr"/>
                </a:tc>
                <a:tc>
                  <a:txBody>
                    <a:bodyPr/>
                    <a:lstStyle/>
                    <a:p>
                      <a:pPr algn="l"/>
                      <a:r>
                        <a:rPr lang="en-US" altLang="zh-CN" sz="1400" dirty="0">
                          <a:effectLst/>
                        </a:rPr>
                        <a:t>4388.19</a:t>
                      </a:r>
                    </a:p>
                  </a:txBody>
                  <a:tcPr marL="76200" marR="76200" marT="38100" marB="38100" anchor="ctr"/>
                </a:tc>
                <a:tc>
                  <a:txBody>
                    <a:bodyPr/>
                    <a:lstStyle/>
                    <a:p>
                      <a:pPr algn="l"/>
                      <a:r>
                        <a:rPr lang="en-US" altLang="zh-CN" sz="1400">
                          <a:effectLst/>
                        </a:rPr>
                        <a:t>4389.97</a:t>
                      </a:r>
                    </a:p>
                  </a:txBody>
                  <a:tcPr marL="76200" marR="76200" marT="38100" marB="38100" anchor="ctr"/>
                </a:tc>
                <a:tc>
                  <a:txBody>
                    <a:bodyPr/>
                    <a:lstStyle/>
                    <a:p>
                      <a:pPr algn="l"/>
                      <a:r>
                        <a:rPr lang="en-US" altLang="zh-CN" sz="1400">
                          <a:effectLst/>
                        </a:rPr>
                        <a:t>4386.33</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dirty="0">
                          <a:effectLst/>
                        </a:rPr>
                        <a:t>341.8429</a:t>
                      </a:r>
                    </a:p>
                  </a:txBody>
                  <a:tcPr marL="76200" marR="76200" marT="38100" marB="38100" anchor="ctr"/>
                </a:tc>
                <a:extLst>
                  <a:ext uri="{0D108BD9-81ED-4DB2-BD59-A6C34878D82A}">
                    <a16:rowId xmlns:a16="http://schemas.microsoft.com/office/drawing/2014/main" val="2487280950"/>
                  </a:ext>
                </a:extLst>
              </a:tr>
              <a:tr h="359086">
                <a:tc>
                  <a:txBody>
                    <a:bodyPr/>
                    <a:lstStyle/>
                    <a:p>
                      <a:pPr algn="l"/>
                      <a:r>
                        <a:rPr lang="en-US" altLang="zh-CN" sz="1400" b="1" dirty="0">
                          <a:solidFill>
                            <a:srgbClr val="00B050"/>
                          </a:solidFill>
                          <a:effectLst/>
                        </a:rPr>
                        <a:t>1756685040000</a:t>
                      </a:r>
                    </a:p>
                  </a:txBody>
                  <a:tcPr marL="76200" marR="76200" marT="38100" marB="38100" anchor="ctr"/>
                </a:tc>
                <a:tc>
                  <a:txBody>
                    <a:bodyPr/>
                    <a:lstStyle/>
                    <a:p>
                      <a:pPr algn="l"/>
                      <a:r>
                        <a:rPr lang="en-US" altLang="zh-CN" sz="1400" dirty="0">
                          <a:effectLst/>
                        </a:rPr>
                        <a:t>4386.45</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a:effectLst/>
                        </a:rPr>
                        <a:t>4375.39</a:t>
                      </a:r>
                    </a:p>
                  </a:txBody>
                  <a:tcPr marL="76200" marR="76200" marT="38100" marB="38100" anchor="ctr"/>
                </a:tc>
                <a:tc>
                  <a:txBody>
                    <a:bodyPr/>
                    <a:lstStyle/>
                    <a:p>
                      <a:pPr algn="l"/>
                      <a:r>
                        <a:rPr lang="en-US" altLang="zh-CN" sz="1400">
                          <a:effectLst/>
                        </a:rPr>
                        <a:t>4376.57</a:t>
                      </a:r>
                    </a:p>
                  </a:txBody>
                  <a:tcPr marL="76200" marR="76200" marT="38100" marB="38100" anchor="ctr"/>
                </a:tc>
                <a:tc>
                  <a:txBody>
                    <a:bodyPr/>
                    <a:lstStyle/>
                    <a:p>
                      <a:pPr algn="l"/>
                      <a:r>
                        <a:rPr lang="en-US" altLang="zh-CN" sz="1400" dirty="0">
                          <a:effectLst/>
                        </a:rPr>
                        <a:t>622.3295</a:t>
                      </a:r>
                    </a:p>
                  </a:txBody>
                  <a:tcPr marL="76200" marR="76200" marT="38100" marB="38100" anchor="ctr"/>
                </a:tc>
                <a:extLst>
                  <a:ext uri="{0D108BD9-81ED-4DB2-BD59-A6C34878D82A}">
                    <a16:rowId xmlns:a16="http://schemas.microsoft.com/office/drawing/2014/main" val="3117150715"/>
                  </a:ext>
                </a:extLst>
              </a:tr>
            </a:tbl>
          </a:graphicData>
        </a:graphic>
      </p:graphicFrame>
      <p:sp>
        <p:nvSpPr>
          <p:cNvPr id="3" name="文本框 2">
            <a:extLst>
              <a:ext uri="{FF2B5EF4-FFF2-40B4-BE49-F238E27FC236}">
                <a16:creationId xmlns:a16="http://schemas.microsoft.com/office/drawing/2014/main" id="{00D41343-7716-D700-7663-B5EF8D46B34A}"/>
              </a:ext>
            </a:extLst>
          </p:cNvPr>
          <p:cNvSpPr txBox="1"/>
          <p:nvPr/>
        </p:nvSpPr>
        <p:spPr>
          <a:xfrm>
            <a:off x="834887" y="6132443"/>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8AF5787F-AE0B-0F1E-9FA6-86903A58E0C6}"/>
              </a:ext>
            </a:extLst>
          </p:cNvPr>
          <p:cNvSpPr txBox="1"/>
          <p:nvPr/>
        </p:nvSpPr>
        <p:spPr>
          <a:xfrm>
            <a:off x="1656951" y="5917000"/>
            <a:ext cx="8132354" cy="584775"/>
          </a:xfrm>
          <a:prstGeom prst="rect">
            <a:avLst/>
          </a:prstGeom>
          <a:noFill/>
        </p:spPr>
        <p:txBody>
          <a:bodyPr wrap="none" rtlCol="0">
            <a:spAutoFit/>
          </a:bodyPr>
          <a:lstStyle/>
          <a:p>
            <a:r>
              <a:rPr kumimoji="1" lang="en-US" altLang="zh-CN" sz="1600" b="1" dirty="0" err="1">
                <a:solidFill>
                  <a:srgbClr val="FF0000"/>
                </a:solidFill>
              </a:rPr>
              <a:t>pd.to_datetime</a:t>
            </a:r>
            <a:r>
              <a:rPr kumimoji="1" lang="en-US" altLang="zh-CN" sz="1600" b="1" dirty="0">
                <a:solidFill>
                  <a:srgbClr val="FF0000"/>
                </a:solidFill>
              </a:rPr>
              <a:t>(1756684800000, unit='</a:t>
            </a:r>
            <a:r>
              <a:rPr kumimoji="1" lang="en-US" altLang="zh-CN" sz="1600" b="1" dirty="0" err="1">
                <a:solidFill>
                  <a:srgbClr val="FF0000"/>
                </a:solidFill>
              </a:rPr>
              <a:t>ms</a:t>
            </a:r>
            <a:r>
              <a:rPr kumimoji="1" lang="en-US" altLang="zh-CN" sz="1600" b="1" dirty="0">
                <a:solidFill>
                  <a:srgbClr val="FF0000"/>
                </a:solidFill>
              </a:rPr>
              <a:t>')    # -&gt; Timestamp('2025-09-01 00:00:00')</a:t>
            </a:r>
          </a:p>
          <a:p>
            <a:r>
              <a:rPr kumimoji="1" lang="en-US" altLang="zh-CN" sz="1600" b="1" dirty="0" err="1">
                <a:solidFill>
                  <a:srgbClr val="00B050"/>
                </a:solidFill>
              </a:rPr>
              <a:t>pd.to_datetime</a:t>
            </a:r>
            <a:r>
              <a:rPr kumimoji="1" lang="en-US" altLang="zh-CN" sz="1600" b="1" dirty="0">
                <a:solidFill>
                  <a:srgbClr val="00B050"/>
                </a:solidFill>
              </a:rPr>
              <a:t>(1756685040000, unit='</a:t>
            </a:r>
            <a:r>
              <a:rPr kumimoji="1" lang="en-US" altLang="zh-CN" sz="1600" b="1" dirty="0" err="1">
                <a:solidFill>
                  <a:srgbClr val="00B050"/>
                </a:solidFill>
              </a:rPr>
              <a:t>ms</a:t>
            </a:r>
            <a:r>
              <a:rPr kumimoji="1" lang="en-US" altLang="zh-CN" sz="1600" b="1" dirty="0">
                <a:solidFill>
                  <a:srgbClr val="00B050"/>
                </a:solidFill>
              </a:rPr>
              <a:t>')    # -&gt; Timestamp('2025-09-01 00:04:00')</a:t>
            </a:r>
            <a:endParaRPr kumimoji="1" lang="zh-CN" altLang="en-US" sz="1600" b="1" dirty="0">
              <a:solidFill>
                <a:srgbClr val="00B050"/>
              </a:solidFill>
            </a:endParaRPr>
          </a:p>
        </p:txBody>
      </p:sp>
    </p:spTree>
    <p:extLst>
      <p:ext uri="{BB962C8B-B14F-4D97-AF65-F5344CB8AC3E}">
        <p14:creationId xmlns:p14="http://schemas.microsoft.com/office/powerpoint/2010/main" val="16133712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 name="文本框 5">
            <a:extLst>
              <a:ext uri="{FF2B5EF4-FFF2-40B4-BE49-F238E27FC236}">
                <a16:creationId xmlns:a16="http://schemas.microsoft.com/office/drawing/2014/main" id="{7C94B812-C689-F067-413F-8BAAD8B26C9F}"/>
              </a:ext>
            </a:extLst>
          </p:cNvPr>
          <p:cNvSpPr txBox="1"/>
          <p:nvPr/>
        </p:nvSpPr>
        <p:spPr>
          <a:xfrm>
            <a:off x="615623" y="4207159"/>
            <a:ext cx="10849241" cy="2441630"/>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The time at which the 1-minute period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starts</a:t>
            </a:r>
            <a:r>
              <a:rPr kumimoji="1" lang="en-US" altLang="zh-CN" dirty="0">
                <a:latin typeface="Tahoma" panose="020B0604030504040204" pitchFamily="34" charset="0"/>
                <a:ea typeface="Tahoma" panose="020B0604030504040204" pitchFamily="34" charset="0"/>
                <a:cs typeface="Tahoma" panose="020B0604030504040204" pitchFamily="34" charset="0"/>
              </a:rPr>
              <a:t>. (Unit: millisecond)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open/close: The opening(first)/closing(last) price of the trading pair during that 1-minute period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high/low: The highest/lowest price reached during that 1-minute period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volume: The total quantity traded during that 1-minute period, in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base</a:t>
            </a:r>
            <a:r>
              <a:rPr kumimoji="1" lang="en-US" altLang="zh-CN" dirty="0">
                <a:latin typeface="Tahoma" panose="020B0604030504040204" pitchFamily="34" charset="0"/>
                <a:ea typeface="Tahoma" panose="020B0604030504040204" pitchFamily="34" charset="0"/>
                <a:cs typeface="Tahoma" panose="020B0604030504040204" pitchFamily="34" charset="0"/>
              </a:rPr>
              <a:t> currency (e.g., BTC for a BTC-USD pair)</a:t>
            </a:r>
          </a:p>
        </p:txBody>
      </p:sp>
      <p:graphicFrame>
        <p:nvGraphicFramePr>
          <p:cNvPr id="8" name="表格 7">
            <a:extLst>
              <a:ext uri="{FF2B5EF4-FFF2-40B4-BE49-F238E27FC236}">
                <a16:creationId xmlns:a16="http://schemas.microsoft.com/office/drawing/2014/main" id="{E48414FB-23D0-B8AE-8BAE-3F1F1177CAC7}"/>
              </a:ext>
            </a:extLst>
          </p:cNvPr>
          <p:cNvGraphicFramePr>
            <a:graphicFrameLocks noGrp="1"/>
          </p:cNvGraphicFramePr>
          <p:nvPr>
            <p:extLst>
              <p:ext uri="{D42A27DB-BD31-4B8C-83A1-F6EECF244321}">
                <p14:modId xmlns:p14="http://schemas.microsoft.com/office/powerpoint/2010/main" val="2357749999"/>
              </p:ext>
            </p:extLst>
          </p:nvPr>
        </p:nvGraphicFramePr>
        <p:xfrm>
          <a:off x="1656951" y="2010678"/>
          <a:ext cx="8766583" cy="2087817"/>
        </p:xfrm>
        <a:graphic>
          <a:graphicData uri="http://schemas.openxmlformats.org/drawingml/2006/table">
            <a:tbl>
              <a:tblPr firstRow="1">
                <a:tableStyleId>{17292A2E-F333-43FB-9621-5CBBE7FDCDCB}</a:tableStyleId>
              </a:tblPr>
              <a:tblGrid>
                <a:gridCol w="1815589">
                  <a:extLst>
                    <a:ext uri="{9D8B030D-6E8A-4147-A177-3AD203B41FA5}">
                      <a16:colId xmlns:a16="http://schemas.microsoft.com/office/drawing/2014/main" val="941845261"/>
                    </a:ext>
                  </a:extLst>
                </a:gridCol>
                <a:gridCol w="1344115">
                  <a:extLst>
                    <a:ext uri="{9D8B030D-6E8A-4147-A177-3AD203B41FA5}">
                      <a16:colId xmlns:a16="http://schemas.microsoft.com/office/drawing/2014/main" val="4242736190"/>
                    </a:ext>
                  </a:extLst>
                </a:gridCol>
                <a:gridCol w="1344115">
                  <a:extLst>
                    <a:ext uri="{9D8B030D-6E8A-4147-A177-3AD203B41FA5}">
                      <a16:colId xmlns:a16="http://schemas.microsoft.com/office/drawing/2014/main" val="2389468345"/>
                    </a:ext>
                  </a:extLst>
                </a:gridCol>
                <a:gridCol w="1344115">
                  <a:extLst>
                    <a:ext uri="{9D8B030D-6E8A-4147-A177-3AD203B41FA5}">
                      <a16:colId xmlns:a16="http://schemas.microsoft.com/office/drawing/2014/main" val="2264387108"/>
                    </a:ext>
                  </a:extLst>
                </a:gridCol>
                <a:gridCol w="1344115">
                  <a:extLst>
                    <a:ext uri="{9D8B030D-6E8A-4147-A177-3AD203B41FA5}">
                      <a16:colId xmlns:a16="http://schemas.microsoft.com/office/drawing/2014/main" val="2248436148"/>
                    </a:ext>
                  </a:extLst>
                </a:gridCol>
                <a:gridCol w="1574534">
                  <a:extLst>
                    <a:ext uri="{9D8B030D-6E8A-4147-A177-3AD203B41FA5}">
                      <a16:colId xmlns:a16="http://schemas.microsoft.com/office/drawing/2014/main" val="2309209088"/>
                    </a:ext>
                  </a:extLst>
                </a:gridCol>
              </a:tblGrid>
              <a:tr h="292387">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a:effectLst/>
                        </a:rPr>
                        <a:t>open</a:t>
                      </a:r>
                    </a:p>
                  </a:txBody>
                  <a:tcPr marL="76200" marR="76200" marT="38100" marB="38100" anchor="ctr"/>
                </a:tc>
                <a:tc>
                  <a:txBody>
                    <a:bodyPr/>
                    <a:lstStyle/>
                    <a:p>
                      <a:pPr algn="l" fontAlgn="ctr"/>
                      <a:r>
                        <a:rPr lang="en-US" sz="1400" dirty="0">
                          <a:effectLst/>
                        </a:rPr>
                        <a:t>high</a:t>
                      </a:r>
                    </a:p>
                  </a:txBody>
                  <a:tcPr marL="76200" marR="76200" marT="38100" marB="38100" anchor="ctr"/>
                </a:tc>
                <a:tc>
                  <a:txBody>
                    <a:bodyPr/>
                    <a:lstStyle/>
                    <a:p>
                      <a:pPr algn="l" fontAlgn="ctr"/>
                      <a:r>
                        <a:rPr lang="en-US" sz="1400" dirty="0">
                          <a:effectLst/>
                        </a:rPr>
                        <a:t>low</a:t>
                      </a:r>
                    </a:p>
                  </a:txBody>
                  <a:tcPr marL="76200" marR="76200" marT="38100" marB="38100" anchor="ctr"/>
                </a:tc>
                <a:tc>
                  <a:txBody>
                    <a:bodyPr/>
                    <a:lstStyle/>
                    <a:p>
                      <a:pPr algn="l" fontAlgn="ctr"/>
                      <a:r>
                        <a:rPr lang="en-US" sz="1400" dirty="0">
                          <a:effectLst/>
                        </a:rPr>
                        <a:t>close</a:t>
                      </a:r>
                    </a:p>
                  </a:txBody>
                  <a:tcPr marL="76200" marR="76200" marT="38100" marB="38100" anchor="ctr"/>
                </a:tc>
                <a:tc>
                  <a:txBody>
                    <a:bodyPr/>
                    <a:lstStyle/>
                    <a:p>
                      <a:pPr algn="l" fontAlgn="ctr"/>
                      <a:r>
                        <a:rPr lang="en-US" sz="1400" dirty="0">
                          <a:effectLst/>
                        </a:rPr>
                        <a:t>volume</a:t>
                      </a:r>
                    </a:p>
                  </a:txBody>
                  <a:tcPr marL="76200" marR="76200" marT="38100" marB="38100" anchor="ctr"/>
                </a:tc>
                <a:extLst>
                  <a:ext uri="{0D108BD9-81ED-4DB2-BD59-A6C34878D82A}">
                    <a16:rowId xmlns:a16="http://schemas.microsoft.com/office/drawing/2014/main" val="2701443269"/>
                  </a:ext>
                </a:extLst>
              </a:tr>
              <a:tr h="359086">
                <a:tc>
                  <a:txBody>
                    <a:bodyPr/>
                    <a:lstStyle/>
                    <a:p>
                      <a:pPr algn="l"/>
                      <a:r>
                        <a:rPr lang="en-US" altLang="zh-CN" sz="1400">
                          <a:effectLst/>
                        </a:rPr>
                        <a:t>1756684800000</a:t>
                      </a:r>
                    </a:p>
                  </a:txBody>
                  <a:tcPr marL="76200" marR="76200" marT="38100" marB="38100" anchor="ctr"/>
                </a:tc>
                <a:tc>
                  <a:txBody>
                    <a:bodyPr/>
                    <a:lstStyle/>
                    <a:p>
                      <a:pPr algn="l"/>
                      <a:r>
                        <a:rPr lang="en-US" altLang="zh-CN" sz="1400">
                          <a:effectLst/>
                        </a:rPr>
                        <a:t>4391.83</a:t>
                      </a:r>
                    </a:p>
                  </a:txBody>
                  <a:tcPr marL="76200" marR="76200" marT="38100" marB="38100" anchor="ctr"/>
                </a:tc>
                <a:tc>
                  <a:txBody>
                    <a:bodyPr/>
                    <a:lstStyle/>
                    <a:p>
                      <a:pPr algn="l"/>
                      <a:r>
                        <a:rPr lang="en-US" altLang="zh-CN" sz="1400" dirty="0">
                          <a:effectLst/>
                        </a:rPr>
                        <a:t>4391.83</a:t>
                      </a:r>
                    </a:p>
                  </a:txBody>
                  <a:tcPr marL="76200" marR="76200" marT="38100" marB="38100" anchor="ctr"/>
                </a:tc>
                <a:tc>
                  <a:txBody>
                    <a:bodyPr/>
                    <a:lstStyle/>
                    <a:p>
                      <a:pPr algn="l"/>
                      <a:r>
                        <a:rPr lang="en-US" altLang="zh-CN" sz="1400" dirty="0">
                          <a:effectLst/>
                        </a:rPr>
                        <a:t>4386.25</a:t>
                      </a:r>
                    </a:p>
                  </a:txBody>
                  <a:tcPr marL="76200" marR="76200" marT="38100" marB="38100" anchor="ctr"/>
                </a:tc>
                <a:tc>
                  <a:txBody>
                    <a:bodyPr/>
                    <a:lstStyle/>
                    <a:p>
                      <a:pPr algn="l"/>
                      <a:r>
                        <a:rPr lang="en-US" altLang="zh-CN" sz="1400" dirty="0">
                          <a:effectLst/>
                        </a:rPr>
                        <a:t>4389.95</a:t>
                      </a:r>
                    </a:p>
                  </a:txBody>
                  <a:tcPr marL="76200" marR="76200" marT="38100" marB="38100" anchor="ctr"/>
                </a:tc>
                <a:tc>
                  <a:txBody>
                    <a:bodyPr/>
                    <a:lstStyle/>
                    <a:p>
                      <a:pPr algn="l"/>
                      <a:r>
                        <a:rPr lang="en-US" altLang="zh-CN" sz="1400" dirty="0">
                          <a:effectLst/>
                        </a:rPr>
                        <a:t>325.8367</a:t>
                      </a:r>
                    </a:p>
                  </a:txBody>
                  <a:tcPr marL="76200" marR="76200" marT="38100" marB="38100" anchor="ctr"/>
                </a:tc>
                <a:extLst>
                  <a:ext uri="{0D108BD9-81ED-4DB2-BD59-A6C34878D82A}">
                    <a16:rowId xmlns:a16="http://schemas.microsoft.com/office/drawing/2014/main" val="3539087097"/>
                  </a:ext>
                </a:extLst>
              </a:tr>
              <a:tr h="359086">
                <a:tc>
                  <a:txBody>
                    <a:bodyPr/>
                    <a:lstStyle/>
                    <a:p>
                      <a:pPr algn="l"/>
                      <a:r>
                        <a:rPr lang="en-US" altLang="zh-CN" sz="1400">
                          <a:effectLst/>
                        </a:rPr>
                        <a:t>1756684860000</a:t>
                      </a:r>
                    </a:p>
                  </a:txBody>
                  <a:tcPr marL="76200" marR="76200" marT="38100" marB="38100" anchor="ctr"/>
                </a:tc>
                <a:tc>
                  <a:txBody>
                    <a:bodyPr/>
                    <a:lstStyle/>
                    <a:p>
                      <a:pPr algn="l"/>
                      <a:r>
                        <a:rPr lang="en-US" altLang="zh-CN" sz="1400">
                          <a:effectLst/>
                        </a:rPr>
                        <a:t>4389.96</a:t>
                      </a:r>
                    </a:p>
                  </a:txBody>
                  <a:tcPr marL="76200" marR="76200" marT="38100" marB="38100" anchor="ctr"/>
                </a:tc>
                <a:tc>
                  <a:txBody>
                    <a:bodyPr/>
                    <a:lstStyle/>
                    <a:p>
                      <a:pPr algn="l"/>
                      <a:r>
                        <a:rPr lang="en-US" altLang="zh-CN" sz="1400">
                          <a:effectLst/>
                        </a:rPr>
                        <a:t>4391.40</a:t>
                      </a:r>
                    </a:p>
                  </a:txBody>
                  <a:tcPr marL="76200" marR="76200" marT="38100" marB="38100" anchor="ctr"/>
                </a:tc>
                <a:tc>
                  <a:txBody>
                    <a:bodyPr/>
                    <a:lstStyle/>
                    <a:p>
                      <a:pPr algn="l"/>
                      <a:r>
                        <a:rPr lang="en-US" altLang="zh-CN" sz="1400">
                          <a:effectLst/>
                        </a:rPr>
                        <a:t>4389.68</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dirty="0">
                          <a:effectLst/>
                        </a:rPr>
                        <a:t>158.5513</a:t>
                      </a:r>
                    </a:p>
                  </a:txBody>
                  <a:tcPr marL="76200" marR="76200" marT="38100" marB="38100" anchor="ctr"/>
                </a:tc>
                <a:extLst>
                  <a:ext uri="{0D108BD9-81ED-4DB2-BD59-A6C34878D82A}">
                    <a16:rowId xmlns:a16="http://schemas.microsoft.com/office/drawing/2014/main" val="3717465620"/>
                  </a:ext>
                </a:extLst>
              </a:tr>
              <a:tr h="359086">
                <a:tc>
                  <a:txBody>
                    <a:bodyPr/>
                    <a:lstStyle/>
                    <a:p>
                      <a:pPr algn="l"/>
                      <a:r>
                        <a:rPr lang="en-US" altLang="zh-CN" sz="1400" dirty="0">
                          <a:effectLst/>
                        </a:rPr>
                        <a:t>1756684920000</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4386.14</a:t>
                      </a:r>
                    </a:p>
                  </a:txBody>
                  <a:tcPr marL="76200" marR="76200" marT="38100" marB="38100" anchor="ctr"/>
                </a:tc>
                <a:tc>
                  <a:txBody>
                    <a:bodyPr/>
                    <a:lstStyle/>
                    <a:p>
                      <a:pPr algn="l"/>
                      <a:r>
                        <a:rPr lang="en-US" altLang="zh-CN" sz="1400">
                          <a:effectLst/>
                        </a:rPr>
                        <a:t>4388.19</a:t>
                      </a:r>
                    </a:p>
                  </a:txBody>
                  <a:tcPr marL="76200" marR="76200" marT="38100" marB="38100" anchor="ctr"/>
                </a:tc>
                <a:tc>
                  <a:txBody>
                    <a:bodyPr/>
                    <a:lstStyle/>
                    <a:p>
                      <a:pPr algn="l"/>
                      <a:r>
                        <a:rPr lang="en-US" altLang="zh-CN" sz="1400" dirty="0">
                          <a:effectLst/>
                        </a:rPr>
                        <a:t>187.0756</a:t>
                      </a:r>
                    </a:p>
                  </a:txBody>
                  <a:tcPr marL="76200" marR="76200" marT="38100" marB="38100" anchor="ctr"/>
                </a:tc>
                <a:extLst>
                  <a:ext uri="{0D108BD9-81ED-4DB2-BD59-A6C34878D82A}">
                    <a16:rowId xmlns:a16="http://schemas.microsoft.com/office/drawing/2014/main" val="3228954593"/>
                  </a:ext>
                </a:extLst>
              </a:tr>
              <a:tr h="359086">
                <a:tc>
                  <a:txBody>
                    <a:bodyPr/>
                    <a:lstStyle/>
                    <a:p>
                      <a:pPr algn="l"/>
                      <a:r>
                        <a:rPr lang="en-US" altLang="zh-CN" sz="1400">
                          <a:effectLst/>
                        </a:rPr>
                        <a:t>1756684980000</a:t>
                      </a:r>
                    </a:p>
                  </a:txBody>
                  <a:tcPr marL="76200" marR="76200" marT="38100" marB="38100" anchor="ctr"/>
                </a:tc>
                <a:tc>
                  <a:txBody>
                    <a:bodyPr/>
                    <a:lstStyle/>
                    <a:p>
                      <a:pPr algn="l"/>
                      <a:r>
                        <a:rPr lang="en-US" altLang="zh-CN" sz="1400" dirty="0">
                          <a:effectLst/>
                        </a:rPr>
                        <a:t>4388.19</a:t>
                      </a:r>
                    </a:p>
                  </a:txBody>
                  <a:tcPr marL="76200" marR="76200" marT="38100" marB="38100" anchor="ctr"/>
                </a:tc>
                <a:tc>
                  <a:txBody>
                    <a:bodyPr/>
                    <a:lstStyle/>
                    <a:p>
                      <a:pPr algn="l"/>
                      <a:r>
                        <a:rPr lang="en-US" altLang="zh-CN" sz="1400">
                          <a:effectLst/>
                        </a:rPr>
                        <a:t>4389.97</a:t>
                      </a:r>
                    </a:p>
                  </a:txBody>
                  <a:tcPr marL="76200" marR="76200" marT="38100" marB="38100" anchor="ctr"/>
                </a:tc>
                <a:tc>
                  <a:txBody>
                    <a:bodyPr/>
                    <a:lstStyle/>
                    <a:p>
                      <a:pPr algn="l"/>
                      <a:r>
                        <a:rPr lang="en-US" altLang="zh-CN" sz="1400">
                          <a:effectLst/>
                        </a:rPr>
                        <a:t>4386.33</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dirty="0">
                          <a:effectLst/>
                        </a:rPr>
                        <a:t>341.8429</a:t>
                      </a:r>
                    </a:p>
                  </a:txBody>
                  <a:tcPr marL="76200" marR="76200" marT="38100" marB="38100" anchor="ctr"/>
                </a:tc>
                <a:extLst>
                  <a:ext uri="{0D108BD9-81ED-4DB2-BD59-A6C34878D82A}">
                    <a16:rowId xmlns:a16="http://schemas.microsoft.com/office/drawing/2014/main" val="2487280950"/>
                  </a:ext>
                </a:extLst>
              </a:tr>
              <a:tr h="359086">
                <a:tc>
                  <a:txBody>
                    <a:bodyPr/>
                    <a:lstStyle/>
                    <a:p>
                      <a:pPr algn="l"/>
                      <a:r>
                        <a:rPr lang="en-US" altLang="zh-CN" sz="1400" dirty="0">
                          <a:effectLst/>
                        </a:rPr>
                        <a:t>1756685040000</a:t>
                      </a:r>
                    </a:p>
                  </a:txBody>
                  <a:tcPr marL="76200" marR="76200" marT="38100" marB="38100" anchor="ctr"/>
                </a:tc>
                <a:tc>
                  <a:txBody>
                    <a:bodyPr/>
                    <a:lstStyle/>
                    <a:p>
                      <a:pPr algn="l"/>
                      <a:r>
                        <a:rPr lang="en-US" altLang="zh-CN" sz="1400" dirty="0">
                          <a:effectLst/>
                        </a:rPr>
                        <a:t>4386.45</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a:effectLst/>
                        </a:rPr>
                        <a:t>4375.39</a:t>
                      </a:r>
                    </a:p>
                  </a:txBody>
                  <a:tcPr marL="76200" marR="76200" marT="38100" marB="38100" anchor="ctr"/>
                </a:tc>
                <a:tc>
                  <a:txBody>
                    <a:bodyPr/>
                    <a:lstStyle/>
                    <a:p>
                      <a:pPr algn="l"/>
                      <a:r>
                        <a:rPr lang="en-US" altLang="zh-CN" sz="1400">
                          <a:effectLst/>
                        </a:rPr>
                        <a:t>4376.57</a:t>
                      </a:r>
                    </a:p>
                  </a:txBody>
                  <a:tcPr marL="76200" marR="76200" marT="38100" marB="38100" anchor="ctr"/>
                </a:tc>
                <a:tc>
                  <a:txBody>
                    <a:bodyPr/>
                    <a:lstStyle/>
                    <a:p>
                      <a:pPr algn="l"/>
                      <a:r>
                        <a:rPr lang="en-US" altLang="zh-CN" sz="1400" dirty="0">
                          <a:effectLst/>
                        </a:rPr>
                        <a:t>622.3295</a:t>
                      </a:r>
                    </a:p>
                  </a:txBody>
                  <a:tcPr marL="76200" marR="76200" marT="38100" marB="38100" anchor="ctr"/>
                </a:tc>
                <a:extLst>
                  <a:ext uri="{0D108BD9-81ED-4DB2-BD59-A6C34878D82A}">
                    <a16:rowId xmlns:a16="http://schemas.microsoft.com/office/drawing/2014/main" val="3117150715"/>
                  </a:ext>
                </a:extLst>
              </a:tr>
            </a:tbl>
          </a:graphicData>
        </a:graphic>
      </p:graphicFrame>
      <p:sp>
        <p:nvSpPr>
          <p:cNvPr id="3" name="Rectangle 8">
            <a:extLst>
              <a:ext uri="{FF2B5EF4-FFF2-40B4-BE49-F238E27FC236}">
                <a16:creationId xmlns:a16="http://schemas.microsoft.com/office/drawing/2014/main" id="{51894A3D-F596-75CE-21E6-728C18FE14CF}"/>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1-MIN OHLCV</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11653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6" name="文本框 5">
            <a:extLst>
              <a:ext uri="{FF2B5EF4-FFF2-40B4-BE49-F238E27FC236}">
                <a16:creationId xmlns:a16="http://schemas.microsoft.com/office/drawing/2014/main" id="{7C94B812-C689-F067-413F-8BAAD8B26C9F}"/>
              </a:ext>
            </a:extLst>
          </p:cNvPr>
          <p:cNvSpPr txBox="1"/>
          <p:nvPr/>
        </p:nvSpPr>
        <p:spPr>
          <a:xfrm>
            <a:off x="615623" y="4207159"/>
            <a:ext cx="10849241" cy="1415709"/>
          </a:xfrm>
          <a:prstGeom prst="rect">
            <a:avLst/>
          </a:prstGeom>
          <a:noFill/>
        </p:spPr>
        <p:txBody>
          <a:bodyPr wrap="square" rtlCol="0">
            <a:spAutoFit/>
          </a:bodyPr>
          <a:lstStyle/>
          <a:p>
            <a:pPr>
              <a:lnSpc>
                <a:spcPts val="3400"/>
              </a:lnSpc>
              <a:spcAft>
                <a:spcPts val="600"/>
              </a:spcAft>
            </a:pPr>
            <a:r>
              <a:rPr kumimoji="1" lang="en-US" altLang="zh-CN" b="1" dirty="0">
                <a:latin typeface="Tahoma" panose="020B0604030504040204" pitchFamily="34" charset="0"/>
                <a:ea typeface="Tahoma" panose="020B0604030504040204" pitchFamily="34" charset="0"/>
                <a:cs typeface="Tahoma" panose="020B0604030504040204" pitchFamily="34" charset="0"/>
              </a:rPr>
              <a:t>[ Important ]</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For the OHLCV values, the price is always in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quotes</a:t>
            </a:r>
            <a:r>
              <a:rPr kumimoji="1" lang="en-US" altLang="zh-CN" dirty="0">
                <a:latin typeface="Tahoma" panose="020B0604030504040204" pitchFamily="34" charset="0"/>
                <a:ea typeface="Tahoma" panose="020B0604030504040204" pitchFamily="34" charset="0"/>
                <a:cs typeface="Tahoma" panose="020B0604030504040204" pitchFamily="34" charset="0"/>
              </a:rPr>
              <a:t>, and the volume unit is always in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base</a:t>
            </a:r>
            <a:r>
              <a:rPr kumimoji="1" lang="en-US" altLang="zh-CN" dirty="0">
                <a:latin typeface="Tahoma" panose="020B0604030504040204" pitchFamily="34" charset="0"/>
                <a:ea typeface="Tahoma" panose="020B0604030504040204" pitchFamily="34" charset="0"/>
                <a:cs typeface="Tahoma" panose="020B0604030504040204" pitchFamily="34" charset="0"/>
              </a:rPr>
              <a:t>. For example, if the pair was BTC-USD, then the prices returned are in USD and the volume is in BTC.</a:t>
            </a:r>
          </a:p>
        </p:txBody>
      </p:sp>
      <p:graphicFrame>
        <p:nvGraphicFramePr>
          <p:cNvPr id="8" name="表格 7">
            <a:extLst>
              <a:ext uri="{FF2B5EF4-FFF2-40B4-BE49-F238E27FC236}">
                <a16:creationId xmlns:a16="http://schemas.microsoft.com/office/drawing/2014/main" id="{E48414FB-23D0-B8AE-8BAE-3F1F1177CAC7}"/>
              </a:ext>
            </a:extLst>
          </p:cNvPr>
          <p:cNvGraphicFramePr>
            <a:graphicFrameLocks noGrp="1"/>
          </p:cNvGraphicFramePr>
          <p:nvPr/>
        </p:nvGraphicFramePr>
        <p:xfrm>
          <a:off x="1656951" y="2010678"/>
          <a:ext cx="8766583" cy="2087817"/>
        </p:xfrm>
        <a:graphic>
          <a:graphicData uri="http://schemas.openxmlformats.org/drawingml/2006/table">
            <a:tbl>
              <a:tblPr firstRow="1">
                <a:tableStyleId>{17292A2E-F333-43FB-9621-5CBBE7FDCDCB}</a:tableStyleId>
              </a:tblPr>
              <a:tblGrid>
                <a:gridCol w="1815589">
                  <a:extLst>
                    <a:ext uri="{9D8B030D-6E8A-4147-A177-3AD203B41FA5}">
                      <a16:colId xmlns:a16="http://schemas.microsoft.com/office/drawing/2014/main" val="941845261"/>
                    </a:ext>
                  </a:extLst>
                </a:gridCol>
                <a:gridCol w="1344115">
                  <a:extLst>
                    <a:ext uri="{9D8B030D-6E8A-4147-A177-3AD203B41FA5}">
                      <a16:colId xmlns:a16="http://schemas.microsoft.com/office/drawing/2014/main" val="4242736190"/>
                    </a:ext>
                  </a:extLst>
                </a:gridCol>
                <a:gridCol w="1344115">
                  <a:extLst>
                    <a:ext uri="{9D8B030D-6E8A-4147-A177-3AD203B41FA5}">
                      <a16:colId xmlns:a16="http://schemas.microsoft.com/office/drawing/2014/main" val="2389468345"/>
                    </a:ext>
                  </a:extLst>
                </a:gridCol>
                <a:gridCol w="1344115">
                  <a:extLst>
                    <a:ext uri="{9D8B030D-6E8A-4147-A177-3AD203B41FA5}">
                      <a16:colId xmlns:a16="http://schemas.microsoft.com/office/drawing/2014/main" val="2264387108"/>
                    </a:ext>
                  </a:extLst>
                </a:gridCol>
                <a:gridCol w="1344115">
                  <a:extLst>
                    <a:ext uri="{9D8B030D-6E8A-4147-A177-3AD203B41FA5}">
                      <a16:colId xmlns:a16="http://schemas.microsoft.com/office/drawing/2014/main" val="2248436148"/>
                    </a:ext>
                  </a:extLst>
                </a:gridCol>
                <a:gridCol w="1574534">
                  <a:extLst>
                    <a:ext uri="{9D8B030D-6E8A-4147-A177-3AD203B41FA5}">
                      <a16:colId xmlns:a16="http://schemas.microsoft.com/office/drawing/2014/main" val="2309209088"/>
                    </a:ext>
                  </a:extLst>
                </a:gridCol>
              </a:tblGrid>
              <a:tr h="292387">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a:effectLst/>
                        </a:rPr>
                        <a:t>open</a:t>
                      </a:r>
                    </a:p>
                  </a:txBody>
                  <a:tcPr marL="76200" marR="76200" marT="38100" marB="38100" anchor="ctr"/>
                </a:tc>
                <a:tc>
                  <a:txBody>
                    <a:bodyPr/>
                    <a:lstStyle/>
                    <a:p>
                      <a:pPr algn="l" fontAlgn="ctr"/>
                      <a:r>
                        <a:rPr lang="en-US" sz="1400" dirty="0">
                          <a:effectLst/>
                        </a:rPr>
                        <a:t>high</a:t>
                      </a:r>
                    </a:p>
                  </a:txBody>
                  <a:tcPr marL="76200" marR="76200" marT="38100" marB="38100" anchor="ctr"/>
                </a:tc>
                <a:tc>
                  <a:txBody>
                    <a:bodyPr/>
                    <a:lstStyle/>
                    <a:p>
                      <a:pPr algn="l" fontAlgn="ctr"/>
                      <a:r>
                        <a:rPr lang="en-US" sz="1400" dirty="0">
                          <a:effectLst/>
                        </a:rPr>
                        <a:t>low</a:t>
                      </a:r>
                    </a:p>
                  </a:txBody>
                  <a:tcPr marL="76200" marR="76200" marT="38100" marB="38100" anchor="ctr"/>
                </a:tc>
                <a:tc>
                  <a:txBody>
                    <a:bodyPr/>
                    <a:lstStyle/>
                    <a:p>
                      <a:pPr algn="l" fontAlgn="ctr"/>
                      <a:r>
                        <a:rPr lang="en-US" sz="1400" dirty="0">
                          <a:effectLst/>
                        </a:rPr>
                        <a:t>close</a:t>
                      </a:r>
                    </a:p>
                  </a:txBody>
                  <a:tcPr marL="76200" marR="76200" marT="38100" marB="38100" anchor="ctr"/>
                </a:tc>
                <a:tc>
                  <a:txBody>
                    <a:bodyPr/>
                    <a:lstStyle/>
                    <a:p>
                      <a:pPr algn="l" fontAlgn="ctr"/>
                      <a:r>
                        <a:rPr lang="en-US" sz="1400" dirty="0">
                          <a:effectLst/>
                        </a:rPr>
                        <a:t>volume</a:t>
                      </a:r>
                    </a:p>
                  </a:txBody>
                  <a:tcPr marL="76200" marR="76200" marT="38100" marB="38100" anchor="ctr"/>
                </a:tc>
                <a:extLst>
                  <a:ext uri="{0D108BD9-81ED-4DB2-BD59-A6C34878D82A}">
                    <a16:rowId xmlns:a16="http://schemas.microsoft.com/office/drawing/2014/main" val="2701443269"/>
                  </a:ext>
                </a:extLst>
              </a:tr>
              <a:tr h="359086">
                <a:tc>
                  <a:txBody>
                    <a:bodyPr/>
                    <a:lstStyle/>
                    <a:p>
                      <a:pPr algn="l"/>
                      <a:r>
                        <a:rPr lang="en-US" altLang="zh-CN" sz="1400">
                          <a:effectLst/>
                        </a:rPr>
                        <a:t>1756684800000</a:t>
                      </a:r>
                    </a:p>
                  </a:txBody>
                  <a:tcPr marL="76200" marR="76200" marT="38100" marB="38100" anchor="ctr"/>
                </a:tc>
                <a:tc>
                  <a:txBody>
                    <a:bodyPr/>
                    <a:lstStyle/>
                    <a:p>
                      <a:pPr algn="l"/>
                      <a:r>
                        <a:rPr lang="en-US" altLang="zh-CN" sz="1400">
                          <a:effectLst/>
                        </a:rPr>
                        <a:t>4391.83</a:t>
                      </a:r>
                    </a:p>
                  </a:txBody>
                  <a:tcPr marL="76200" marR="76200" marT="38100" marB="38100" anchor="ctr"/>
                </a:tc>
                <a:tc>
                  <a:txBody>
                    <a:bodyPr/>
                    <a:lstStyle/>
                    <a:p>
                      <a:pPr algn="l"/>
                      <a:r>
                        <a:rPr lang="en-US" altLang="zh-CN" sz="1400" dirty="0">
                          <a:effectLst/>
                        </a:rPr>
                        <a:t>4391.83</a:t>
                      </a:r>
                    </a:p>
                  </a:txBody>
                  <a:tcPr marL="76200" marR="76200" marT="38100" marB="38100" anchor="ctr"/>
                </a:tc>
                <a:tc>
                  <a:txBody>
                    <a:bodyPr/>
                    <a:lstStyle/>
                    <a:p>
                      <a:pPr algn="l"/>
                      <a:r>
                        <a:rPr lang="en-US" altLang="zh-CN" sz="1400" dirty="0">
                          <a:effectLst/>
                        </a:rPr>
                        <a:t>4386.25</a:t>
                      </a:r>
                    </a:p>
                  </a:txBody>
                  <a:tcPr marL="76200" marR="76200" marT="38100" marB="38100" anchor="ctr"/>
                </a:tc>
                <a:tc>
                  <a:txBody>
                    <a:bodyPr/>
                    <a:lstStyle/>
                    <a:p>
                      <a:pPr algn="l"/>
                      <a:r>
                        <a:rPr lang="en-US" altLang="zh-CN" sz="1400" dirty="0">
                          <a:effectLst/>
                        </a:rPr>
                        <a:t>4389.95</a:t>
                      </a:r>
                    </a:p>
                  </a:txBody>
                  <a:tcPr marL="76200" marR="76200" marT="38100" marB="38100" anchor="ctr"/>
                </a:tc>
                <a:tc>
                  <a:txBody>
                    <a:bodyPr/>
                    <a:lstStyle/>
                    <a:p>
                      <a:pPr algn="l"/>
                      <a:r>
                        <a:rPr lang="en-US" altLang="zh-CN" sz="1400" dirty="0">
                          <a:effectLst/>
                        </a:rPr>
                        <a:t>325.8367</a:t>
                      </a:r>
                    </a:p>
                  </a:txBody>
                  <a:tcPr marL="76200" marR="76200" marT="38100" marB="38100" anchor="ctr"/>
                </a:tc>
                <a:extLst>
                  <a:ext uri="{0D108BD9-81ED-4DB2-BD59-A6C34878D82A}">
                    <a16:rowId xmlns:a16="http://schemas.microsoft.com/office/drawing/2014/main" val="3539087097"/>
                  </a:ext>
                </a:extLst>
              </a:tr>
              <a:tr h="359086">
                <a:tc>
                  <a:txBody>
                    <a:bodyPr/>
                    <a:lstStyle/>
                    <a:p>
                      <a:pPr algn="l"/>
                      <a:r>
                        <a:rPr lang="en-US" altLang="zh-CN" sz="1400">
                          <a:effectLst/>
                        </a:rPr>
                        <a:t>1756684860000</a:t>
                      </a:r>
                    </a:p>
                  </a:txBody>
                  <a:tcPr marL="76200" marR="76200" marT="38100" marB="38100" anchor="ctr"/>
                </a:tc>
                <a:tc>
                  <a:txBody>
                    <a:bodyPr/>
                    <a:lstStyle/>
                    <a:p>
                      <a:pPr algn="l"/>
                      <a:r>
                        <a:rPr lang="en-US" altLang="zh-CN" sz="1400">
                          <a:effectLst/>
                        </a:rPr>
                        <a:t>4389.96</a:t>
                      </a:r>
                    </a:p>
                  </a:txBody>
                  <a:tcPr marL="76200" marR="76200" marT="38100" marB="38100" anchor="ctr"/>
                </a:tc>
                <a:tc>
                  <a:txBody>
                    <a:bodyPr/>
                    <a:lstStyle/>
                    <a:p>
                      <a:pPr algn="l"/>
                      <a:r>
                        <a:rPr lang="en-US" altLang="zh-CN" sz="1400">
                          <a:effectLst/>
                        </a:rPr>
                        <a:t>4391.40</a:t>
                      </a:r>
                    </a:p>
                  </a:txBody>
                  <a:tcPr marL="76200" marR="76200" marT="38100" marB="38100" anchor="ctr"/>
                </a:tc>
                <a:tc>
                  <a:txBody>
                    <a:bodyPr/>
                    <a:lstStyle/>
                    <a:p>
                      <a:pPr algn="l"/>
                      <a:r>
                        <a:rPr lang="en-US" altLang="zh-CN" sz="1400">
                          <a:effectLst/>
                        </a:rPr>
                        <a:t>4389.68</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dirty="0">
                          <a:effectLst/>
                        </a:rPr>
                        <a:t>158.5513</a:t>
                      </a:r>
                    </a:p>
                  </a:txBody>
                  <a:tcPr marL="76200" marR="76200" marT="38100" marB="38100" anchor="ctr"/>
                </a:tc>
                <a:extLst>
                  <a:ext uri="{0D108BD9-81ED-4DB2-BD59-A6C34878D82A}">
                    <a16:rowId xmlns:a16="http://schemas.microsoft.com/office/drawing/2014/main" val="3717465620"/>
                  </a:ext>
                </a:extLst>
              </a:tr>
              <a:tr h="359086">
                <a:tc>
                  <a:txBody>
                    <a:bodyPr/>
                    <a:lstStyle/>
                    <a:p>
                      <a:pPr algn="l"/>
                      <a:r>
                        <a:rPr lang="en-US" altLang="zh-CN" sz="1400" dirty="0">
                          <a:effectLst/>
                        </a:rPr>
                        <a:t>1756684920000</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4391.16</a:t>
                      </a:r>
                    </a:p>
                  </a:txBody>
                  <a:tcPr marL="76200" marR="76200" marT="38100" marB="38100" anchor="ctr"/>
                </a:tc>
                <a:tc>
                  <a:txBody>
                    <a:bodyPr/>
                    <a:lstStyle/>
                    <a:p>
                      <a:pPr algn="l"/>
                      <a:r>
                        <a:rPr lang="en-US" altLang="zh-CN" sz="1400">
                          <a:effectLst/>
                        </a:rPr>
                        <a:t>4386.14</a:t>
                      </a:r>
                    </a:p>
                  </a:txBody>
                  <a:tcPr marL="76200" marR="76200" marT="38100" marB="38100" anchor="ctr"/>
                </a:tc>
                <a:tc>
                  <a:txBody>
                    <a:bodyPr/>
                    <a:lstStyle/>
                    <a:p>
                      <a:pPr algn="l"/>
                      <a:r>
                        <a:rPr lang="en-US" altLang="zh-CN" sz="1400">
                          <a:effectLst/>
                        </a:rPr>
                        <a:t>4388.19</a:t>
                      </a:r>
                    </a:p>
                  </a:txBody>
                  <a:tcPr marL="76200" marR="76200" marT="38100" marB="38100" anchor="ctr"/>
                </a:tc>
                <a:tc>
                  <a:txBody>
                    <a:bodyPr/>
                    <a:lstStyle/>
                    <a:p>
                      <a:pPr algn="l"/>
                      <a:r>
                        <a:rPr lang="en-US" altLang="zh-CN" sz="1400" dirty="0">
                          <a:effectLst/>
                        </a:rPr>
                        <a:t>187.0756</a:t>
                      </a:r>
                    </a:p>
                  </a:txBody>
                  <a:tcPr marL="76200" marR="76200" marT="38100" marB="38100" anchor="ctr"/>
                </a:tc>
                <a:extLst>
                  <a:ext uri="{0D108BD9-81ED-4DB2-BD59-A6C34878D82A}">
                    <a16:rowId xmlns:a16="http://schemas.microsoft.com/office/drawing/2014/main" val="3228954593"/>
                  </a:ext>
                </a:extLst>
              </a:tr>
              <a:tr h="359086">
                <a:tc>
                  <a:txBody>
                    <a:bodyPr/>
                    <a:lstStyle/>
                    <a:p>
                      <a:pPr algn="l"/>
                      <a:r>
                        <a:rPr lang="en-US" altLang="zh-CN" sz="1400">
                          <a:effectLst/>
                        </a:rPr>
                        <a:t>1756684980000</a:t>
                      </a:r>
                    </a:p>
                  </a:txBody>
                  <a:tcPr marL="76200" marR="76200" marT="38100" marB="38100" anchor="ctr"/>
                </a:tc>
                <a:tc>
                  <a:txBody>
                    <a:bodyPr/>
                    <a:lstStyle/>
                    <a:p>
                      <a:pPr algn="l"/>
                      <a:r>
                        <a:rPr lang="en-US" altLang="zh-CN" sz="1400" dirty="0">
                          <a:effectLst/>
                        </a:rPr>
                        <a:t>4388.19</a:t>
                      </a:r>
                    </a:p>
                  </a:txBody>
                  <a:tcPr marL="76200" marR="76200" marT="38100" marB="38100" anchor="ctr"/>
                </a:tc>
                <a:tc>
                  <a:txBody>
                    <a:bodyPr/>
                    <a:lstStyle/>
                    <a:p>
                      <a:pPr algn="l"/>
                      <a:r>
                        <a:rPr lang="en-US" altLang="zh-CN" sz="1400">
                          <a:effectLst/>
                        </a:rPr>
                        <a:t>4389.97</a:t>
                      </a:r>
                    </a:p>
                  </a:txBody>
                  <a:tcPr marL="76200" marR="76200" marT="38100" marB="38100" anchor="ctr"/>
                </a:tc>
                <a:tc>
                  <a:txBody>
                    <a:bodyPr/>
                    <a:lstStyle/>
                    <a:p>
                      <a:pPr algn="l"/>
                      <a:r>
                        <a:rPr lang="en-US" altLang="zh-CN" sz="1400">
                          <a:effectLst/>
                        </a:rPr>
                        <a:t>4386.33</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dirty="0">
                          <a:effectLst/>
                        </a:rPr>
                        <a:t>341.8429</a:t>
                      </a:r>
                    </a:p>
                  </a:txBody>
                  <a:tcPr marL="76200" marR="76200" marT="38100" marB="38100" anchor="ctr"/>
                </a:tc>
                <a:extLst>
                  <a:ext uri="{0D108BD9-81ED-4DB2-BD59-A6C34878D82A}">
                    <a16:rowId xmlns:a16="http://schemas.microsoft.com/office/drawing/2014/main" val="2487280950"/>
                  </a:ext>
                </a:extLst>
              </a:tr>
              <a:tr h="359086">
                <a:tc>
                  <a:txBody>
                    <a:bodyPr/>
                    <a:lstStyle/>
                    <a:p>
                      <a:pPr algn="l"/>
                      <a:r>
                        <a:rPr lang="en-US" altLang="zh-CN" sz="1400" dirty="0">
                          <a:effectLst/>
                        </a:rPr>
                        <a:t>1756685040000</a:t>
                      </a:r>
                    </a:p>
                  </a:txBody>
                  <a:tcPr marL="76200" marR="76200" marT="38100" marB="38100" anchor="ctr"/>
                </a:tc>
                <a:tc>
                  <a:txBody>
                    <a:bodyPr/>
                    <a:lstStyle/>
                    <a:p>
                      <a:pPr algn="l"/>
                      <a:r>
                        <a:rPr lang="en-US" altLang="zh-CN" sz="1400" dirty="0">
                          <a:effectLst/>
                        </a:rPr>
                        <a:t>4386.45</a:t>
                      </a:r>
                    </a:p>
                  </a:txBody>
                  <a:tcPr marL="76200" marR="76200" marT="38100" marB="38100" anchor="ctr"/>
                </a:tc>
                <a:tc>
                  <a:txBody>
                    <a:bodyPr/>
                    <a:lstStyle/>
                    <a:p>
                      <a:pPr algn="l"/>
                      <a:r>
                        <a:rPr lang="en-US" altLang="zh-CN" sz="1400">
                          <a:effectLst/>
                        </a:rPr>
                        <a:t>4386.45</a:t>
                      </a:r>
                    </a:p>
                  </a:txBody>
                  <a:tcPr marL="76200" marR="76200" marT="38100" marB="38100" anchor="ctr"/>
                </a:tc>
                <a:tc>
                  <a:txBody>
                    <a:bodyPr/>
                    <a:lstStyle/>
                    <a:p>
                      <a:pPr algn="l"/>
                      <a:r>
                        <a:rPr lang="en-US" altLang="zh-CN" sz="1400">
                          <a:effectLst/>
                        </a:rPr>
                        <a:t>4375.39</a:t>
                      </a:r>
                    </a:p>
                  </a:txBody>
                  <a:tcPr marL="76200" marR="76200" marT="38100" marB="38100" anchor="ctr"/>
                </a:tc>
                <a:tc>
                  <a:txBody>
                    <a:bodyPr/>
                    <a:lstStyle/>
                    <a:p>
                      <a:pPr algn="l"/>
                      <a:r>
                        <a:rPr lang="en-US" altLang="zh-CN" sz="1400">
                          <a:effectLst/>
                        </a:rPr>
                        <a:t>4376.57</a:t>
                      </a:r>
                    </a:p>
                  </a:txBody>
                  <a:tcPr marL="76200" marR="76200" marT="38100" marB="38100" anchor="ctr"/>
                </a:tc>
                <a:tc>
                  <a:txBody>
                    <a:bodyPr/>
                    <a:lstStyle/>
                    <a:p>
                      <a:pPr algn="l"/>
                      <a:r>
                        <a:rPr lang="en-US" altLang="zh-CN" sz="1400" dirty="0">
                          <a:effectLst/>
                        </a:rPr>
                        <a:t>622.3295</a:t>
                      </a:r>
                    </a:p>
                  </a:txBody>
                  <a:tcPr marL="76200" marR="76200" marT="38100" marB="38100" anchor="ctr"/>
                </a:tc>
                <a:extLst>
                  <a:ext uri="{0D108BD9-81ED-4DB2-BD59-A6C34878D82A}">
                    <a16:rowId xmlns:a16="http://schemas.microsoft.com/office/drawing/2014/main" val="3117150715"/>
                  </a:ext>
                </a:extLst>
              </a:tr>
            </a:tbl>
          </a:graphicData>
        </a:graphic>
      </p:graphicFrame>
      <p:sp>
        <p:nvSpPr>
          <p:cNvPr id="3" name="Rectangle 8">
            <a:extLst>
              <a:ext uri="{FF2B5EF4-FFF2-40B4-BE49-F238E27FC236}">
                <a16:creationId xmlns:a16="http://schemas.microsoft.com/office/drawing/2014/main" id="{51894A3D-F596-75CE-21E6-728C18FE14CF}"/>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1-MIN OHLCV</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4" name="文本框 3">
            <a:extLst>
              <a:ext uri="{FF2B5EF4-FFF2-40B4-BE49-F238E27FC236}">
                <a16:creationId xmlns:a16="http://schemas.microsoft.com/office/drawing/2014/main" id="{61627EBD-C00F-2724-8BDF-D0888CEA7446}"/>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370060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Load Data in Python</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pic>
        <p:nvPicPr>
          <p:cNvPr id="3" name="图片 2">
            <a:extLst>
              <a:ext uri="{FF2B5EF4-FFF2-40B4-BE49-F238E27FC236}">
                <a16:creationId xmlns:a16="http://schemas.microsoft.com/office/drawing/2014/main" id="{E7C5338C-2707-30F6-1F25-32E85F3089AF}"/>
              </a:ext>
            </a:extLst>
          </p:cNvPr>
          <p:cNvPicPr>
            <a:picLocks noChangeAspect="1"/>
          </p:cNvPicPr>
          <p:nvPr/>
        </p:nvPicPr>
        <p:blipFill>
          <a:blip r:embed="rId3"/>
          <a:stretch>
            <a:fillRect/>
          </a:stretch>
        </p:blipFill>
        <p:spPr>
          <a:xfrm>
            <a:off x="1443996" y="2045157"/>
            <a:ext cx="9192493" cy="4258907"/>
          </a:xfrm>
          <a:prstGeom prst="rect">
            <a:avLst/>
          </a:prstGeom>
        </p:spPr>
      </p:pic>
      <p:sp>
        <p:nvSpPr>
          <p:cNvPr id="6" name="Rectangle 8">
            <a:extLst>
              <a:ext uri="{FF2B5EF4-FFF2-40B4-BE49-F238E27FC236}">
                <a16:creationId xmlns:a16="http://schemas.microsoft.com/office/drawing/2014/main" id="{2AA0B789-7C58-90E5-4358-2B402839DBBE}"/>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1-MIN OHLCV</a:t>
            </a:r>
            <a:endParaRPr kumimoji="1" lang="zh-CN" altLang="en-US" sz="3200" b="1" dirty="0">
              <a:solidFill>
                <a:srgbClr val="0070C0"/>
              </a:solidFill>
              <a:latin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43449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50514"/>
            <a:ext cx="10849241" cy="2959849"/>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Definition</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18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An order book is an electronic book, or list, of buy and sell orders for a specific asset or instrument. Order Book 1-min Snapshots dataset delivers historical order book snapshots for specified Spot market trading pairs, including detailed bid and ask levels, volume, and order count per price level, along with timestamps to track market depth over time.</a:t>
            </a: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extLst>
              <p:ext uri="{D42A27DB-BD31-4B8C-83A1-F6EECF244321}">
                <p14:modId xmlns:p14="http://schemas.microsoft.com/office/powerpoint/2010/main" val="4271110318"/>
              </p:ext>
            </p:extLst>
          </p:nvPr>
        </p:nvGraphicFramePr>
        <p:xfrm>
          <a:off x="716225" y="4391174"/>
          <a:ext cx="10668832" cy="2247386"/>
        </p:xfrm>
        <a:graphic>
          <a:graphicData uri="http://schemas.openxmlformats.org/drawingml/2006/table">
            <a:tbl>
              <a:tblPr firstRow="1">
                <a:tableStyleId>{17292A2E-F333-43FB-9621-5CBBE7FDCDCB}</a:tableStyleId>
              </a:tblPr>
              <a:tblGrid>
                <a:gridCol w="1048902">
                  <a:extLst>
                    <a:ext uri="{9D8B030D-6E8A-4147-A177-3AD203B41FA5}">
                      <a16:colId xmlns:a16="http://schemas.microsoft.com/office/drawing/2014/main" val="3296463271"/>
                    </a:ext>
                  </a:extLst>
                </a:gridCol>
                <a:gridCol w="1048902">
                  <a:extLst>
                    <a:ext uri="{9D8B030D-6E8A-4147-A177-3AD203B41FA5}">
                      <a16:colId xmlns:a16="http://schemas.microsoft.com/office/drawing/2014/main" val="1719103559"/>
                    </a:ext>
                  </a:extLst>
                </a:gridCol>
                <a:gridCol w="1201380">
                  <a:extLst>
                    <a:ext uri="{9D8B030D-6E8A-4147-A177-3AD203B41FA5}">
                      <a16:colId xmlns:a16="http://schemas.microsoft.com/office/drawing/2014/main" val="1404790348"/>
                    </a:ext>
                  </a:extLst>
                </a:gridCol>
                <a:gridCol w="1222513">
                  <a:extLst>
                    <a:ext uri="{9D8B030D-6E8A-4147-A177-3AD203B41FA5}">
                      <a16:colId xmlns:a16="http://schemas.microsoft.com/office/drawing/2014/main" val="2149117866"/>
                    </a:ext>
                  </a:extLst>
                </a:gridCol>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1292087">
                  <a:extLst>
                    <a:ext uri="{9D8B030D-6E8A-4147-A177-3AD203B41FA5}">
                      <a16:colId xmlns:a16="http://schemas.microsoft.com/office/drawing/2014/main" val="2834461086"/>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gridCol w="1228714">
                  <a:extLst>
                    <a:ext uri="{9D8B030D-6E8A-4147-A177-3AD203B41FA5}">
                      <a16:colId xmlns:a16="http://schemas.microsoft.com/office/drawing/2014/main" val="4070845411"/>
                    </a:ext>
                  </a:extLst>
                </a:gridCol>
              </a:tblGrid>
              <a:tr h="592340">
                <a:tc>
                  <a:txBody>
                    <a:bodyPr/>
                    <a:lstStyle/>
                    <a:p>
                      <a:pPr algn="l" fontAlgn="ctr"/>
                      <a:r>
                        <a:rPr lang="en-US" sz="1200" dirty="0">
                          <a:effectLst/>
                        </a:rPr>
                        <a:t>sequence</a:t>
                      </a:r>
                    </a:p>
                  </a:txBody>
                  <a:tcPr marL="55786" marR="55786" marT="27893" marB="27893" anchor="ctr"/>
                </a:tc>
                <a:tc>
                  <a:txBody>
                    <a:bodyPr/>
                    <a:lstStyle/>
                    <a:p>
                      <a:pPr algn="l" fontAlgn="ctr"/>
                      <a:r>
                        <a:rPr lang="en-US" sz="1200" dirty="0" err="1">
                          <a:effectLst/>
                        </a:rPr>
                        <a:t>exchangeTimestampNanoseconds</a:t>
                      </a:r>
                      <a:endParaRPr lang="en-US" sz="1200" dirty="0">
                        <a:effectLst/>
                      </a:endParaRPr>
                    </a:p>
                  </a:txBody>
                  <a:tcPr marL="55786" marR="55786" marT="27893" marB="27893" anchor="ctr"/>
                </a:tc>
                <a:tc>
                  <a:txBody>
                    <a:bodyPr/>
                    <a:lstStyle/>
                    <a:p>
                      <a:pPr algn="l" fontAlgn="ctr"/>
                      <a:r>
                        <a:rPr lang="en-US" sz="1200" dirty="0" err="1">
                          <a:effectLst/>
                        </a:rPr>
                        <a:t>exchangeTimestamp</a:t>
                      </a:r>
                      <a:endParaRPr lang="en-US" sz="1200" dirty="0">
                        <a:effectLst/>
                      </a:endParaRPr>
                    </a:p>
                  </a:txBody>
                  <a:tcPr marL="55786" marR="55786" marT="27893" marB="27893" anchor="ctr"/>
                </a:tc>
                <a:tc>
                  <a:txBody>
                    <a:bodyPr/>
                    <a:lstStyle/>
                    <a:p>
                      <a:pPr algn="l" fontAlgn="ctr"/>
                      <a:r>
                        <a:rPr lang="en-US" sz="1200" dirty="0">
                          <a:effectLst/>
                        </a:rPr>
                        <a:t>timestamp</a:t>
                      </a:r>
                    </a:p>
                  </a:txBody>
                  <a:tcPr marL="55786" marR="55786" marT="27893" marB="27893" anchor="ctr"/>
                </a:tc>
                <a:tc>
                  <a:txBody>
                    <a:bodyPr/>
                    <a:lstStyle/>
                    <a:p>
                      <a:pPr algn="l" fontAlgn="ctr"/>
                      <a:r>
                        <a:rPr lang="en-US" sz="1200" dirty="0" err="1">
                          <a:effectLst/>
                        </a:rPr>
                        <a:t>ask_price</a:t>
                      </a:r>
                      <a:endParaRPr lang="en-US" sz="1200" dirty="0">
                        <a:effectLst/>
                      </a:endParaRPr>
                    </a:p>
                  </a:txBody>
                  <a:tcPr marL="55786" marR="55786" marT="27893" marB="27893" anchor="ctr"/>
                </a:tc>
                <a:tc>
                  <a:txBody>
                    <a:bodyPr/>
                    <a:lstStyle/>
                    <a:p>
                      <a:pPr algn="l" fontAlgn="ctr"/>
                      <a:r>
                        <a:rPr lang="en-US" sz="1200" dirty="0" err="1">
                          <a:effectLst/>
                        </a:rPr>
                        <a:t>ask_volume</a:t>
                      </a:r>
                      <a:endParaRPr lang="en-US" sz="1200" dirty="0">
                        <a:effectLst/>
                      </a:endParaRPr>
                    </a:p>
                  </a:txBody>
                  <a:tcPr marL="55786" marR="55786" marT="27893" marB="27893" anchor="ctr"/>
                </a:tc>
                <a:tc>
                  <a:txBody>
                    <a:bodyPr/>
                    <a:lstStyle/>
                    <a:p>
                      <a:pPr algn="l" fontAlgn="ctr"/>
                      <a:r>
                        <a:rPr lang="en-US" sz="1200">
                          <a:effectLst/>
                        </a:rPr>
                        <a:t>ask_numOrders</a:t>
                      </a:r>
                    </a:p>
                  </a:txBody>
                  <a:tcPr marL="55786" marR="55786" marT="27893" marB="27893" anchor="ctr"/>
                </a:tc>
                <a:tc>
                  <a:txBody>
                    <a:bodyPr/>
                    <a:lstStyle/>
                    <a:p>
                      <a:pPr algn="l" fontAlgn="ctr"/>
                      <a:r>
                        <a:rPr lang="en-US" sz="1200">
                          <a:effectLst/>
                        </a:rPr>
                        <a:t>bid_price</a:t>
                      </a:r>
                    </a:p>
                  </a:txBody>
                  <a:tcPr marL="55786" marR="55786" marT="27893" marB="27893" anchor="ctr"/>
                </a:tc>
                <a:tc>
                  <a:txBody>
                    <a:bodyPr/>
                    <a:lstStyle/>
                    <a:p>
                      <a:pPr algn="l" fontAlgn="ctr"/>
                      <a:r>
                        <a:rPr lang="en-US" sz="1200" dirty="0" err="1">
                          <a:effectLst/>
                        </a:rPr>
                        <a:t>bid_volume</a:t>
                      </a:r>
                      <a:endParaRPr lang="en-US" sz="1200" dirty="0">
                        <a:effectLst/>
                      </a:endParaRPr>
                    </a:p>
                  </a:txBody>
                  <a:tcPr marL="55786" marR="55786" marT="27893" marB="27893" anchor="ctr"/>
                </a:tc>
                <a:tc>
                  <a:txBody>
                    <a:bodyPr/>
                    <a:lstStyle/>
                    <a:p>
                      <a:pPr algn="l" fontAlgn="ctr"/>
                      <a:r>
                        <a:rPr lang="en-US" sz="1200" dirty="0" err="1">
                          <a:effectLst/>
                        </a:rPr>
                        <a:t>bid_numOrders</a:t>
                      </a:r>
                      <a:endParaRPr lang="en-US" sz="1200" dirty="0">
                        <a:effectLst/>
                      </a:endParaRP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dirty="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2451.93</a:t>
                      </a:r>
                    </a:p>
                  </a:txBody>
                  <a:tcPr marL="55786" marR="55786" marT="27893" marB="27893" anchor="ctr"/>
                </a:tc>
                <a:tc>
                  <a:txBody>
                    <a:bodyPr/>
                    <a:lstStyle/>
                    <a:p>
                      <a:pPr algn="l"/>
                      <a:r>
                        <a:rPr lang="en-US" altLang="zh-CN" sz="1200">
                          <a:effectLst/>
                        </a:rPr>
                        <a:t>33.4367</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2451.92</a:t>
                      </a:r>
                    </a:p>
                  </a:txBody>
                  <a:tcPr marL="55786" marR="55786" marT="27893" marB="27893" anchor="ctr"/>
                </a:tc>
                <a:tc>
                  <a:txBody>
                    <a:bodyPr/>
                    <a:lstStyle/>
                    <a:p>
                      <a:pPr algn="l"/>
                      <a:r>
                        <a:rPr lang="en-US" altLang="zh-CN" sz="1200">
                          <a:effectLst/>
                        </a:rPr>
                        <a:t>2.4135</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dirty="0">
                          <a:effectLst/>
                        </a:rPr>
                        <a:t>1769904000000</a:t>
                      </a:r>
                    </a:p>
                  </a:txBody>
                  <a:tcPr marL="55786" marR="55786" marT="27893" marB="27893" anchor="ctr"/>
                </a:tc>
                <a:tc>
                  <a:txBody>
                    <a:bodyPr/>
                    <a:lstStyle/>
                    <a:p>
                      <a:pPr algn="l"/>
                      <a:r>
                        <a:rPr lang="en-US" altLang="zh-CN" sz="1200">
                          <a:effectLst/>
                        </a:rPr>
                        <a:t>2451.94</a:t>
                      </a:r>
                    </a:p>
                  </a:txBody>
                  <a:tcPr marL="55786" marR="55786" marT="27893" marB="27893" anchor="ctr"/>
                </a:tc>
                <a:tc>
                  <a:txBody>
                    <a:bodyPr/>
                    <a:lstStyle/>
                    <a:p>
                      <a:pPr algn="l"/>
                      <a:r>
                        <a:rPr lang="en-US" altLang="zh-CN" sz="1200">
                          <a:effectLst/>
                        </a:rPr>
                        <a:t>0.7348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2451.91</a:t>
                      </a:r>
                    </a:p>
                  </a:txBody>
                  <a:tcPr marL="55786" marR="55786" marT="27893" marB="27893" anchor="ctr"/>
                </a:tc>
                <a:tc>
                  <a:txBody>
                    <a:bodyPr/>
                    <a:lstStyle/>
                    <a:p>
                      <a:pPr algn="l"/>
                      <a:r>
                        <a:rPr lang="en-US" altLang="zh-CN" sz="1200">
                          <a:effectLst/>
                        </a:rPr>
                        <a:t>0.0232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2451.95</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2451.86</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2451.96</a:t>
                      </a:r>
                    </a:p>
                  </a:txBody>
                  <a:tcPr marL="55786" marR="55786" marT="27893" marB="27893" anchor="ctr"/>
                </a:tc>
                <a:tc>
                  <a:txBody>
                    <a:bodyPr/>
                    <a:lstStyle/>
                    <a:p>
                      <a:pPr algn="l"/>
                      <a:r>
                        <a:rPr lang="en-US" altLang="zh-CN" sz="1200">
                          <a:effectLst/>
                        </a:rPr>
                        <a:t>1.2068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2451.85</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2451.97</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2451.84</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dirty="0">
                          <a:effectLst/>
                        </a:rPr>
                        <a:t>None</a:t>
                      </a:r>
                    </a:p>
                  </a:txBody>
                  <a:tcPr marL="55786" marR="55786" marT="27893" marB="27893" anchor="ctr"/>
                </a:tc>
                <a:extLst>
                  <a:ext uri="{0D108BD9-81ED-4DB2-BD59-A6C34878D82A}">
                    <a16:rowId xmlns:a16="http://schemas.microsoft.com/office/drawing/2014/main" val="636278165"/>
                  </a:ext>
                </a:extLst>
              </a:tr>
            </a:tbl>
          </a:graphicData>
        </a:graphic>
      </p:graphicFrame>
    </p:spTree>
    <p:extLst>
      <p:ext uri="{BB962C8B-B14F-4D97-AF65-F5344CB8AC3E}">
        <p14:creationId xmlns:p14="http://schemas.microsoft.com/office/powerpoint/2010/main" val="16545286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1874628" y="2135705"/>
            <a:ext cx="4403638" cy="471989"/>
          </a:xfrm>
          <a:prstGeom prst="rect">
            <a:avLst/>
          </a:prstGeom>
          <a:noFill/>
        </p:spPr>
        <p:txBody>
          <a:bodyPr wrap="square" rtlCol="0">
            <a:spAutoFit/>
          </a:bodyPr>
          <a:lstStyle/>
          <a:p>
            <a:pPr>
              <a:lnSpc>
                <a:spcPts val="3400"/>
              </a:lnSpc>
              <a:spcAft>
                <a:spcPts val="600"/>
              </a:spcAft>
            </a:pP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Our dataset</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extLst>
              <p:ext uri="{D42A27DB-BD31-4B8C-83A1-F6EECF244321}">
                <p14:modId xmlns:p14="http://schemas.microsoft.com/office/powerpoint/2010/main" val="1016786958"/>
              </p:ext>
            </p:extLst>
          </p:nvPr>
        </p:nvGraphicFramePr>
        <p:xfrm>
          <a:off x="615624" y="2793901"/>
          <a:ext cx="4125341" cy="2235300"/>
        </p:xfrm>
        <a:graphic>
          <a:graphicData uri="http://schemas.openxmlformats.org/drawingml/2006/table">
            <a:tbl>
              <a:tblPr firstRow="1">
                <a:tableStyleId>{17292A2E-F333-43FB-9621-5CBBE7FDCDCB}</a:tableStyleId>
              </a:tblPr>
              <a:tblGrid>
                <a:gridCol w="949773">
                  <a:extLst>
                    <a:ext uri="{9D8B030D-6E8A-4147-A177-3AD203B41FA5}">
                      <a16:colId xmlns:a16="http://schemas.microsoft.com/office/drawing/2014/main" val="1251061446"/>
                    </a:ext>
                  </a:extLst>
                </a:gridCol>
                <a:gridCol w="1074147">
                  <a:extLst>
                    <a:ext uri="{9D8B030D-6E8A-4147-A177-3AD203B41FA5}">
                      <a16:colId xmlns:a16="http://schemas.microsoft.com/office/drawing/2014/main" val="1533997478"/>
                    </a:ext>
                  </a:extLst>
                </a:gridCol>
                <a:gridCol w="915853">
                  <a:extLst>
                    <a:ext uri="{9D8B030D-6E8A-4147-A177-3AD203B41FA5}">
                      <a16:colId xmlns:a16="http://schemas.microsoft.com/office/drawing/2014/main" val="2707543540"/>
                    </a:ext>
                  </a:extLst>
                </a:gridCol>
                <a:gridCol w="1185568">
                  <a:extLst>
                    <a:ext uri="{9D8B030D-6E8A-4147-A177-3AD203B41FA5}">
                      <a16:colId xmlns:a16="http://schemas.microsoft.com/office/drawing/2014/main" val="1879499304"/>
                    </a:ext>
                  </a:extLst>
                </a:gridCol>
              </a:tblGrid>
              <a:tr h="592340">
                <a:tc>
                  <a:txBody>
                    <a:bodyPr/>
                    <a:lstStyle/>
                    <a:p>
                      <a:pPr algn="l" fontAlgn="ctr"/>
                      <a:r>
                        <a:rPr lang="en-US" sz="1400" dirty="0" err="1">
                          <a:effectLst/>
                        </a:rPr>
                        <a:t>ask_price</a:t>
                      </a:r>
                      <a:endParaRPr lang="en-US" sz="1400" dirty="0">
                        <a:effectLst/>
                      </a:endParaRPr>
                    </a:p>
                  </a:txBody>
                  <a:tcPr marL="55786" marR="55786" marT="27893" marB="27893" anchor="ctr"/>
                </a:tc>
                <a:tc>
                  <a:txBody>
                    <a:bodyPr/>
                    <a:lstStyle/>
                    <a:p>
                      <a:pPr algn="l" fontAlgn="ctr"/>
                      <a:r>
                        <a:rPr lang="en-US" sz="1400" dirty="0" err="1">
                          <a:effectLst/>
                        </a:rPr>
                        <a:t>ask_volume</a:t>
                      </a:r>
                      <a:endParaRPr lang="en-US" sz="1400" dirty="0">
                        <a:effectLst/>
                      </a:endParaRPr>
                    </a:p>
                  </a:txBody>
                  <a:tcPr marL="55786" marR="55786" marT="27893" marB="27893" anchor="ctr"/>
                </a:tc>
                <a:tc>
                  <a:txBody>
                    <a:bodyPr/>
                    <a:lstStyle/>
                    <a:p>
                      <a:pPr algn="l" fontAlgn="ctr"/>
                      <a:r>
                        <a:rPr lang="en-US" sz="1400" dirty="0" err="1">
                          <a:effectLst/>
                        </a:rPr>
                        <a:t>bid_price</a:t>
                      </a:r>
                      <a:endParaRPr lang="en-US" sz="1400" dirty="0">
                        <a:effectLst/>
                      </a:endParaRPr>
                    </a:p>
                  </a:txBody>
                  <a:tcPr marL="55786" marR="55786" marT="27893" marB="27893" anchor="ctr"/>
                </a:tc>
                <a:tc>
                  <a:txBody>
                    <a:bodyPr/>
                    <a:lstStyle/>
                    <a:p>
                      <a:pPr algn="l" fontAlgn="ctr"/>
                      <a:r>
                        <a:rPr lang="en-US" sz="1400" dirty="0" err="1">
                          <a:effectLst/>
                        </a:rPr>
                        <a:t>bid_volume</a:t>
                      </a:r>
                      <a:endParaRPr lang="en-US" sz="1400" dirty="0">
                        <a:effectLst/>
                      </a:endParaRP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400" dirty="0">
                          <a:solidFill>
                            <a:srgbClr val="00B050"/>
                          </a:solidFill>
                          <a:effectLst/>
                        </a:rPr>
                        <a:t>2451.93</a:t>
                      </a:r>
                    </a:p>
                  </a:txBody>
                  <a:tcPr marL="55786" marR="55786" marT="27893" marB="27893" anchor="ctr"/>
                </a:tc>
                <a:tc>
                  <a:txBody>
                    <a:bodyPr/>
                    <a:lstStyle/>
                    <a:p>
                      <a:pPr algn="l"/>
                      <a:r>
                        <a:rPr lang="en-US" altLang="zh-CN" sz="1400">
                          <a:solidFill>
                            <a:srgbClr val="00B050"/>
                          </a:solidFill>
                          <a:effectLst/>
                        </a:rPr>
                        <a:t>33.4367</a:t>
                      </a:r>
                    </a:p>
                  </a:txBody>
                  <a:tcPr marL="55786" marR="55786" marT="27893" marB="27893" anchor="ctr"/>
                </a:tc>
                <a:tc>
                  <a:txBody>
                    <a:bodyPr/>
                    <a:lstStyle/>
                    <a:p>
                      <a:pPr algn="l"/>
                      <a:r>
                        <a:rPr lang="en-US" altLang="zh-CN" sz="1400" dirty="0">
                          <a:solidFill>
                            <a:srgbClr val="FF0000"/>
                          </a:solidFill>
                          <a:effectLst/>
                        </a:rPr>
                        <a:t>2451.92</a:t>
                      </a:r>
                    </a:p>
                  </a:txBody>
                  <a:tcPr marL="55786" marR="55786" marT="27893" marB="27893" anchor="ctr"/>
                </a:tc>
                <a:tc>
                  <a:txBody>
                    <a:bodyPr/>
                    <a:lstStyle/>
                    <a:p>
                      <a:pPr algn="l"/>
                      <a:r>
                        <a:rPr lang="en-US" altLang="zh-CN" sz="1400">
                          <a:solidFill>
                            <a:srgbClr val="FF0000"/>
                          </a:solidFill>
                          <a:effectLst/>
                        </a:rPr>
                        <a:t>2.4135</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400" dirty="0">
                          <a:solidFill>
                            <a:srgbClr val="00B050"/>
                          </a:solidFill>
                          <a:effectLst/>
                        </a:rPr>
                        <a:t>2451.94</a:t>
                      </a:r>
                    </a:p>
                  </a:txBody>
                  <a:tcPr marL="55786" marR="55786" marT="27893" marB="27893" anchor="ctr"/>
                </a:tc>
                <a:tc>
                  <a:txBody>
                    <a:bodyPr/>
                    <a:lstStyle/>
                    <a:p>
                      <a:pPr algn="l"/>
                      <a:r>
                        <a:rPr lang="en-US" altLang="zh-CN" sz="1400">
                          <a:solidFill>
                            <a:srgbClr val="00B050"/>
                          </a:solidFill>
                          <a:effectLst/>
                        </a:rPr>
                        <a:t>0.7348</a:t>
                      </a:r>
                    </a:p>
                  </a:txBody>
                  <a:tcPr marL="55786" marR="55786" marT="27893" marB="27893" anchor="ctr"/>
                </a:tc>
                <a:tc>
                  <a:txBody>
                    <a:bodyPr/>
                    <a:lstStyle/>
                    <a:p>
                      <a:pPr algn="l"/>
                      <a:r>
                        <a:rPr lang="en-US" altLang="zh-CN" sz="1400" dirty="0">
                          <a:solidFill>
                            <a:srgbClr val="FF0000"/>
                          </a:solidFill>
                          <a:effectLst/>
                        </a:rPr>
                        <a:t>2451.91</a:t>
                      </a:r>
                    </a:p>
                  </a:txBody>
                  <a:tcPr marL="55786" marR="55786" marT="27893" marB="27893" anchor="ctr"/>
                </a:tc>
                <a:tc>
                  <a:txBody>
                    <a:bodyPr/>
                    <a:lstStyle/>
                    <a:p>
                      <a:pPr algn="l"/>
                      <a:r>
                        <a:rPr lang="en-US" altLang="zh-CN" sz="1400" dirty="0">
                          <a:solidFill>
                            <a:srgbClr val="FF0000"/>
                          </a:solidFill>
                          <a:effectLst/>
                        </a:rPr>
                        <a:t>0.0232</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400" dirty="0">
                          <a:solidFill>
                            <a:srgbClr val="00B050"/>
                          </a:solidFill>
                          <a:effectLst/>
                        </a:rPr>
                        <a:t>2451.95</a:t>
                      </a:r>
                    </a:p>
                  </a:txBody>
                  <a:tcPr marL="55786" marR="55786" marT="27893" marB="27893" anchor="ctr"/>
                </a:tc>
                <a:tc>
                  <a:txBody>
                    <a:bodyPr/>
                    <a:lstStyle/>
                    <a:p>
                      <a:pPr algn="l"/>
                      <a:r>
                        <a:rPr lang="en-US" altLang="zh-CN" sz="1400">
                          <a:solidFill>
                            <a:srgbClr val="00B050"/>
                          </a:solidFill>
                          <a:effectLst/>
                        </a:rPr>
                        <a:t>0.0043</a:t>
                      </a:r>
                    </a:p>
                  </a:txBody>
                  <a:tcPr marL="55786" marR="55786" marT="27893" marB="27893" anchor="ctr"/>
                </a:tc>
                <a:tc>
                  <a:txBody>
                    <a:bodyPr/>
                    <a:lstStyle/>
                    <a:p>
                      <a:pPr algn="l"/>
                      <a:r>
                        <a:rPr lang="en-US" altLang="zh-CN" sz="1400">
                          <a:solidFill>
                            <a:srgbClr val="FF0000"/>
                          </a:solidFill>
                          <a:effectLst/>
                        </a:rPr>
                        <a:t>2451.86</a:t>
                      </a:r>
                    </a:p>
                  </a:txBody>
                  <a:tcPr marL="55786" marR="55786" marT="27893" marB="27893" anchor="ctr"/>
                </a:tc>
                <a:tc>
                  <a:txBody>
                    <a:bodyPr/>
                    <a:lstStyle/>
                    <a:p>
                      <a:pPr algn="l"/>
                      <a:r>
                        <a:rPr lang="en-US" altLang="zh-CN" sz="1400" dirty="0">
                          <a:solidFill>
                            <a:srgbClr val="FF0000"/>
                          </a:solidFill>
                          <a:effectLst/>
                        </a:rPr>
                        <a:t>0.0022</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400">
                          <a:solidFill>
                            <a:srgbClr val="00B050"/>
                          </a:solidFill>
                          <a:effectLst/>
                        </a:rPr>
                        <a:t>2451.96</a:t>
                      </a:r>
                    </a:p>
                  </a:txBody>
                  <a:tcPr marL="55786" marR="55786" marT="27893" marB="27893" anchor="ctr"/>
                </a:tc>
                <a:tc>
                  <a:txBody>
                    <a:bodyPr/>
                    <a:lstStyle/>
                    <a:p>
                      <a:pPr algn="l"/>
                      <a:r>
                        <a:rPr lang="en-US" altLang="zh-CN" sz="1400">
                          <a:solidFill>
                            <a:srgbClr val="00B050"/>
                          </a:solidFill>
                          <a:effectLst/>
                        </a:rPr>
                        <a:t>1.2068</a:t>
                      </a:r>
                    </a:p>
                  </a:txBody>
                  <a:tcPr marL="55786" marR="55786" marT="27893" marB="27893" anchor="ctr"/>
                </a:tc>
                <a:tc>
                  <a:txBody>
                    <a:bodyPr/>
                    <a:lstStyle/>
                    <a:p>
                      <a:pPr algn="l"/>
                      <a:r>
                        <a:rPr lang="en-US" altLang="zh-CN" sz="1400">
                          <a:solidFill>
                            <a:srgbClr val="FF0000"/>
                          </a:solidFill>
                          <a:effectLst/>
                        </a:rPr>
                        <a:t>2451.85</a:t>
                      </a:r>
                    </a:p>
                  </a:txBody>
                  <a:tcPr marL="55786" marR="55786" marT="27893" marB="27893" anchor="ctr"/>
                </a:tc>
                <a:tc>
                  <a:txBody>
                    <a:bodyPr/>
                    <a:lstStyle/>
                    <a:p>
                      <a:pPr algn="l"/>
                      <a:r>
                        <a:rPr lang="en-US" altLang="zh-CN" sz="1400" dirty="0">
                          <a:solidFill>
                            <a:srgbClr val="FF0000"/>
                          </a:solidFill>
                          <a:effectLst/>
                        </a:rPr>
                        <a:t>0.0022</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400" dirty="0">
                          <a:solidFill>
                            <a:srgbClr val="00B050"/>
                          </a:solidFill>
                          <a:effectLst/>
                        </a:rPr>
                        <a:t>2451.97</a:t>
                      </a:r>
                    </a:p>
                  </a:txBody>
                  <a:tcPr marL="55786" marR="55786" marT="27893" marB="27893" anchor="ctr"/>
                </a:tc>
                <a:tc>
                  <a:txBody>
                    <a:bodyPr/>
                    <a:lstStyle/>
                    <a:p>
                      <a:pPr algn="l"/>
                      <a:r>
                        <a:rPr lang="en-US" altLang="zh-CN" sz="1400" dirty="0">
                          <a:solidFill>
                            <a:srgbClr val="00B050"/>
                          </a:solidFill>
                          <a:effectLst/>
                        </a:rPr>
                        <a:t>0.0022</a:t>
                      </a:r>
                    </a:p>
                  </a:txBody>
                  <a:tcPr marL="55786" marR="55786" marT="27893" marB="27893" anchor="ctr"/>
                </a:tc>
                <a:tc>
                  <a:txBody>
                    <a:bodyPr/>
                    <a:lstStyle/>
                    <a:p>
                      <a:pPr algn="l"/>
                      <a:r>
                        <a:rPr lang="en-US" altLang="zh-CN" sz="1400" dirty="0">
                          <a:solidFill>
                            <a:srgbClr val="FF0000"/>
                          </a:solidFill>
                          <a:effectLst/>
                        </a:rPr>
                        <a:t>2451.84</a:t>
                      </a:r>
                    </a:p>
                  </a:txBody>
                  <a:tcPr marL="55786" marR="55786" marT="27893" marB="27893" anchor="ctr"/>
                </a:tc>
                <a:tc>
                  <a:txBody>
                    <a:bodyPr/>
                    <a:lstStyle/>
                    <a:p>
                      <a:pPr algn="l"/>
                      <a:r>
                        <a:rPr lang="en-US" altLang="zh-CN" sz="1400" dirty="0">
                          <a:solidFill>
                            <a:srgbClr val="FF0000"/>
                          </a:solidFill>
                          <a:effectLst/>
                        </a:rPr>
                        <a:t>0.0043</a:t>
                      </a:r>
                    </a:p>
                  </a:txBody>
                  <a:tcPr marL="55786" marR="55786" marT="27893" marB="27893" anchor="ctr"/>
                </a:tc>
                <a:extLst>
                  <a:ext uri="{0D108BD9-81ED-4DB2-BD59-A6C34878D82A}">
                    <a16:rowId xmlns:a16="http://schemas.microsoft.com/office/drawing/2014/main" val="636278165"/>
                  </a:ext>
                </a:extLst>
              </a:tr>
            </a:tbl>
          </a:graphicData>
        </a:graphic>
      </p:graphicFrame>
      <p:sp>
        <p:nvSpPr>
          <p:cNvPr id="6" name="文本框 5">
            <a:extLst>
              <a:ext uri="{FF2B5EF4-FFF2-40B4-BE49-F238E27FC236}">
                <a16:creationId xmlns:a16="http://schemas.microsoft.com/office/drawing/2014/main" id="{939822AB-6EEB-4ADA-5EBB-79D95F543384}"/>
              </a:ext>
            </a:extLst>
          </p:cNvPr>
          <p:cNvSpPr txBox="1"/>
          <p:nvPr/>
        </p:nvSpPr>
        <p:spPr>
          <a:xfrm>
            <a:off x="4740965" y="3046544"/>
            <a:ext cx="688009" cy="2010807"/>
          </a:xfrm>
          <a:prstGeom prst="rect">
            <a:avLst/>
          </a:prstGeom>
          <a:noFill/>
        </p:spPr>
        <p:txBody>
          <a:bodyPr wrap="none" rtlCol="0">
            <a:spAutoFit/>
          </a:bodyPr>
          <a:lstStyle/>
          <a:p>
            <a:pPr algn="ctr">
              <a:spcBef>
                <a:spcPts val="350"/>
              </a:spcBef>
            </a:pPr>
            <a:r>
              <a:rPr kumimoji="1" lang="en-US" altLang="zh-CN" dirty="0"/>
              <a:t>Level</a:t>
            </a:r>
          </a:p>
          <a:p>
            <a:pPr algn="ctr">
              <a:spcBef>
                <a:spcPts val="350"/>
              </a:spcBef>
            </a:pPr>
            <a:r>
              <a:rPr kumimoji="1" lang="en-US" altLang="zh-CN" dirty="0"/>
              <a:t>1</a:t>
            </a:r>
          </a:p>
          <a:p>
            <a:pPr algn="ctr">
              <a:spcBef>
                <a:spcPts val="350"/>
              </a:spcBef>
            </a:pPr>
            <a:r>
              <a:rPr kumimoji="1" lang="en-US" altLang="zh-CN" dirty="0"/>
              <a:t>2</a:t>
            </a:r>
          </a:p>
          <a:p>
            <a:pPr algn="ctr">
              <a:spcBef>
                <a:spcPts val="350"/>
              </a:spcBef>
            </a:pPr>
            <a:r>
              <a:rPr kumimoji="1" lang="en-US" altLang="zh-CN" dirty="0"/>
              <a:t>3</a:t>
            </a:r>
          </a:p>
          <a:p>
            <a:pPr algn="ctr">
              <a:spcBef>
                <a:spcPts val="350"/>
              </a:spcBef>
            </a:pPr>
            <a:r>
              <a:rPr kumimoji="1" lang="en-US" altLang="zh-CN" dirty="0"/>
              <a:t>4</a:t>
            </a:r>
          </a:p>
          <a:p>
            <a:pPr algn="ctr">
              <a:spcBef>
                <a:spcPts val="350"/>
              </a:spcBef>
            </a:pPr>
            <a:r>
              <a:rPr kumimoji="1" lang="en-US" altLang="zh-CN" dirty="0"/>
              <a:t>5</a:t>
            </a:r>
            <a:endParaRPr kumimoji="1" lang="zh-CN" altLang="en-US" dirty="0"/>
          </a:p>
        </p:txBody>
      </p:sp>
      <p:graphicFrame>
        <p:nvGraphicFramePr>
          <p:cNvPr id="8" name="表格 7">
            <a:extLst>
              <a:ext uri="{FF2B5EF4-FFF2-40B4-BE49-F238E27FC236}">
                <a16:creationId xmlns:a16="http://schemas.microsoft.com/office/drawing/2014/main" id="{F391477D-39D6-1B6C-3781-D82D5CC27289}"/>
              </a:ext>
            </a:extLst>
          </p:cNvPr>
          <p:cNvGraphicFramePr>
            <a:graphicFrameLocks noGrp="1"/>
          </p:cNvGraphicFramePr>
          <p:nvPr>
            <p:extLst>
              <p:ext uri="{D42A27DB-BD31-4B8C-83A1-F6EECF244321}">
                <p14:modId xmlns:p14="http://schemas.microsoft.com/office/powerpoint/2010/main" val="1706598853"/>
              </p:ext>
            </p:extLst>
          </p:nvPr>
        </p:nvGraphicFramePr>
        <p:xfrm>
          <a:off x="7331436" y="1698830"/>
          <a:ext cx="3626334" cy="4206852"/>
        </p:xfrm>
        <a:graphic>
          <a:graphicData uri="http://schemas.openxmlformats.org/drawingml/2006/table">
            <a:tbl>
              <a:tblPr firstRow="1">
                <a:tableStyleId>{17292A2E-F333-43FB-9621-5CBBE7FDCDCB}</a:tableStyleId>
              </a:tblPr>
              <a:tblGrid>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tblGrid>
              <a:tr h="592340">
                <a:tc>
                  <a:txBody>
                    <a:bodyPr/>
                    <a:lstStyle/>
                    <a:p>
                      <a:pPr algn="l" fontAlgn="ctr"/>
                      <a:endParaRPr lang="en-US" sz="1400" dirty="0">
                        <a:effectLst/>
                      </a:endParaRPr>
                    </a:p>
                  </a:txBody>
                  <a:tcPr marL="55786" marR="55786" marT="27893" marB="27893" anchor="ctr"/>
                </a:tc>
                <a:tc>
                  <a:txBody>
                    <a:bodyPr/>
                    <a:lstStyle/>
                    <a:p>
                      <a:pPr algn="l" fontAlgn="ctr"/>
                      <a:r>
                        <a:rPr lang="en-US" sz="1400" dirty="0">
                          <a:effectLst/>
                        </a:rPr>
                        <a:t>price</a:t>
                      </a:r>
                    </a:p>
                  </a:txBody>
                  <a:tcPr marL="55786" marR="55786" marT="27893" marB="27893" anchor="ctr"/>
                </a:tc>
                <a:tc>
                  <a:txBody>
                    <a:bodyPr/>
                    <a:lstStyle/>
                    <a:p>
                      <a:pPr algn="l" fontAlgn="ctr"/>
                      <a:r>
                        <a:rPr lang="en-US" sz="1400" dirty="0">
                          <a:effectLst/>
                        </a:rPr>
                        <a:t>volume</a:t>
                      </a:r>
                    </a:p>
                  </a:txBody>
                  <a:tcPr marL="55786" marR="55786" marT="27893" marB="27893" anchor="ctr"/>
                </a:tc>
                <a:tc>
                  <a:txBody>
                    <a:bodyPr/>
                    <a:lstStyle/>
                    <a:p>
                      <a:pPr algn="l" fontAlgn="ctr"/>
                      <a:r>
                        <a:rPr lang="en-US" sz="1400" dirty="0">
                          <a:solidFill>
                            <a:schemeClr val="tx1"/>
                          </a:solidFill>
                          <a:effectLst/>
                        </a:rPr>
                        <a:t>Level</a:t>
                      </a: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2451.97</a:t>
                      </a:r>
                    </a:p>
                  </a:txBody>
                  <a:tcPr marL="55786" marR="55786" marT="27893" marB="27893" anchor="ctr"/>
                </a:tc>
                <a:tc>
                  <a:txBody>
                    <a:bodyPr/>
                    <a:lstStyle/>
                    <a:p>
                      <a:pPr algn="l"/>
                      <a:r>
                        <a:rPr lang="en-US" altLang="zh-CN" sz="1400" dirty="0">
                          <a:solidFill>
                            <a:srgbClr val="00B050"/>
                          </a:solidFill>
                          <a:effectLst/>
                        </a:rPr>
                        <a:t>0.0022</a:t>
                      </a:r>
                    </a:p>
                  </a:txBody>
                  <a:tcPr marL="55786" marR="55786" marT="27893" marB="27893" anchor="ctr"/>
                </a:tc>
                <a:tc>
                  <a:txBody>
                    <a:bodyPr/>
                    <a:lstStyle/>
                    <a:p>
                      <a:pPr algn="l"/>
                      <a:r>
                        <a:rPr lang="en-US" altLang="zh-CN" sz="1400" dirty="0">
                          <a:solidFill>
                            <a:schemeClr val="tx1"/>
                          </a:solidFill>
                          <a:effectLst/>
                        </a:rPr>
                        <a:t>5</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2451.96</a:t>
                      </a:r>
                    </a:p>
                  </a:txBody>
                  <a:tcPr marL="55786" marR="55786" marT="27893" marB="27893" anchor="ctr"/>
                </a:tc>
                <a:tc>
                  <a:txBody>
                    <a:bodyPr/>
                    <a:lstStyle/>
                    <a:p>
                      <a:pPr algn="l"/>
                      <a:r>
                        <a:rPr lang="en-US" altLang="zh-CN" sz="1400" dirty="0">
                          <a:solidFill>
                            <a:srgbClr val="00B050"/>
                          </a:solidFill>
                          <a:effectLst/>
                        </a:rPr>
                        <a:t>1.2068</a:t>
                      </a:r>
                    </a:p>
                  </a:txBody>
                  <a:tcPr marL="55786" marR="55786" marT="27893" marB="27893" anchor="ctr"/>
                </a:tc>
                <a:tc>
                  <a:txBody>
                    <a:bodyPr/>
                    <a:lstStyle/>
                    <a:p>
                      <a:pPr algn="l"/>
                      <a:r>
                        <a:rPr lang="en-US" altLang="zh-CN" sz="1400" dirty="0">
                          <a:solidFill>
                            <a:schemeClr val="tx1"/>
                          </a:solidFill>
                          <a:effectLst/>
                        </a:rPr>
                        <a:t>4</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2451.95</a:t>
                      </a:r>
                    </a:p>
                  </a:txBody>
                  <a:tcPr marL="55786" marR="55786" marT="27893" marB="27893" anchor="ctr"/>
                </a:tc>
                <a:tc>
                  <a:txBody>
                    <a:bodyPr/>
                    <a:lstStyle/>
                    <a:p>
                      <a:pPr algn="l"/>
                      <a:r>
                        <a:rPr lang="en-US" altLang="zh-CN" sz="1400" dirty="0">
                          <a:solidFill>
                            <a:srgbClr val="00B050"/>
                          </a:solidFill>
                          <a:effectLst/>
                        </a:rPr>
                        <a:t>0.0043</a:t>
                      </a:r>
                    </a:p>
                  </a:txBody>
                  <a:tcPr marL="55786" marR="55786" marT="27893" marB="27893" anchor="ctr"/>
                </a:tc>
                <a:tc>
                  <a:txBody>
                    <a:bodyPr/>
                    <a:lstStyle/>
                    <a:p>
                      <a:pPr algn="l"/>
                      <a:r>
                        <a:rPr lang="en-US" altLang="zh-CN" sz="1400" dirty="0">
                          <a:solidFill>
                            <a:schemeClr val="tx1"/>
                          </a:solidFill>
                          <a:effectLst/>
                        </a:rPr>
                        <a:t>3</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2451.94</a:t>
                      </a:r>
                    </a:p>
                  </a:txBody>
                  <a:tcPr marL="55786" marR="55786" marT="27893" marB="27893" anchor="ctr"/>
                </a:tc>
                <a:tc>
                  <a:txBody>
                    <a:bodyPr/>
                    <a:lstStyle/>
                    <a:p>
                      <a:pPr algn="l"/>
                      <a:r>
                        <a:rPr lang="en-US" altLang="zh-CN" sz="1400" dirty="0">
                          <a:solidFill>
                            <a:srgbClr val="00B050"/>
                          </a:solidFill>
                          <a:effectLst/>
                        </a:rPr>
                        <a:t>0.7348</a:t>
                      </a:r>
                    </a:p>
                  </a:txBody>
                  <a:tcPr marL="55786" marR="55786" marT="27893" marB="27893" anchor="ctr"/>
                </a:tc>
                <a:tc>
                  <a:txBody>
                    <a:bodyPr/>
                    <a:lstStyle/>
                    <a:p>
                      <a:pPr algn="l"/>
                      <a:r>
                        <a:rPr lang="en-US" altLang="zh-CN" sz="1400" dirty="0">
                          <a:solidFill>
                            <a:schemeClr val="tx1"/>
                          </a:solidFill>
                          <a:effectLst/>
                        </a:rPr>
                        <a:t>2</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2451.93</a:t>
                      </a:r>
                    </a:p>
                  </a:txBody>
                  <a:tcPr marL="55786" marR="55786" marT="27893" marB="27893" anchor="ctr"/>
                </a:tc>
                <a:tc>
                  <a:txBody>
                    <a:bodyPr/>
                    <a:lstStyle/>
                    <a:p>
                      <a:pPr algn="l"/>
                      <a:r>
                        <a:rPr lang="en-US" altLang="zh-CN" sz="1400" dirty="0">
                          <a:solidFill>
                            <a:srgbClr val="00B050"/>
                          </a:solidFill>
                          <a:effectLst/>
                        </a:rPr>
                        <a:t>33.4367</a:t>
                      </a:r>
                    </a:p>
                  </a:txBody>
                  <a:tcPr marL="55786" marR="55786" marT="27893" marB="27893" anchor="ctr"/>
                </a:tc>
                <a:tc>
                  <a:txBody>
                    <a:bodyPr/>
                    <a:lstStyle/>
                    <a:p>
                      <a:pPr algn="l"/>
                      <a:r>
                        <a:rPr lang="en-US" altLang="zh-CN" sz="1400" dirty="0">
                          <a:solidFill>
                            <a:schemeClr val="tx1"/>
                          </a:solidFill>
                          <a:effectLst/>
                        </a:rPr>
                        <a:t>1</a:t>
                      </a:r>
                    </a:p>
                  </a:txBody>
                  <a:tcPr marL="55786" marR="55786" marT="27893" marB="27893" anchor="ctr"/>
                </a:tc>
                <a:extLst>
                  <a:ext uri="{0D108BD9-81ED-4DB2-BD59-A6C34878D82A}">
                    <a16:rowId xmlns:a16="http://schemas.microsoft.com/office/drawing/2014/main" val="636278165"/>
                  </a:ext>
                </a:extLst>
              </a:tr>
              <a:tr h="328592">
                <a:tc>
                  <a:txBody>
                    <a:bodyPr/>
                    <a:lstStyle/>
                    <a:p>
                      <a:pPr algn="l"/>
                      <a:endParaRPr lang="en-US" altLang="zh-CN" sz="1400" dirty="0">
                        <a:effectLst/>
                      </a:endParaRPr>
                    </a:p>
                  </a:txBody>
                  <a:tcPr marL="55786" marR="55786" marT="27893" marB="27893" anchor="ctr"/>
                </a:tc>
                <a:tc>
                  <a:txBody>
                    <a:bodyPr/>
                    <a:lstStyle/>
                    <a:p>
                      <a:pPr algn="l"/>
                      <a:endParaRPr lang="en-US" altLang="zh-CN" sz="1400" dirty="0">
                        <a:effectLst/>
                      </a:endParaRPr>
                    </a:p>
                  </a:txBody>
                  <a:tcPr marL="55786" marR="55786" marT="27893" marB="27893" anchor="ctr"/>
                </a:tc>
                <a:tc>
                  <a:txBody>
                    <a:bodyPr/>
                    <a:lstStyle/>
                    <a:p>
                      <a:pPr algn="l"/>
                      <a:endParaRPr lang="en-US" altLang="zh-CN" sz="1400" dirty="0">
                        <a:effectLst/>
                      </a:endParaRPr>
                    </a:p>
                  </a:txBody>
                  <a:tcPr marL="55786" marR="55786" marT="27893" marB="27893" anchor="ctr"/>
                </a:tc>
                <a:tc>
                  <a:txBody>
                    <a:bodyPr/>
                    <a:lstStyle/>
                    <a:p>
                      <a:pPr algn="l"/>
                      <a:endParaRPr lang="en-US" altLang="zh-CN" sz="1400" dirty="0">
                        <a:solidFill>
                          <a:schemeClr val="tx1"/>
                        </a:solidFill>
                        <a:effectLst/>
                      </a:endParaRPr>
                    </a:p>
                  </a:txBody>
                  <a:tcPr marL="55786" marR="55786" marT="27893" marB="27893" anchor="ctr"/>
                </a:tc>
                <a:extLst>
                  <a:ext uri="{0D108BD9-81ED-4DB2-BD59-A6C34878D82A}">
                    <a16:rowId xmlns:a16="http://schemas.microsoft.com/office/drawing/2014/main" val="810324768"/>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2451.92</a:t>
                      </a:r>
                    </a:p>
                  </a:txBody>
                  <a:tcPr marL="55786" marR="55786" marT="27893" marB="27893" anchor="ctr"/>
                </a:tc>
                <a:tc>
                  <a:txBody>
                    <a:bodyPr/>
                    <a:lstStyle/>
                    <a:p>
                      <a:pPr algn="l"/>
                      <a:r>
                        <a:rPr lang="en-US" altLang="zh-CN" sz="1400">
                          <a:solidFill>
                            <a:srgbClr val="FF0000"/>
                          </a:solidFill>
                          <a:effectLst/>
                        </a:rPr>
                        <a:t>2.4135</a:t>
                      </a:r>
                    </a:p>
                  </a:txBody>
                  <a:tcPr marL="55786" marR="55786" marT="27893" marB="27893" anchor="ctr"/>
                </a:tc>
                <a:tc>
                  <a:txBody>
                    <a:bodyPr/>
                    <a:lstStyle/>
                    <a:p>
                      <a:pPr algn="l"/>
                      <a:r>
                        <a:rPr lang="en-US" altLang="zh-CN" sz="1400" dirty="0">
                          <a:solidFill>
                            <a:schemeClr val="tx1"/>
                          </a:solidFill>
                          <a:effectLst/>
                        </a:rPr>
                        <a:t>1</a:t>
                      </a:r>
                    </a:p>
                  </a:txBody>
                  <a:tcPr marL="55786" marR="55786" marT="27893" marB="27893" anchor="ctr"/>
                </a:tc>
                <a:extLst>
                  <a:ext uri="{0D108BD9-81ED-4DB2-BD59-A6C34878D82A}">
                    <a16:rowId xmlns:a16="http://schemas.microsoft.com/office/drawing/2014/main" val="4102486281"/>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2451.91</a:t>
                      </a:r>
                    </a:p>
                  </a:txBody>
                  <a:tcPr marL="55786" marR="55786" marT="27893" marB="27893" anchor="ctr"/>
                </a:tc>
                <a:tc>
                  <a:txBody>
                    <a:bodyPr/>
                    <a:lstStyle/>
                    <a:p>
                      <a:pPr algn="l"/>
                      <a:r>
                        <a:rPr lang="en-US" altLang="zh-CN" sz="1400" dirty="0">
                          <a:solidFill>
                            <a:srgbClr val="FF0000"/>
                          </a:solidFill>
                          <a:effectLst/>
                        </a:rPr>
                        <a:t>0.0232</a:t>
                      </a:r>
                    </a:p>
                  </a:txBody>
                  <a:tcPr marL="55786" marR="55786" marT="27893" marB="27893" anchor="ctr"/>
                </a:tc>
                <a:tc>
                  <a:txBody>
                    <a:bodyPr/>
                    <a:lstStyle/>
                    <a:p>
                      <a:pPr algn="l"/>
                      <a:r>
                        <a:rPr lang="en-US" altLang="zh-CN" sz="1400" dirty="0">
                          <a:solidFill>
                            <a:schemeClr val="tx1"/>
                          </a:solidFill>
                          <a:effectLst/>
                        </a:rPr>
                        <a:t>2</a:t>
                      </a:r>
                    </a:p>
                  </a:txBody>
                  <a:tcPr marL="55786" marR="55786" marT="27893" marB="27893" anchor="ctr"/>
                </a:tc>
                <a:extLst>
                  <a:ext uri="{0D108BD9-81ED-4DB2-BD59-A6C34878D82A}">
                    <a16:rowId xmlns:a16="http://schemas.microsoft.com/office/drawing/2014/main" val="3099356725"/>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a:solidFill>
                            <a:srgbClr val="FF0000"/>
                          </a:solidFill>
                          <a:effectLst/>
                        </a:rPr>
                        <a:t>2451.86</a:t>
                      </a:r>
                    </a:p>
                  </a:txBody>
                  <a:tcPr marL="55786" marR="55786" marT="27893" marB="27893" anchor="ctr"/>
                </a:tc>
                <a:tc>
                  <a:txBody>
                    <a:bodyPr/>
                    <a:lstStyle/>
                    <a:p>
                      <a:pPr algn="l"/>
                      <a:r>
                        <a:rPr lang="en-US" altLang="zh-CN" sz="1400" dirty="0">
                          <a:solidFill>
                            <a:srgbClr val="FF0000"/>
                          </a:solidFill>
                          <a:effectLst/>
                        </a:rPr>
                        <a:t>0.0022</a:t>
                      </a:r>
                    </a:p>
                  </a:txBody>
                  <a:tcPr marL="55786" marR="55786" marT="27893" marB="27893" anchor="ctr"/>
                </a:tc>
                <a:tc>
                  <a:txBody>
                    <a:bodyPr/>
                    <a:lstStyle/>
                    <a:p>
                      <a:pPr algn="l"/>
                      <a:r>
                        <a:rPr lang="en-US" altLang="zh-CN" sz="1400" dirty="0">
                          <a:solidFill>
                            <a:schemeClr val="tx1"/>
                          </a:solidFill>
                          <a:effectLst/>
                        </a:rPr>
                        <a:t>3</a:t>
                      </a:r>
                    </a:p>
                  </a:txBody>
                  <a:tcPr marL="55786" marR="55786" marT="27893" marB="27893" anchor="ctr"/>
                </a:tc>
                <a:extLst>
                  <a:ext uri="{0D108BD9-81ED-4DB2-BD59-A6C34878D82A}">
                    <a16:rowId xmlns:a16="http://schemas.microsoft.com/office/drawing/2014/main" val="4072459776"/>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2451.85</a:t>
                      </a:r>
                    </a:p>
                  </a:txBody>
                  <a:tcPr marL="55786" marR="55786" marT="27893" marB="27893" anchor="ctr"/>
                </a:tc>
                <a:tc>
                  <a:txBody>
                    <a:bodyPr/>
                    <a:lstStyle/>
                    <a:p>
                      <a:pPr algn="l"/>
                      <a:r>
                        <a:rPr lang="en-US" altLang="zh-CN" sz="1400" dirty="0">
                          <a:solidFill>
                            <a:srgbClr val="FF0000"/>
                          </a:solidFill>
                          <a:effectLst/>
                        </a:rPr>
                        <a:t>0.0022</a:t>
                      </a:r>
                    </a:p>
                  </a:txBody>
                  <a:tcPr marL="55786" marR="55786" marT="27893" marB="27893" anchor="ctr"/>
                </a:tc>
                <a:tc>
                  <a:txBody>
                    <a:bodyPr/>
                    <a:lstStyle/>
                    <a:p>
                      <a:pPr algn="l"/>
                      <a:r>
                        <a:rPr lang="en-US" altLang="zh-CN" sz="1400" dirty="0">
                          <a:solidFill>
                            <a:schemeClr val="tx1"/>
                          </a:solidFill>
                          <a:effectLst/>
                        </a:rPr>
                        <a:t>4</a:t>
                      </a:r>
                    </a:p>
                  </a:txBody>
                  <a:tcPr marL="55786" marR="55786" marT="27893" marB="27893" anchor="ctr"/>
                </a:tc>
                <a:extLst>
                  <a:ext uri="{0D108BD9-81ED-4DB2-BD59-A6C34878D82A}">
                    <a16:rowId xmlns:a16="http://schemas.microsoft.com/office/drawing/2014/main" val="1248543790"/>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2451.84</a:t>
                      </a:r>
                    </a:p>
                  </a:txBody>
                  <a:tcPr marL="55786" marR="55786" marT="27893" marB="27893" anchor="ctr"/>
                </a:tc>
                <a:tc>
                  <a:txBody>
                    <a:bodyPr/>
                    <a:lstStyle/>
                    <a:p>
                      <a:pPr algn="l"/>
                      <a:r>
                        <a:rPr lang="en-US" altLang="zh-CN" sz="1400" dirty="0">
                          <a:solidFill>
                            <a:srgbClr val="FF0000"/>
                          </a:solidFill>
                          <a:effectLst/>
                        </a:rPr>
                        <a:t>0.0043</a:t>
                      </a:r>
                    </a:p>
                  </a:txBody>
                  <a:tcPr marL="55786" marR="55786" marT="27893" marB="27893" anchor="ctr"/>
                </a:tc>
                <a:tc>
                  <a:txBody>
                    <a:bodyPr/>
                    <a:lstStyle/>
                    <a:p>
                      <a:pPr algn="l"/>
                      <a:r>
                        <a:rPr lang="en-US" altLang="zh-CN" sz="1400" dirty="0">
                          <a:solidFill>
                            <a:schemeClr val="tx1"/>
                          </a:solidFill>
                          <a:effectLst/>
                        </a:rPr>
                        <a:t>5</a:t>
                      </a:r>
                    </a:p>
                  </a:txBody>
                  <a:tcPr marL="55786" marR="55786" marT="27893" marB="27893" anchor="ctr"/>
                </a:tc>
                <a:extLst>
                  <a:ext uri="{0D108BD9-81ED-4DB2-BD59-A6C34878D82A}">
                    <a16:rowId xmlns:a16="http://schemas.microsoft.com/office/drawing/2014/main" val="2946884173"/>
                  </a:ext>
                </a:extLst>
              </a:tr>
            </a:tbl>
          </a:graphicData>
        </a:graphic>
      </p:graphicFrame>
      <p:sp>
        <p:nvSpPr>
          <p:cNvPr id="11" name="左右箭头 10">
            <a:extLst>
              <a:ext uri="{FF2B5EF4-FFF2-40B4-BE49-F238E27FC236}">
                <a16:creationId xmlns:a16="http://schemas.microsoft.com/office/drawing/2014/main" id="{37857140-171C-1411-DAE7-5723D272E721}"/>
              </a:ext>
            </a:extLst>
          </p:cNvPr>
          <p:cNvSpPr/>
          <p:nvPr/>
        </p:nvSpPr>
        <p:spPr>
          <a:xfrm>
            <a:off x="5744100" y="3692891"/>
            <a:ext cx="1103243" cy="218660"/>
          </a:xfrm>
          <a:prstGeom prst="leftRightArrow">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sp>
        <p:nvSpPr>
          <p:cNvPr id="12" name="文本框 11">
            <a:extLst>
              <a:ext uri="{FF2B5EF4-FFF2-40B4-BE49-F238E27FC236}">
                <a16:creationId xmlns:a16="http://schemas.microsoft.com/office/drawing/2014/main" id="{6129A156-4549-38A6-728F-944D729B23E3}"/>
              </a:ext>
            </a:extLst>
          </p:cNvPr>
          <p:cNvSpPr txBox="1"/>
          <p:nvPr/>
        </p:nvSpPr>
        <p:spPr>
          <a:xfrm>
            <a:off x="7232045" y="1072722"/>
            <a:ext cx="4403638" cy="471989"/>
          </a:xfrm>
          <a:prstGeom prst="rect">
            <a:avLst/>
          </a:prstGeom>
          <a:noFill/>
        </p:spPr>
        <p:txBody>
          <a:bodyPr wrap="square" rtlCol="0">
            <a:spAutoFit/>
          </a:bodyPr>
          <a:lstStyle/>
          <a:p>
            <a:pPr>
              <a:lnSpc>
                <a:spcPts val="3400"/>
              </a:lnSpc>
              <a:spcAft>
                <a:spcPts val="600"/>
              </a:spcAft>
            </a:pP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Standard Order Book Looks Like</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9088070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1268342" y="1620832"/>
            <a:ext cx="4403638" cy="471989"/>
          </a:xfrm>
          <a:prstGeom prst="rect">
            <a:avLst/>
          </a:prstGeom>
          <a:noFill/>
        </p:spPr>
        <p:txBody>
          <a:bodyPr wrap="square" rtlCol="0">
            <a:spAutoFit/>
          </a:bodyPr>
          <a:lstStyle/>
          <a:p>
            <a:pPr>
              <a:lnSpc>
                <a:spcPts val="3400"/>
              </a:lnSpc>
              <a:spcAft>
                <a:spcPts val="600"/>
              </a:spcAft>
            </a:pP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Order Book Maximum Depth</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extLst>
              <p:ext uri="{D42A27DB-BD31-4B8C-83A1-F6EECF244321}">
                <p14:modId xmlns:p14="http://schemas.microsoft.com/office/powerpoint/2010/main" val="883066698"/>
              </p:ext>
            </p:extLst>
          </p:nvPr>
        </p:nvGraphicFramePr>
        <p:xfrm>
          <a:off x="1195243" y="2321910"/>
          <a:ext cx="3718765" cy="3363271"/>
        </p:xfrm>
        <a:graphic>
          <a:graphicData uri="http://schemas.openxmlformats.org/drawingml/2006/table">
            <a:tbl>
              <a:tblPr firstRow="1">
                <a:tableStyleId>{17292A2E-F333-43FB-9621-5CBBE7FDCDCB}</a:tableStyleId>
              </a:tblPr>
              <a:tblGrid>
                <a:gridCol w="1745120">
                  <a:extLst>
                    <a:ext uri="{9D8B030D-6E8A-4147-A177-3AD203B41FA5}">
                      <a16:colId xmlns:a16="http://schemas.microsoft.com/office/drawing/2014/main" val="1251061446"/>
                    </a:ext>
                  </a:extLst>
                </a:gridCol>
                <a:gridCol w="1973645">
                  <a:extLst>
                    <a:ext uri="{9D8B030D-6E8A-4147-A177-3AD203B41FA5}">
                      <a16:colId xmlns:a16="http://schemas.microsoft.com/office/drawing/2014/main" val="1533997478"/>
                    </a:ext>
                  </a:extLst>
                </a:gridCol>
              </a:tblGrid>
              <a:tr h="891246">
                <a:tc>
                  <a:txBody>
                    <a:bodyPr/>
                    <a:lstStyle/>
                    <a:p>
                      <a:pPr algn="ctr" fontAlgn="ctr"/>
                      <a:r>
                        <a:rPr lang="en-US" sz="1400" dirty="0">
                          <a:effectLst/>
                        </a:rPr>
                        <a:t>Exchange</a:t>
                      </a:r>
                    </a:p>
                  </a:txBody>
                  <a:tcPr marL="55786" marR="55786" marT="27893" marB="27893" anchor="ctr"/>
                </a:tc>
                <a:tc>
                  <a:txBody>
                    <a:bodyPr/>
                    <a:lstStyle/>
                    <a:p>
                      <a:pPr algn="ctr" fontAlgn="ctr"/>
                      <a:r>
                        <a:rPr lang="en-US" sz="1400" dirty="0">
                          <a:effectLst/>
                        </a:rPr>
                        <a:t>Spot Data</a:t>
                      </a:r>
                    </a:p>
                  </a:txBody>
                  <a:tcPr marL="55786" marR="55786" marT="27893" marB="27893" anchor="ctr"/>
                </a:tc>
                <a:extLst>
                  <a:ext uri="{0D108BD9-81ED-4DB2-BD59-A6C34878D82A}">
                    <a16:rowId xmlns:a16="http://schemas.microsoft.com/office/drawing/2014/main" val="86650164"/>
                  </a:ext>
                </a:extLst>
              </a:tr>
              <a:tr h="494405">
                <a:tc>
                  <a:txBody>
                    <a:bodyPr/>
                    <a:lstStyle/>
                    <a:p>
                      <a:pPr algn="ctr"/>
                      <a:r>
                        <a:rPr lang="en-US" altLang="zh-CN" sz="1400" dirty="0" err="1">
                          <a:solidFill>
                            <a:schemeClr val="tx1"/>
                          </a:solidFill>
                          <a:effectLst/>
                        </a:rPr>
                        <a:t>Binance</a:t>
                      </a:r>
                      <a:endParaRPr lang="en-US" altLang="zh-CN" sz="1400" dirty="0">
                        <a:solidFill>
                          <a:schemeClr val="tx1"/>
                        </a:solidFill>
                        <a:effectLst/>
                      </a:endParaRPr>
                    </a:p>
                  </a:txBody>
                  <a:tcPr marL="55786" marR="55786" marT="27893" marB="27893" anchor="ctr"/>
                </a:tc>
                <a:tc>
                  <a:txBody>
                    <a:bodyPr/>
                    <a:lstStyle/>
                    <a:p>
                      <a:pPr algn="ctr"/>
                      <a:r>
                        <a:rPr lang="en-US" altLang="zh-CN" sz="1400" dirty="0">
                          <a:solidFill>
                            <a:schemeClr val="tx1"/>
                          </a:solidFill>
                          <a:effectLst/>
                        </a:rPr>
                        <a:t>5000</a:t>
                      </a:r>
                    </a:p>
                  </a:txBody>
                  <a:tcPr marL="55786" marR="55786" marT="27893" marB="27893" anchor="ctr"/>
                </a:tc>
                <a:extLst>
                  <a:ext uri="{0D108BD9-81ED-4DB2-BD59-A6C34878D82A}">
                    <a16:rowId xmlns:a16="http://schemas.microsoft.com/office/drawing/2014/main" val="1579447852"/>
                  </a:ext>
                </a:extLst>
              </a:tr>
              <a:tr h="494405">
                <a:tc>
                  <a:txBody>
                    <a:bodyPr/>
                    <a:lstStyle/>
                    <a:p>
                      <a:pPr algn="ctr"/>
                      <a:r>
                        <a:rPr lang="en-US" altLang="zh-CN" sz="1400" dirty="0" err="1">
                          <a:solidFill>
                            <a:schemeClr val="tx1"/>
                          </a:solidFill>
                          <a:effectLst/>
                        </a:rPr>
                        <a:t>Bitget</a:t>
                      </a:r>
                      <a:endParaRPr lang="en-US" altLang="zh-CN" sz="1400" dirty="0">
                        <a:solidFill>
                          <a:schemeClr val="tx1"/>
                        </a:solidFill>
                        <a:effectLst/>
                      </a:endParaRPr>
                    </a:p>
                  </a:txBody>
                  <a:tcPr marL="55786" marR="55786" marT="27893" marB="27893" anchor="ctr"/>
                </a:tc>
                <a:tc>
                  <a:txBody>
                    <a:bodyPr/>
                    <a:lstStyle/>
                    <a:p>
                      <a:pPr algn="ctr"/>
                      <a:r>
                        <a:rPr lang="en-US" altLang="zh-CN" sz="1400" dirty="0">
                          <a:solidFill>
                            <a:schemeClr val="tx1"/>
                          </a:solidFill>
                          <a:effectLst/>
                        </a:rPr>
                        <a:t>150</a:t>
                      </a:r>
                    </a:p>
                  </a:txBody>
                  <a:tcPr marL="55786" marR="55786" marT="27893" marB="27893" anchor="ctr"/>
                </a:tc>
                <a:extLst>
                  <a:ext uri="{0D108BD9-81ED-4DB2-BD59-A6C34878D82A}">
                    <a16:rowId xmlns:a16="http://schemas.microsoft.com/office/drawing/2014/main" val="4126301010"/>
                  </a:ext>
                </a:extLst>
              </a:tr>
              <a:tr h="494405">
                <a:tc>
                  <a:txBody>
                    <a:bodyPr/>
                    <a:lstStyle/>
                    <a:p>
                      <a:pPr algn="ctr"/>
                      <a:r>
                        <a:rPr lang="en-US" altLang="zh-CN" sz="1400" dirty="0" err="1">
                          <a:solidFill>
                            <a:schemeClr val="tx1"/>
                          </a:solidFill>
                          <a:effectLst/>
                        </a:rPr>
                        <a:t>BitMart</a:t>
                      </a:r>
                      <a:endParaRPr lang="en-US" altLang="zh-CN" sz="1400" dirty="0">
                        <a:solidFill>
                          <a:schemeClr val="tx1"/>
                        </a:solidFill>
                        <a:effectLst/>
                      </a:endParaRPr>
                    </a:p>
                  </a:txBody>
                  <a:tcPr marL="55786" marR="55786" marT="27893" marB="27893" anchor="ctr"/>
                </a:tc>
                <a:tc>
                  <a:txBody>
                    <a:bodyPr/>
                    <a:lstStyle/>
                    <a:p>
                      <a:pPr algn="ctr"/>
                      <a:r>
                        <a:rPr lang="en-US" altLang="zh-CN" sz="1400" dirty="0">
                          <a:solidFill>
                            <a:schemeClr val="tx1"/>
                          </a:solidFill>
                          <a:effectLst/>
                        </a:rPr>
                        <a:t>50</a:t>
                      </a:r>
                    </a:p>
                  </a:txBody>
                  <a:tcPr marL="55786" marR="55786" marT="27893" marB="27893" anchor="ctr"/>
                </a:tc>
                <a:extLst>
                  <a:ext uri="{0D108BD9-81ED-4DB2-BD59-A6C34878D82A}">
                    <a16:rowId xmlns:a16="http://schemas.microsoft.com/office/drawing/2014/main" val="2515177816"/>
                  </a:ext>
                </a:extLst>
              </a:tr>
              <a:tr h="494405">
                <a:tc>
                  <a:txBody>
                    <a:bodyPr/>
                    <a:lstStyle/>
                    <a:p>
                      <a:pPr algn="ctr"/>
                      <a:r>
                        <a:rPr lang="en-US" altLang="zh-CN" sz="1400" dirty="0" err="1">
                          <a:solidFill>
                            <a:schemeClr val="tx1"/>
                          </a:solidFill>
                          <a:effectLst/>
                        </a:rPr>
                        <a:t>Bybit</a:t>
                      </a:r>
                      <a:endParaRPr lang="en-US" altLang="zh-CN" sz="1400" dirty="0">
                        <a:solidFill>
                          <a:schemeClr val="tx1"/>
                        </a:solidFill>
                        <a:effectLst/>
                      </a:endParaRPr>
                    </a:p>
                  </a:txBody>
                  <a:tcPr marL="55786" marR="55786" marT="27893" marB="27893" anchor="ctr"/>
                </a:tc>
                <a:tc>
                  <a:txBody>
                    <a:bodyPr/>
                    <a:lstStyle/>
                    <a:p>
                      <a:pPr algn="ctr"/>
                      <a:r>
                        <a:rPr lang="en-US" altLang="zh-CN" sz="1400" dirty="0">
                          <a:solidFill>
                            <a:schemeClr val="tx1"/>
                          </a:solidFill>
                          <a:effectLst/>
                        </a:rPr>
                        <a:t>200</a:t>
                      </a:r>
                    </a:p>
                  </a:txBody>
                  <a:tcPr marL="55786" marR="55786" marT="27893" marB="27893" anchor="ctr"/>
                </a:tc>
                <a:extLst>
                  <a:ext uri="{0D108BD9-81ED-4DB2-BD59-A6C34878D82A}">
                    <a16:rowId xmlns:a16="http://schemas.microsoft.com/office/drawing/2014/main" val="1204151224"/>
                  </a:ext>
                </a:extLst>
              </a:tr>
              <a:tr h="494405">
                <a:tc>
                  <a:txBody>
                    <a:bodyPr/>
                    <a:lstStyle/>
                    <a:p>
                      <a:pPr algn="ctr"/>
                      <a:r>
                        <a:rPr lang="en-US" altLang="zh-CN" sz="1400" dirty="0">
                          <a:solidFill>
                            <a:schemeClr val="tx1"/>
                          </a:solidFill>
                          <a:effectLst/>
                        </a:rPr>
                        <a:t>OKX</a:t>
                      </a:r>
                    </a:p>
                  </a:txBody>
                  <a:tcPr marL="55786" marR="55786" marT="27893" marB="27893" anchor="ctr"/>
                </a:tc>
                <a:tc>
                  <a:txBody>
                    <a:bodyPr/>
                    <a:lstStyle/>
                    <a:p>
                      <a:pPr algn="ctr"/>
                      <a:r>
                        <a:rPr lang="en-US" altLang="zh-CN" sz="1400" dirty="0">
                          <a:solidFill>
                            <a:schemeClr val="tx1"/>
                          </a:solidFill>
                          <a:effectLst/>
                        </a:rPr>
                        <a:t>1000</a:t>
                      </a:r>
                    </a:p>
                  </a:txBody>
                  <a:tcPr marL="55786" marR="55786" marT="27893" marB="27893" anchor="ctr"/>
                </a:tc>
                <a:extLst>
                  <a:ext uri="{0D108BD9-81ED-4DB2-BD59-A6C34878D82A}">
                    <a16:rowId xmlns:a16="http://schemas.microsoft.com/office/drawing/2014/main" val="636278165"/>
                  </a:ext>
                </a:extLst>
              </a:tr>
            </a:tbl>
          </a:graphicData>
        </a:graphic>
      </p:graphicFrame>
      <p:graphicFrame>
        <p:nvGraphicFramePr>
          <p:cNvPr id="9" name="表格 8">
            <a:extLst>
              <a:ext uri="{FF2B5EF4-FFF2-40B4-BE49-F238E27FC236}">
                <a16:creationId xmlns:a16="http://schemas.microsoft.com/office/drawing/2014/main" id="{63D8E34E-DC91-9EC2-CEA6-FEEF1720307C}"/>
              </a:ext>
            </a:extLst>
          </p:cNvPr>
          <p:cNvGraphicFramePr>
            <a:graphicFrameLocks noGrp="1"/>
          </p:cNvGraphicFramePr>
          <p:nvPr>
            <p:extLst>
              <p:ext uri="{D42A27DB-BD31-4B8C-83A1-F6EECF244321}">
                <p14:modId xmlns:p14="http://schemas.microsoft.com/office/powerpoint/2010/main" val="1963869223"/>
              </p:ext>
            </p:extLst>
          </p:nvPr>
        </p:nvGraphicFramePr>
        <p:xfrm>
          <a:off x="7396162" y="1788006"/>
          <a:ext cx="3626334" cy="4206852"/>
        </p:xfrm>
        <a:graphic>
          <a:graphicData uri="http://schemas.openxmlformats.org/drawingml/2006/table">
            <a:tbl>
              <a:tblPr firstRow="1">
                <a:tableStyleId>{17292A2E-F333-43FB-9621-5CBBE7FDCDCB}</a:tableStyleId>
              </a:tblPr>
              <a:tblGrid>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tblGrid>
              <a:tr h="592340">
                <a:tc>
                  <a:txBody>
                    <a:bodyPr/>
                    <a:lstStyle/>
                    <a:p>
                      <a:pPr algn="l" fontAlgn="ctr"/>
                      <a:endParaRPr lang="en-US" sz="1400" dirty="0">
                        <a:effectLst/>
                      </a:endParaRPr>
                    </a:p>
                  </a:txBody>
                  <a:tcPr marL="55786" marR="55786" marT="27893" marB="27893" anchor="ctr"/>
                </a:tc>
                <a:tc>
                  <a:txBody>
                    <a:bodyPr/>
                    <a:lstStyle/>
                    <a:p>
                      <a:pPr algn="l" fontAlgn="ctr"/>
                      <a:r>
                        <a:rPr lang="en-US" sz="1400" dirty="0">
                          <a:effectLst/>
                        </a:rPr>
                        <a:t>price</a:t>
                      </a:r>
                    </a:p>
                  </a:txBody>
                  <a:tcPr marL="55786" marR="55786" marT="27893" marB="27893" anchor="ctr"/>
                </a:tc>
                <a:tc>
                  <a:txBody>
                    <a:bodyPr/>
                    <a:lstStyle/>
                    <a:p>
                      <a:pPr algn="l" fontAlgn="ctr"/>
                      <a:r>
                        <a:rPr lang="en-US" sz="1400" dirty="0">
                          <a:effectLst/>
                        </a:rPr>
                        <a:t>volume</a:t>
                      </a:r>
                    </a:p>
                  </a:txBody>
                  <a:tcPr marL="55786" marR="55786" marT="27893" marB="27893" anchor="ctr"/>
                </a:tc>
                <a:tc>
                  <a:txBody>
                    <a:bodyPr/>
                    <a:lstStyle/>
                    <a:p>
                      <a:pPr algn="l" fontAlgn="ctr"/>
                      <a:r>
                        <a:rPr lang="en-US" sz="1400" dirty="0">
                          <a:solidFill>
                            <a:schemeClr val="tx1"/>
                          </a:solidFill>
                          <a:effectLst/>
                        </a:rPr>
                        <a:t>Level</a:t>
                      </a: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2458.12</a:t>
                      </a:r>
                    </a:p>
                  </a:txBody>
                  <a:tcPr marL="55786" marR="55786" marT="27893" marB="27893" anchor="ctr"/>
                </a:tc>
                <a:tc>
                  <a:txBody>
                    <a:bodyPr/>
                    <a:lstStyle/>
                    <a:p>
                      <a:pPr algn="l"/>
                      <a:r>
                        <a:rPr lang="en-US" altLang="zh-CN" sz="1400" dirty="0">
                          <a:solidFill>
                            <a:srgbClr val="00B050"/>
                          </a:solidFill>
                          <a:effectLst/>
                        </a:rPr>
                        <a:t>0.0002</a:t>
                      </a:r>
                    </a:p>
                  </a:txBody>
                  <a:tcPr marL="55786" marR="55786" marT="27893" marB="27893" anchor="ctr"/>
                </a:tc>
                <a:tc>
                  <a:txBody>
                    <a:bodyPr/>
                    <a:lstStyle/>
                    <a:p>
                      <a:pPr algn="l"/>
                      <a:r>
                        <a:rPr lang="en-US" altLang="zh-CN" sz="1400" dirty="0">
                          <a:solidFill>
                            <a:schemeClr val="tx1"/>
                          </a:solidFill>
                          <a:effectLst/>
                        </a:rPr>
                        <a:t>5000</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a:t>
                      </a:r>
                    </a:p>
                  </a:txBody>
                  <a:tcPr marL="55786" marR="55786" marT="27893" marB="27893" anchor="ctr"/>
                </a:tc>
                <a:tc>
                  <a:txBody>
                    <a:bodyPr/>
                    <a:lstStyle/>
                    <a:p>
                      <a:pPr algn="l"/>
                      <a:r>
                        <a:rPr lang="en-US" altLang="zh-CN" sz="1400" dirty="0">
                          <a:solidFill>
                            <a:srgbClr val="00B050"/>
                          </a:solidFill>
                          <a:effectLst/>
                        </a:rPr>
                        <a:t>…</a:t>
                      </a:r>
                    </a:p>
                  </a:txBody>
                  <a:tcPr marL="55786" marR="55786" marT="27893" marB="27893" anchor="ctr"/>
                </a:tc>
                <a:tc>
                  <a:txBody>
                    <a:bodyPr/>
                    <a:lstStyle/>
                    <a:p>
                      <a:pPr algn="l"/>
                      <a:r>
                        <a:rPr lang="en-US" altLang="zh-CN" sz="1400" dirty="0">
                          <a:solidFill>
                            <a:schemeClr val="tx1"/>
                          </a:solidFill>
                          <a:effectLst/>
                        </a:rPr>
                        <a:t>…</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a:t>
                      </a:r>
                    </a:p>
                  </a:txBody>
                  <a:tcPr marL="55786" marR="55786" marT="27893" marB="27893" anchor="ctr"/>
                </a:tc>
                <a:tc>
                  <a:txBody>
                    <a:bodyPr/>
                    <a:lstStyle/>
                    <a:p>
                      <a:pPr algn="l"/>
                      <a:r>
                        <a:rPr lang="en-US" altLang="zh-CN" sz="1400" dirty="0">
                          <a:solidFill>
                            <a:srgbClr val="00B050"/>
                          </a:solidFill>
                          <a:effectLst/>
                        </a:rPr>
                        <a:t>…</a:t>
                      </a:r>
                    </a:p>
                  </a:txBody>
                  <a:tcPr marL="55786" marR="55786" marT="27893" marB="27893" anchor="ctr"/>
                </a:tc>
                <a:tc>
                  <a:txBody>
                    <a:bodyPr/>
                    <a:lstStyle/>
                    <a:p>
                      <a:pPr algn="l"/>
                      <a:r>
                        <a:rPr lang="en-US" altLang="zh-CN" sz="1400" dirty="0">
                          <a:solidFill>
                            <a:schemeClr val="tx1"/>
                          </a:solidFill>
                          <a:effectLst/>
                        </a:rPr>
                        <a:t>…</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2451.94</a:t>
                      </a:r>
                    </a:p>
                  </a:txBody>
                  <a:tcPr marL="55786" marR="55786" marT="27893" marB="27893" anchor="ctr"/>
                </a:tc>
                <a:tc>
                  <a:txBody>
                    <a:bodyPr/>
                    <a:lstStyle/>
                    <a:p>
                      <a:pPr algn="l"/>
                      <a:r>
                        <a:rPr lang="en-US" altLang="zh-CN" sz="1400" dirty="0">
                          <a:solidFill>
                            <a:srgbClr val="00B050"/>
                          </a:solidFill>
                          <a:effectLst/>
                        </a:rPr>
                        <a:t>0.7348</a:t>
                      </a:r>
                    </a:p>
                  </a:txBody>
                  <a:tcPr marL="55786" marR="55786" marT="27893" marB="27893" anchor="ctr"/>
                </a:tc>
                <a:tc>
                  <a:txBody>
                    <a:bodyPr/>
                    <a:lstStyle/>
                    <a:p>
                      <a:pPr algn="l"/>
                      <a:r>
                        <a:rPr lang="en-US" altLang="zh-CN" sz="1400" dirty="0">
                          <a:solidFill>
                            <a:schemeClr val="tx1"/>
                          </a:solidFill>
                          <a:effectLst/>
                        </a:rPr>
                        <a:t>2</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400" dirty="0">
                          <a:solidFill>
                            <a:srgbClr val="00B050"/>
                          </a:solidFill>
                          <a:effectLst/>
                        </a:rPr>
                        <a:t>Ask</a:t>
                      </a:r>
                    </a:p>
                  </a:txBody>
                  <a:tcPr marL="55786" marR="55786" marT="27893" marB="27893" anchor="ctr"/>
                </a:tc>
                <a:tc>
                  <a:txBody>
                    <a:bodyPr/>
                    <a:lstStyle/>
                    <a:p>
                      <a:pPr algn="l"/>
                      <a:r>
                        <a:rPr lang="en-US" altLang="zh-CN" sz="1400" dirty="0">
                          <a:solidFill>
                            <a:srgbClr val="00B050"/>
                          </a:solidFill>
                          <a:effectLst/>
                        </a:rPr>
                        <a:t>2451.93</a:t>
                      </a:r>
                    </a:p>
                  </a:txBody>
                  <a:tcPr marL="55786" marR="55786" marT="27893" marB="27893" anchor="ctr"/>
                </a:tc>
                <a:tc>
                  <a:txBody>
                    <a:bodyPr/>
                    <a:lstStyle/>
                    <a:p>
                      <a:pPr algn="l"/>
                      <a:r>
                        <a:rPr lang="en-US" altLang="zh-CN" sz="1400" dirty="0">
                          <a:solidFill>
                            <a:srgbClr val="00B050"/>
                          </a:solidFill>
                          <a:effectLst/>
                        </a:rPr>
                        <a:t>33.4367</a:t>
                      </a:r>
                    </a:p>
                  </a:txBody>
                  <a:tcPr marL="55786" marR="55786" marT="27893" marB="27893" anchor="ctr"/>
                </a:tc>
                <a:tc>
                  <a:txBody>
                    <a:bodyPr/>
                    <a:lstStyle/>
                    <a:p>
                      <a:pPr algn="l"/>
                      <a:r>
                        <a:rPr lang="en-US" altLang="zh-CN" sz="1400" dirty="0">
                          <a:solidFill>
                            <a:schemeClr val="tx1"/>
                          </a:solidFill>
                          <a:effectLst/>
                        </a:rPr>
                        <a:t>1</a:t>
                      </a:r>
                    </a:p>
                  </a:txBody>
                  <a:tcPr marL="55786" marR="55786" marT="27893" marB="27893" anchor="ctr"/>
                </a:tc>
                <a:extLst>
                  <a:ext uri="{0D108BD9-81ED-4DB2-BD59-A6C34878D82A}">
                    <a16:rowId xmlns:a16="http://schemas.microsoft.com/office/drawing/2014/main" val="636278165"/>
                  </a:ext>
                </a:extLst>
              </a:tr>
              <a:tr h="328592">
                <a:tc>
                  <a:txBody>
                    <a:bodyPr/>
                    <a:lstStyle/>
                    <a:p>
                      <a:pPr algn="l"/>
                      <a:endParaRPr lang="en-US" altLang="zh-CN" sz="1400" dirty="0">
                        <a:effectLst/>
                      </a:endParaRPr>
                    </a:p>
                  </a:txBody>
                  <a:tcPr marL="55786" marR="55786" marT="27893" marB="27893" anchor="ctr"/>
                </a:tc>
                <a:tc>
                  <a:txBody>
                    <a:bodyPr/>
                    <a:lstStyle/>
                    <a:p>
                      <a:pPr algn="l"/>
                      <a:endParaRPr lang="en-US" altLang="zh-CN" sz="1400" dirty="0">
                        <a:effectLst/>
                      </a:endParaRPr>
                    </a:p>
                  </a:txBody>
                  <a:tcPr marL="55786" marR="55786" marT="27893" marB="27893" anchor="ctr"/>
                </a:tc>
                <a:tc>
                  <a:txBody>
                    <a:bodyPr/>
                    <a:lstStyle/>
                    <a:p>
                      <a:pPr algn="l"/>
                      <a:endParaRPr lang="en-US" altLang="zh-CN" sz="1400" dirty="0">
                        <a:effectLst/>
                      </a:endParaRPr>
                    </a:p>
                  </a:txBody>
                  <a:tcPr marL="55786" marR="55786" marT="27893" marB="27893" anchor="ctr"/>
                </a:tc>
                <a:tc>
                  <a:txBody>
                    <a:bodyPr/>
                    <a:lstStyle/>
                    <a:p>
                      <a:pPr algn="l"/>
                      <a:endParaRPr lang="en-US" altLang="zh-CN" sz="1400" dirty="0">
                        <a:solidFill>
                          <a:schemeClr val="tx1"/>
                        </a:solidFill>
                        <a:effectLst/>
                      </a:endParaRPr>
                    </a:p>
                  </a:txBody>
                  <a:tcPr marL="55786" marR="55786" marT="27893" marB="27893" anchor="ctr"/>
                </a:tc>
                <a:extLst>
                  <a:ext uri="{0D108BD9-81ED-4DB2-BD59-A6C34878D82A}">
                    <a16:rowId xmlns:a16="http://schemas.microsoft.com/office/drawing/2014/main" val="810324768"/>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2451.92</a:t>
                      </a:r>
                    </a:p>
                  </a:txBody>
                  <a:tcPr marL="55786" marR="55786" marT="27893" marB="27893" anchor="ctr"/>
                </a:tc>
                <a:tc>
                  <a:txBody>
                    <a:bodyPr/>
                    <a:lstStyle/>
                    <a:p>
                      <a:pPr algn="l"/>
                      <a:r>
                        <a:rPr lang="en-US" altLang="zh-CN" sz="1400">
                          <a:solidFill>
                            <a:srgbClr val="FF0000"/>
                          </a:solidFill>
                          <a:effectLst/>
                        </a:rPr>
                        <a:t>2.4135</a:t>
                      </a:r>
                    </a:p>
                  </a:txBody>
                  <a:tcPr marL="55786" marR="55786" marT="27893" marB="27893" anchor="ctr"/>
                </a:tc>
                <a:tc>
                  <a:txBody>
                    <a:bodyPr/>
                    <a:lstStyle/>
                    <a:p>
                      <a:pPr algn="l"/>
                      <a:r>
                        <a:rPr lang="en-US" altLang="zh-CN" sz="1400" dirty="0">
                          <a:solidFill>
                            <a:schemeClr val="tx1"/>
                          </a:solidFill>
                          <a:effectLst/>
                        </a:rPr>
                        <a:t>1</a:t>
                      </a:r>
                    </a:p>
                  </a:txBody>
                  <a:tcPr marL="55786" marR="55786" marT="27893" marB="27893" anchor="ctr"/>
                </a:tc>
                <a:extLst>
                  <a:ext uri="{0D108BD9-81ED-4DB2-BD59-A6C34878D82A}">
                    <a16:rowId xmlns:a16="http://schemas.microsoft.com/office/drawing/2014/main" val="4102486281"/>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2451.91</a:t>
                      </a:r>
                    </a:p>
                  </a:txBody>
                  <a:tcPr marL="55786" marR="55786" marT="27893" marB="27893" anchor="ctr"/>
                </a:tc>
                <a:tc>
                  <a:txBody>
                    <a:bodyPr/>
                    <a:lstStyle/>
                    <a:p>
                      <a:pPr algn="l"/>
                      <a:r>
                        <a:rPr lang="en-US" altLang="zh-CN" sz="1400" dirty="0">
                          <a:solidFill>
                            <a:srgbClr val="FF0000"/>
                          </a:solidFill>
                          <a:effectLst/>
                        </a:rPr>
                        <a:t>0.0232</a:t>
                      </a:r>
                    </a:p>
                  </a:txBody>
                  <a:tcPr marL="55786" marR="55786" marT="27893" marB="27893" anchor="ctr"/>
                </a:tc>
                <a:tc>
                  <a:txBody>
                    <a:bodyPr/>
                    <a:lstStyle/>
                    <a:p>
                      <a:pPr algn="l"/>
                      <a:r>
                        <a:rPr lang="en-US" altLang="zh-CN" sz="1400" dirty="0">
                          <a:solidFill>
                            <a:schemeClr val="tx1"/>
                          </a:solidFill>
                          <a:effectLst/>
                        </a:rPr>
                        <a:t>2</a:t>
                      </a:r>
                    </a:p>
                  </a:txBody>
                  <a:tcPr marL="55786" marR="55786" marT="27893" marB="27893" anchor="ctr"/>
                </a:tc>
                <a:extLst>
                  <a:ext uri="{0D108BD9-81ED-4DB2-BD59-A6C34878D82A}">
                    <a16:rowId xmlns:a16="http://schemas.microsoft.com/office/drawing/2014/main" val="3099356725"/>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a:t>
                      </a:r>
                    </a:p>
                  </a:txBody>
                  <a:tcPr marL="55786" marR="55786" marT="27893" marB="27893" anchor="ctr"/>
                </a:tc>
                <a:tc>
                  <a:txBody>
                    <a:bodyPr/>
                    <a:lstStyle/>
                    <a:p>
                      <a:pPr algn="l"/>
                      <a:r>
                        <a:rPr lang="en-US" altLang="zh-CN" sz="1400" dirty="0">
                          <a:solidFill>
                            <a:srgbClr val="FF0000"/>
                          </a:solidFill>
                          <a:effectLst/>
                        </a:rPr>
                        <a:t>…</a:t>
                      </a:r>
                    </a:p>
                  </a:txBody>
                  <a:tcPr marL="55786" marR="55786" marT="27893" marB="27893" anchor="ctr"/>
                </a:tc>
                <a:tc>
                  <a:txBody>
                    <a:bodyPr/>
                    <a:lstStyle/>
                    <a:p>
                      <a:pPr algn="l"/>
                      <a:r>
                        <a:rPr lang="en-US" altLang="zh-CN" sz="1400" dirty="0">
                          <a:solidFill>
                            <a:schemeClr val="tx1"/>
                          </a:solidFill>
                          <a:effectLst/>
                        </a:rPr>
                        <a:t>…</a:t>
                      </a:r>
                    </a:p>
                  </a:txBody>
                  <a:tcPr marL="55786" marR="55786" marT="27893" marB="27893" anchor="ctr"/>
                </a:tc>
                <a:extLst>
                  <a:ext uri="{0D108BD9-81ED-4DB2-BD59-A6C34878D82A}">
                    <a16:rowId xmlns:a16="http://schemas.microsoft.com/office/drawing/2014/main" val="4072459776"/>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a:t>
                      </a:r>
                    </a:p>
                  </a:txBody>
                  <a:tcPr marL="55786" marR="55786" marT="27893" marB="27893" anchor="ctr"/>
                </a:tc>
                <a:tc>
                  <a:txBody>
                    <a:bodyPr/>
                    <a:lstStyle/>
                    <a:p>
                      <a:pPr algn="l"/>
                      <a:r>
                        <a:rPr lang="en-US" altLang="zh-CN" sz="1400" dirty="0">
                          <a:solidFill>
                            <a:srgbClr val="FF0000"/>
                          </a:solidFill>
                          <a:effectLst/>
                        </a:rPr>
                        <a:t>…</a:t>
                      </a:r>
                    </a:p>
                  </a:txBody>
                  <a:tcPr marL="55786" marR="55786" marT="27893" marB="27893" anchor="ctr"/>
                </a:tc>
                <a:tc>
                  <a:txBody>
                    <a:bodyPr/>
                    <a:lstStyle/>
                    <a:p>
                      <a:pPr algn="l"/>
                      <a:r>
                        <a:rPr lang="en-US" altLang="zh-CN" sz="1400" dirty="0">
                          <a:solidFill>
                            <a:schemeClr val="tx1"/>
                          </a:solidFill>
                          <a:effectLst/>
                        </a:rPr>
                        <a:t>…</a:t>
                      </a:r>
                    </a:p>
                  </a:txBody>
                  <a:tcPr marL="55786" marR="55786" marT="27893" marB="27893" anchor="ctr"/>
                </a:tc>
                <a:extLst>
                  <a:ext uri="{0D108BD9-81ED-4DB2-BD59-A6C34878D82A}">
                    <a16:rowId xmlns:a16="http://schemas.microsoft.com/office/drawing/2014/main" val="1248543790"/>
                  </a:ext>
                </a:extLst>
              </a:tr>
              <a:tr h="328592">
                <a:tc>
                  <a:txBody>
                    <a:bodyPr/>
                    <a:lstStyle/>
                    <a:p>
                      <a:pPr algn="l"/>
                      <a:r>
                        <a:rPr lang="en-US" altLang="zh-CN" sz="1400" dirty="0">
                          <a:solidFill>
                            <a:srgbClr val="FF0000"/>
                          </a:solidFill>
                          <a:effectLst/>
                        </a:rPr>
                        <a:t>Bid</a:t>
                      </a:r>
                    </a:p>
                  </a:txBody>
                  <a:tcPr marL="55786" marR="55786" marT="27893" marB="27893" anchor="ctr"/>
                </a:tc>
                <a:tc>
                  <a:txBody>
                    <a:bodyPr/>
                    <a:lstStyle/>
                    <a:p>
                      <a:pPr algn="l"/>
                      <a:r>
                        <a:rPr lang="en-US" altLang="zh-CN" sz="1400" dirty="0">
                          <a:solidFill>
                            <a:srgbClr val="FF0000"/>
                          </a:solidFill>
                          <a:effectLst/>
                        </a:rPr>
                        <a:t>2443.84</a:t>
                      </a:r>
                    </a:p>
                  </a:txBody>
                  <a:tcPr marL="55786" marR="55786" marT="27893" marB="27893" anchor="ctr"/>
                </a:tc>
                <a:tc>
                  <a:txBody>
                    <a:bodyPr/>
                    <a:lstStyle/>
                    <a:p>
                      <a:pPr algn="l"/>
                      <a:r>
                        <a:rPr lang="en-US" altLang="zh-CN" sz="1400" dirty="0">
                          <a:solidFill>
                            <a:srgbClr val="FF0000"/>
                          </a:solidFill>
                          <a:effectLst/>
                        </a:rPr>
                        <a:t>0.0003</a:t>
                      </a:r>
                    </a:p>
                  </a:txBody>
                  <a:tcPr marL="55786" marR="55786" marT="27893" marB="27893" anchor="ctr"/>
                </a:tc>
                <a:tc>
                  <a:txBody>
                    <a:bodyPr/>
                    <a:lstStyle/>
                    <a:p>
                      <a:pPr algn="l"/>
                      <a:r>
                        <a:rPr lang="en-US" altLang="zh-CN" sz="1400" dirty="0">
                          <a:solidFill>
                            <a:schemeClr val="tx1"/>
                          </a:solidFill>
                          <a:effectLst/>
                        </a:rPr>
                        <a:t>5000</a:t>
                      </a:r>
                    </a:p>
                  </a:txBody>
                  <a:tcPr marL="55786" marR="55786" marT="27893" marB="27893" anchor="ctr"/>
                </a:tc>
                <a:extLst>
                  <a:ext uri="{0D108BD9-81ED-4DB2-BD59-A6C34878D82A}">
                    <a16:rowId xmlns:a16="http://schemas.microsoft.com/office/drawing/2014/main" val="2946884173"/>
                  </a:ext>
                </a:extLst>
              </a:tr>
            </a:tbl>
          </a:graphicData>
        </a:graphic>
      </p:graphicFrame>
      <p:sp>
        <p:nvSpPr>
          <p:cNvPr id="10" name="左右箭头 9">
            <a:extLst>
              <a:ext uri="{FF2B5EF4-FFF2-40B4-BE49-F238E27FC236}">
                <a16:creationId xmlns:a16="http://schemas.microsoft.com/office/drawing/2014/main" id="{619712F6-7080-45F7-16E2-F1C6FB4C7640}"/>
              </a:ext>
            </a:extLst>
          </p:cNvPr>
          <p:cNvSpPr/>
          <p:nvPr/>
        </p:nvSpPr>
        <p:spPr>
          <a:xfrm>
            <a:off x="4424019" y="3399183"/>
            <a:ext cx="2712276" cy="149087"/>
          </a:xfrm>
          <a:prstGeom prst="leftRightArrow">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2902319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3"/>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50514"/>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extLst>
              <p:ext uri="{D42A27DB-BD31-4B8C-83A1-F6EECF244321}">
                <p14:modId xmlns:p14="http://schemas.microsoft.com/office/powerpoint/2010/main" val="1233314281"/>
              </p:ext>
            </p:extLst>
          </p:nvPr>
        </p:nvGraphicFramePr>
        <p:xfrm>
          <a:off x="716225" y="1906392"/>
          <a:ext cx="10668832" cy="2247386"/>
        </p:xfrm>
        <a:graphic>
          <a:graphicData uri="http://schemas.openxmlformats.org/drawingml/2006/table">
            <a:tbl>
              <a:tblPr firstRow="1">
                <a:tableStyleId>{17292A2E-F333-43FB-9621-5CBBE7FDCDCB}</a:tableStyleId>
              </a:tblPr>
              <a:tblGrid>
                <a:gridCol w="1048902">
                  <a:extLst>
                    <a:ext uri="{9D8B030D-6E8A-4147-A177-3AD203B41FA5}">
                      <a16:colId xmlns:a16="http://schemas.microsoft.com/office/drawing/2014/main" val="3296463271"/>
                    </a:ext>
                  </a:extLst>
                </a:gridCol>
                <a:gridCol w="1048902">
                  <a:extLst>
                    <a:ext uri="{9D8B030D-6E8A-4147-A177-3AD203B41FA5}">
                      <a16:colId xmlns:a16="http://schemas.microsoft.com/office/drawing/2014/main" val="1719103559"/>
                    </a:ext>
                  </a:extLst>
                </a:gridCol>
                <a:gridCol w="1201380">
                  <a:extLst>
                    <a:ext uri="{9D8B030D-6E8A-4147-A177-3AD203B41FA5}">
                      <a16:colId xmlns:a16="http://schemas.microsoft.com/office/drawing/2014/main" val="1404790348"/>
                    </a:ext>
                  </a:extLst>
                </a:gridCol>
                <a:gridCol w="1222513">
                  <a:extLst>
                    <a:ext uri="{9D8B030D-6E8A-4147-A177-3AD203B41FA5}">
                      <a16:colId xmlns:a16="http://schemas.microsoft.com/office/drawing/2014/main" val="2149117866"/>
                    </a:ext>
                  </a:extLst>
                </a:gridCol>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1292087">
                  <a:extLst>
                    <a:ext uri="{9D8B030D-6E8A-4147-A177-3AD203B41FA5}">
                      <a16:colId xmlns:a16="http://schemas.microsoft.com/office/drawing/2014/main" val="2834461086"/>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gridCol w="1228714">
                  <a:extLst>
                    <a:ext uri="{9D8B030D-6E8A-4147-A177-3AD203B41FA5}">
                      <a16:colId xmlns:a16="http://schemas.microsoft.com/office/drawing/2014/main" val="4070845411"/>
                    </a:ext>
                  </a:extLst>
                </a:gridCol>
              </a:tblGrid>
              <a:tr h="592340">
                <a:tc>
                  <a:txBody>
                    <a:bodyPr/>
                    <a:lstStyle/>
                    <a:p>
                      <a:pPr algn="l" fontAlgn="ctr"/>
                      <a:r>
                        <a:rPr lang="en-US" sz="1200" dirty="0">
                          <a:effectLst/>
                        </a:rPr>
                        <a:t>sequence</a:t>
                      </a:r>
                    </a:p>
                  </a:txBody>
                  <a:tcPr marL="55786" marR="55786" marT="27893" marB="27893" anchor="ctr"/>
                </a:tc>
                <a:tc>
                  <a:txBody>
                    <a:bodyPr/>
                    <a:lstStyle/>
                    <a:p>
                      <a:pPr algn="l" fontAlgn="ctr"/>
                      <a:r>
                        <a:rPr lang="en-US" sz="1200" dirty="0" err="1">
                          <a:effectLst/>
                        </a:rPr>
                        <a:t>exchangeTimestampNanoseconds</a:t>
                      </a:r>
                      <a:endParaRPr lang="en-US" sz="1200" dirty="0">
                        <a:effectLst/>
                      </a:endParaRPr>
                    </a:p>
                  </a:txBody>
                  <a:tcPr marL="55786" marR="55786" marT="27893" marB="27893" anchor="ctr"/>
                </a:tc>
                <a:tc>
                  <a:txBody>
                    <a:bodyPr/>
                    <a:lstStyle/>
                    <a:p>
                      <a:pPr algn="l" fontAlgn="ctr"/>
                      <a:r>
                        <a:rPr lang="en-US" sz="1200" dirty="0" err="1">
                          <a:effectLst/>
                        </a:rPr>
                        <a:t>exchangeTimestamp</a:t>
                      </a:r>
                      <a:endParaRPr lang="en-US" sz="1200" dirty="0">
                        <a:effectLst/>
                      </a:endParaRPr>
                    </a:p>
                  </a:txBody>
                  <a:tcPr marL="55786" marR="55786" marT="27893" marB="27893" anchor="ctr"/>
                </a:tc>
                <a:tc>
                  <a:txBody>
                    <a:bodyPr/>
                    <a:lstStyle/>
                    <a:p>
                      <a:pPr algn="l" fontAlgn="ctr"/>
                      <a:r>
                        <a:rPr lang="en-US" sz="1200" dirty="0">
                          <a:effectLst/>
                        </a:rPr>
                        <a:t>timestamp</a:t>
                      </a:r>
                    </a:p>
                  </a:txBody>
                  <a:tcPr marL="55786" marR="55786" marT="27893" marB="27893" anchor="ctr"/>
                </a:tc>
                <a:tc>
                  <a:txBody>
                    <a:bodyPr/>
                    <a:lstStyle/>
                    <a:p>
                      <a:pPr algn="l" fontAlgn="ctr"/>
                      <a:r>
                        <a:rPr lang="en-US" sz="1200" dirty="0" err="1">
                          <a:effectLst/>
                        </a:rPr>
                        <a:t>ask_price</a:t>
                      </a:r>
                      <a:endParaRPr lang="en-US" sz="1200" dirty="0">
                        <a:effectLst/>
                      </a:endParaRPr>
                    </a:p>
                  </a:txBody>
                  <a:tcPr marL="55786" marR="55786" marT="27893" marB="27893" anchor="ctr"/>
                </a:tc>
                <a:tc>
                  <a:txBody>
                    <a:bodyPr/>
                    <a:lstStyle/>
                    <a:p>
                      <a:pPr algn="l" fontAlgn="ctr"/>
                      <a:r>
                        <a:rPr lang="en-US" sz="1200" dirty="0" err="1">
                          <a:effectLst/>
                        </a:rPr>
                        <a:t>ask_volume</a:t>
                      </a:r>
                      <a:endParaRPr lang="en-US" sz="1200" dirty="0">
                        <a:effectLst/>
                      </a:endParaRPr>
                    </a:p>
                  </a:txBody>
                  <a:tcPr marL="55786" marR="55786" marT="27893" marB="27893" anchor="ctr"/>
                </a:tc>
                <a:tc>
                  <a:txBody>
                    <a:bodyPr/>
                    <a:lstStyle/>
                    <a:p>
                      <a:pPr algn="l" fontAlgn="ctr"/>
                      <a:r>
                        <a:rPr lang="en-US" sz="1200">
                          <a:effectLst/>
                        </a:rPr>
                        <a:t>ask_numOrders</a:t>
                      </a:r>
                    </a:p>
                  </a:txBody>
                  <a:tcPr marL="55786" marR="55786" marT="27893" marB="27893" anchor="ctr"/>
                </a:tc>
                <a:tc>
                  <a:txBody>
                    <a:bodyPr/>
                    <a:lstStyle/>
                    <a:p>
                      <a:pPr algn="l" fontAlgn="ctr"/>
                      <a:r>
                        <a:rPr lang="en-US" sz="1200">
                          <a:effectLst/>
                        </a:rPr>
                        <a:t>bid_price</a:t>
                      </a:r>
                    </a:p>
                  </a:txBody>
                  <a:tcPr marL="55786" marR="55786" marT="27893" marB="27893" anchor="ctr"/>
                </a:tc>
                <a:tc>
                  <a:txBody>
                    <a:bodyPr/>
                    <a:lstStyle/>
                    <a:p>
                      <a:pPr algn="l" fontAlgn="ctr"/>
                      <a:r>
                        <a:rPr lang="en-US" sz="1200" dirty="0" err="1">
                          <a:effectLst/>
                        </a:rPr>
                        <a:t>bid_volume</a:t>
                      </a:r>
                      <a:endParaRPr lang="en-US" sz="1200" dirty="0">
                        <a:effectLst/>
                      </a:endParaRPr>
                    </a:p>
                  </a:txBody>
                  <a:tcPr marL="55786" marR="55786" marT="27893" marB="27893" anchor="ctr"/>
                </a:tc>
                <a:tc>
                  <a:txBody>
                    <a:bodyPr/>
                    <a:lstStyle/>
                    <a:p>
                      <a:pPr algn="l" fontAlgn="ctr"/>
                      <a:r>
                        <a:rPr lang="en-US" sz="1200" dirty="0" err="1">
                          <a:effectLst/>
                        </a:rPr>
                        <a:t>bid_numOrders</a:t>
                      </a:r>
                      <a:endParaRPr lang="en-US" sz="1200" dirty="0">
                        <a:effectLst/>
                      </a:endParaRP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dirty="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2451.93</a:t>
                      </a:r>
                    </a:p>
                  </a:txBody>
                  <a:tcPr marL="55786" marR="55786" marT="27893" marB="27893" anchor="ctr"/>
                </a:tc>
                <a:tc>
                  <a:txBody>
                    <a:bodyPr/>
                    <a:lstStyle/>
                    <a:p>
                      <a:pPr algn="l"/>
                      <a:r>
                        <a:rPr lang="en-US" altLang="zh-CN" sz="1200">
                          <a:effectLst/>
                        </a:rPr>
                        <a:t>33.4367</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2451.92</a:t>
                      </a:r>
                    </a:p>
                  </a:txBody>
                  <a:tcPr marL="55786" marR="55786" marT="27893" marB="27893" anchor="ctr"/>
                </a:tc>
                <a:tc>
                  <a:txBody>
                    <a:bodyPr/>
                    <a:lstStyle/>
                    <a:p>
                      <a:pPr algn="l"/>
                      <a:r>
                        <a:rPr lang="en-US" altLang="zh-CN" sz="1200">
                          <a:effectLst/>
                        </a:rPr>
                        <a:t>2.4135</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dirty="0">
                          <a:effectLst/>
                        </a:rPr>
                        <a:t>1769904000000</a:t>
                      </a:r>
                    </a:p>
                  </a:txBody>
                  <a:tcPr marL="55786" marR="55786" marT="27893" marB="27893" anchor="ctr"/>
                </a:tc>
                <a:tc>
                  <a:txBody>
                    <a:bodyPr/>
                    <a:lstStyle/>
                    <a:p>
                      <a:pPr algn="l"/>
                      <a:r>
                        <a:rPr lang="en-US" altLang="zh-CN" sz="1200">
                          <a:effectLst/>
                        </a:rPr>
                        <a:t>2451.94</a:t>
                      </a:r>
                    </a:p>
                  </a:txBody>
                  <a:tcPr marL="55786" marR="55786" marT="27893" marB="27893" anchor="ctr"/>
                </a:tc>
                <a:tc>
                  <a:txBody>
                    <a:bodyPr/>
                    <a:lstStyle/>
                    <a:p>
                      <a:pPr algn="l"/>
                      <a:r>
                        <a:rPr lang="en-US" altLang="zh-CN" sz="1200">
                          <a:effectLst/>
                        </a:rPr>
                        <a:t>0.7348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2451.91</a:t>
                      </a:r>
                    </a:p>
                  </a:txBody>
                  <a:tcPr marL="55786" marR="55786" marT="27893" marB="27893" anchor="ctr"/>
                </a:tc>
                <a:tc>
                  <a:txBody>
                    <a:bodyPr/>
                    <a:lstStyle/>
                    <a:p>
                      <a:pPr algn="l"/>
                      <a:r>
                        <a:rPr lang="en-US" altLang="zh-CN" sz="1200">
                          <a:effectLst/>
                        </a:rPr>
                        <a:t>0.0232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2451.95</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2451.86</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2451.96</a:t>
                      </a:r>
                    </a:p>
                  </a:txBody>
                  <a:tcPr marL="55786" marR="55786" marT="27893" marB="27893" anchor="ctr"/>
                </a:tc>
                <a:tc>
                  <a:txBody>
                    <a:bodyPr/>
                    <a:lstStyle/>
                    <a:p>
                      <a:pPr algn="l"/>
                      <a:r>
                        <a:rPr lang="en-US" altLang="zh-CN" sz="1200">
                          <a:effectLst/>
                        </a:rPr>
                        <a:t>1.2068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2451.85</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2451.97</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2451.84</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dirty="0">
                          <a:effectLst/>
                        </a:rPr>
                        <a:t>None</a:t>
                      </a:r>
                    </a:p>
                  </a:txBody>
                  <a:tcPr marL="55786" marR="55786" marT="27893" marB="27893" anchor="ctr"/>
                </a:tc>
                <a:extLst>
                  <a:ext uri="{0D108BD9-81ED-4DB2-BD59-A6C34878D82A}">
                    <a16:rowId xmlns:a16="http://schemas.microsoft.com/office/drawing/2014/main" val="636278165"/>
                  </a:ext>
                </a:extLst>
              </a:tr>
            </a:tbl>
          </a:graphicData>
        </a:graphic>
      </p:graphicFrame>
      <p:sp>
        <p:nvSpPr>
          <p:cNvPr id="6" name="文本框 5">
            <a:extLst>
              <a:ext uri="{FF2B5EF4-FFF2-40B4-BE49-F238E27FC236}">
                <a16:creationId xmlns:a16="http://schemas.microsoft.com/office/drawing/2014/main" id="{7F34C079-2D94-71F8-3952-48520DE41E0B}"/>
              </a:ext>
            </a:extLst>
          </p:cNvPr>
          <p:cNvSpPr txBox="1"/>
          <p:nvPr/>
        </p:nvSpPr>
        <p:spPr>
          <a:xfrm>
            <a:off x="615623" y="4207159"/>
            <a:ext cx="11251699" cy="2364686"/>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sequence: A unique identifier for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order book state</a:t>
            </a:r>
            <a:r>
              <a:rPr kumimoji="1" lang="en-US" altLang="zh-CN" dirty="0">
                <a:latin typeface="Tahoma" panose="020B0604030504040204" pitchFamily="34" charset="0"/>
                <a:ea typeface="Tahoma" panose="020B0604030504040204" pitchFamily="34" charset="0"/>
                <a:cs typeface="Tahoma" panose="020B0604030504040204" pitchFamily="34" charset="0"/>
              </a:rPr>
              <a:t>, provided by the exchange (null if not provided). Each time the order book changes (e.g., an order is added, modified, or removed) (here is 1-min snapshots), the sequence number increments</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The last bid/ask updated timestamp as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provided by the exchange</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timestamp: The time at which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data vendor captured/recorded</a:t>
            </a:r>
            <a:r>
              <a:rPr kumimoji="1" lang="en-US" altLang="zh-CN" dirty="0">
                <a:latin typeface="Tahoma" panose="020B0604030504040204" pitchFamily="34" charset="0"/>
                <a:ea typeface="Tahoma" panose="020B0604030504040204" pitchFamily="34" charset="0"/>
                <a:cs typeface="Tahoma" panose="020B0604030504040204" pitchFamily="34" charset="0"/>
              </a:rPr>
              <a:t> this snapshot</a:t>
            </a:r>
          </a:p>
        </p:txBody>
      </p:sp>
    </p:spTree>
    <p:extLst>
      <p:ext uri="{BB962C8B-B14F-4D97-AF65-F5344CB8AC3E}">
        <p14:creationId xmlns:p14="http://schemas.microsoft.com/office/powerpoint/2010/main" val="25712660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50514"/>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nvGraphicFramePr>
        <p:xfrm>
          <a:off x="716225" y="1906392"/>
          <a:ext cx="10668832" cy="2247386"/>
        </p:xfrm>
        <a:graphic>
          <a:graphicData uri="http://schemas.openxmlformats.org/drawingml/2006/table">
            <a:tbl>
              <a:tblPr firstRow="1">
                <a:tableStyleId>{17292A2E-F333-43FB-9621-5CBBE7FDCDCB}</a:tableStyleId>
              </a:tblPr>
              <a:tblGrid>
                <a:gridCol w="1048902">
                  <a:extLst>
                    <a:ext uri="{9D8B030D-6E8A-4147-A177-3AD203B41FA5}">
                      <a16:colId xmlns:a16="http://schemas.microsoft.com/office/drawing/2014/main" val="3296463271"/>
                    </a:ext>
                  </a:extLst>
                </a:gridCol>
                <a:gridCol w="1048902">
                  <a:extLst>
                    <a:ext uri="{9D8B030D-6E8A-4147-A177-3AD203B41FA5}">
                      <a16:colId xmlns:a16="http://schemas.microsoft.com/office/drawing/2014/main" val="1719103559"/>
                    </a:ext>
                  </a:extLst>
                </a:gridCol>
                <a:gridCol w="1201380">
                  <a:extLst>
                    <a:ext uri="{9D8B030D-6E8A-4147-A177-3AD203B41FA5}">
                      <a16:colId xmlns:a16="http://schemas.microsoft.com/office/drawing/2014/main" val="1404790348"/>
                    </a:ext>
                  </a:extLst>
                </a:gridCol>
                <a:gridCol w="1222513">
                  <a:extLst>
                    <a:ext uri="{9D8B030D-6E8A-4147-A177-3AD203B41FA5}">
                      <a16:colId xmlns:a16="http://schemas.microsoft.com/office/drawing/2014/main" val="2149117866"/>
                    </a:ext>
                  </a:extLst>
                </a:gridCol>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1292087">
                  <a:extLst>
                    <a:ext uri="{9D8B030D-6E8A-4147-A177-3AD203B41FA5}">
                      <a16:colId xmlns:a16="http://schemas.microsoft.com/office/drawing/2014/main" val="2834461086"/>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gridCol w="1228714">
                  <a:extLst>
                    <a:ext uri="{9D8B030D-6E8A-4147-A177-3AD203B41FA5}">
                      <a16:colId xmlns:a16="http://schemas.microsoft.com/office/drawing/2014/main" val="4070845411"/>
                    </a:ext>
                  </a:extLst>
                </a:gridCol>
              </a:tblGrid>
              <a:tr h="592340">
                <a:tc>
                  <a:txBody>
                    <a:bodyPr/>
                    <a:lstStyle/>
                    <a:p>
                      <a:pPr algn="l" fontAlgn="ctr"/>
                      <a:r>
                        <a:rPr lang="en-US" sz="1200" dirty="0">
                          <a:effectLst/>
                        </a:rPr>
                        <a:t>sequence</a:t>
                      </a:r>
                    </a:p>
                  </a:txBody>
                  <a:tcPr marL="55786" marR="55786" marT="27893" marB="27893" anchor="ctr"/>
                </a:tc>
                <a:tc>
                  <a:txBody>
                    <a:bodyPr/>
                    <a:lstStyle/>
                    <a:p>
                      <a:pPr algn="l" fontAlgn="ctr"/>
                      <a:r>
                        <a:rPr lang="en-US" sz="1200" dirty="0" err="1">
                          <a:effectLst/>
                        </a:rPr>
                        <a:t>exchangeTimestampNanoseconds</a:t>
                      </a:r>
                      <a:endParaRPr lang="en-US" sz="1200" dirty="0">
                        <a:effectLst/>
                      </a:endParaRPr>
                    </a:p>
                  </a:txBody>
                  <a:tcPr marL="55786" marR="55786" marT="27893" marB="27893" anchor="ctr"/>
                </a:tc>
                <a:tc>
                  <a:txBody>
                    <a:bodyPr/>
                    <a:lstStyle/>
                    <a:p>
                      <a:pPr algn="l" fontAlgn="ctr"/>
                      <a:r>
                        <a:rPr lang="en-US" sz="1200" dirty="0" err="1">
                          <a:effectLst/>
                        </a:rPr>
                        <a:t>exchangeTimestamp</a:t>
                      </a:r>
                      <a:endParaRPr lang="en-US" sz="1200" dirty="0">
                        <a:effectLst/>
                      </a:endParaRPr>
                    </a:p>
                  </a:txBody>
                  <a:tcPr marL="55786" marR="55786" marT="27893" marB="27893" anchor="ctr"/>
                </a:tc>
                <a:tc>
                  <a:txBody>
                    <a:bodyPr/>
                    <a:lstStyle/>
                    <a:p>
                      <a:pPr algn="l" fontAlgn="ctr"/>
                      <a:r>
                        <a:rPr lang="en-US" sz="1200" dirty="0">
                          <a:effectLst/>
                        </a:rPr>
                        <a:t>timestamp</a:t>
                      </a:r>
                    </a:p>
                  </a:txBody>
                  <a:tcPr marL="55786" marR="55786" marT="27893" marB="27893" anchor="ctr"/>
                </a:tc>
                <a:tc>
                  <a:txBody>
                    <a:bodyPr/>
                    <a:lstStyle/>
                    <a:p>
                      <a:pPr algn="l" fontAlgn="ctr"/>
                      <a:r>
                        <a:rPr lang="en-US" sz="1200" dirty="0" err="1">
                          <a:effectLst/>
                        </a:rPr>
                        <a:t>ask_price</a:t>
                      </a:r>
                      <a:endParaRPr lang="en-US" sz="1200" dirty="0">
                        <a:effectLst/>
                      </a:endParaRPr>
                    </a:p>
                  </a:txBody>
                  <a:tcPr marL="55786" marR="55786" marT="27893" marB="27893" anchor="ctr"/>
                </a:tc>
                <a:tc>
                  <a:txBody>
                    <a:bodyPr/>
                    <a:lstStyle/>
                    <a:p>
                      <a:pPr algn="l" fontAlgn="ctr"/>
                      <a:r>
                        <a:rPr lang="en-US" sz="1200" dirty="0" err="1">
                          <a:effectLst/>
                        </a:rPr>
                        <a:t>ask_volume</a:t>
                      </a:r>
                      <a:endParaRPr lang="en-US" sz="1200" dirty="0">
                        <a:effectLst/>
                      </a:endParaRPr>
                    </a:p>
                  </a:txBody>
                  <a:tcPr marL="55786" marR="55786" marT="27893" marB="27893" anchor="ctr"/>
                </a:tc>
                <a:tc>
                  <a:txBody>
                    <a:bodyPr/>
                    <a:lstStyle/>
                    <a:p>
                      <a:pPr algn="l" fontAlgn="ctr"/>
                      <a:r>
                        <a:rPr lang="en-US" sz="1200">
                          <a:effectLst/>
                        </a:rPr>
                        <a:t>ask_numOrders</a:t>
                      </a:r>
                    </a:p>
                  </a:txBody>
                  <a:tcPr marL="55786" marR="55786" marT="27893" marB="27893" anchor="ctr"/>
                </a:tc>
                <a:tc>
                  <a:txBody>
                    <a:bodyPr/>
                    <a:lstStyle/>
                    <a:p>
                      <a:pPr algn="l" fontAlgn="ctr"/>
                      <a:r>
                        <a:rPr lang="en-US" sz="1200">
                          <a:effectLst/>
                        </a:rPr>
                        <a:t>bid_price</a:t>
                      </a:r>
                    </a:p>
                  </a:txBody>
                  <a:tcPr marL="55786" marR="55786" marT="27893" marB="27893" anchor="ctr"/>
                </a:tc>
                <a:tc>
                  <a:txBody>
                    <a:bodyPr/>
                    <a:lstStyle/>
                    <a:p>
                      <a:pPr algn="l" fontAlgn="ctr"/>
                      <a:r>
                        <a:rPr lang="en-US" sz="1200" dirty="0" err="1">
                          <a:effectLst/>
                        </a:rPr>
                        <a:t>bid_volume</a:t>
                      </a:r>
                      <a:endParaRPr lang="en-US" sz="1200" dirty="0">
                        <a:effectLst/>
                      </a:endParaRPr>
                    </a:p>
                  </a:txBody>
                  <a:tcPr marL="55786" marR="55786" marT="27893" marB="27893" anchor="ctr"/>
                </a:tc>
                <a:tc>
                  <a:txBody>
                    <a:bodyPr/>
                    <a:lstStyle/>
                    <a:p>
                      <a:pPr algn="l" fontAlgn="ctr"/>
                      <a:r>
                        <a:rPr lang="en-US" sz="1200" dirty="0" err="1">
                          <a:effectLst/>
                        </a:rPr>
                        <a:t>bid_numOrders</a:t>
                      </a:r>
                      <a:endParaRPr lang="en-US" sz="1200" dirty="0">
                        <a:effectLst/>
                      </a:endParaRP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dirty="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2451.93</a:t>
                      </a:r>
                    </a:p>
                  </a:txBody>
                  <a:tcPr marL="55786" marR="55786" marT="27893" marB="27893" anchor="ctr"/>
                </a:tc>
                <a:tc>
                  <a:txBody>
                    <a:bodyPr/>
                    <a:lstStyle/>
                    <a:p>
                      <a:pPr algn="l"/>
                      <a:r>
                        <a:rPr lang="en-US" altLang="zh-CN" sz="1200">
                          <a:effectLst/>
                        </a:rPr>
                        <a:t>33.4367</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2451.92</a:t>
                      </a:r>
                    </a:p>
                  </a:txBody>
                  <a:tcPr marL="55786" marR="55786" marT="27893" marB="27893" anchor="ctr"/>
                </a:tc>
                <a:tc>
                  <a:txBody>
                    <a:bodyPr/>
                    <a:lstStyle/>
                    <a:p>
                      <a:pPr algn="l"/>
                      <a:r>
                        <a:rPr lang="en-US" altLang="zh-CN" sz="1200">
                          <a:effectLst/>
                        </a:rPr>
                        <a:t>2.4135</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dirty="0">
                          <a:effectLst/>
                        </a:rPr>
                        <a:t>1769904000000</a:t>
                      </a:r>
                    </a:p>
                  </a:txBody>
                  <a:tcPr marL="55786" marR="55786" marT="27893" marB="27893" anchor="ctr"/>
                </a:tc>
                <a:tc>
                  <a:txBody>
                    <a:bodyPr/>
                    <a:lstStyle/>
                    <a:p>
                      <a:pPr algn="l"/>
                      <a:r>
                        <a:rPr lang="en-US" altLang="zh-CN" sz="1200">
                          <a:effectLst/>
                        </a:rPr>
                        <a:t>2451.94</a:t>
                      </a:r>
                    </a:p>
                  </a:txBody>
                  <a:tcPr marL="55786" marR="55786" marT="27893" marB="27893" anchor="ctr"/>
                </a:tc>
                <a:tc>
                  <a:txBody>
                    <a:bodyPr/>
                    <a:lstStyle/>
                    <a:p>
                      <a:pPr algn="l"/>
                      <a:r>
                        <a:rPr lang="en-US" altLang="zh-CN" sz="1200">
                          <a:effectLst/>
                        </a:rPr>
                        <a:t>0.7348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2451.91</a:t>
                      </a:r>
                    </a:p>
                  </a:txBody>
                  <a:tcPr marL="55786" marR="55786" marT="27893" marB="27893" anchor="ctr"/>
                </a:tc>
                <a:tc>
                  <a:txBody>
                    <a:bodyPr/>
                    <a:lstStyle/>
                    <a:p>
                      <a:pPr algn="l"/>
                      <a:r>
                        <a:rPr lang="en-US" altLang="zh-CN" sz="1200">
                          <a:effectLst/>
                        </a:rPr>
                        <a:t>0.0232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2451.95</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2451.86</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2451.96</a:t>
                      </a:r>
                    </a:p>
                  </a:txBody>
                  <a:tcPr marL="55786" marR="55786" marT="27893" marB="27893" anchor="ctr"/>
                </a:tc>
                <a:tc>
                  <a:txBody>
                    <a:bodyPr/>
                    <a:lstStyle/>
                    <a:p>
                      <a:pPr algn="l"/>
                      <a:r>
                        <a:rPr lang="en-US" altLang="zh-CN" sz="1200">
                          <a:effectLst/>
                        </a:rPr>
                        <a:t>1.2068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2451.85</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2451.97</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2451.84</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dirty="0">
                          <a:effectLst/>
                        </a:rPr>
                        <a:t>None</a:t>
                      </a:r>
                    </a:p>
                  </a:txBody>
                  <a:tcPr marL="55786" marR="55786" marT="27893" marB="27893" anchor="ctr"/>
                </a:tc>
                <a:extLst>
                  <a:ext uri="{0D108BD9-81ED-4DB2-BD59-A6C34878D82A}">
                    <a16:rowId xmlns:a16="http://schemas.microsoft.com/office/drawing/2014/main" val="636278165"/>
                  </a:ext>
                </a:extLst>
              </a:tr>
            </a:tbl>
          </a:graphicData>
        </a:graphic>
      </p:graphicFrame>
      <p:sp>
        <p:nvSpPr>
          <p:cNvPr id="6" name="文本框 5">
            <a:extLst>
              <a:ext uri="{FF2B5EF4-FFF2-40B4-BE49-F238E27FC236}">
                <a16:creationId xmlns:a16="http://schemas.microsoft.com/office/drawing/2014/main" id="{7F34C079-2D94-71F8-3952-48520DE41E0B}"/>
              </a:ext>
            </a:extLst>
          </p:cNvPr>
          <p:cNvSpPr txBox="1"/>
          <p:nvPr/>
        </p:nvSpPr>
        <p:spPr>
          <a:xfrm>
            <a:off x="615623" y="4207159"/>
            <a:ext cx="11251699" cy="1928670"/>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The last bid/ask updated timestamp as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provided by the exchange</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timestamp: The time at which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data vendor captured/recorded</a:t>
            </a:r>
            <a:r>
              <a:rPr kumimoji="1" lang="en-US" altLang="zh-CN" dirty="0">
                <a:latin typeface="Tahoma" panose="020B0604030504040204" pitchFamily="34" charset="0"/>
                <a:ea typeface="Tahoma" panose="020B0604030504040204" pitchFamily="34" charset="0"/>
                <a:cs typeface="Tahoma" panose="020B0604030504040204" pitchFamily="34" charset="0"/>
              </a:rPr>
              <a:t> this snapshot</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exchangeTimestampNanoseconds</a:t>
            </a:r>
            <a:r>
              <a:rPr kumimoji="1" lang="en-US" altLang="zh-CN" dirty="0">
                <a:latin typeface="Tahoma" panose="020B0604030504040204" pitchFamily="34" charset="0"/>
                <a:ea typeface="Tahoma" panose="020B0604030504040204" pitchFamily="34" charset="0"/>
                <a:cs typeface="Tahoma" panose="020B0604030504040204" pitchFamily="34" charset="0"/>
              </a:rPr>
              <a:t>: The nanoseconds part of the </a:t>
            </a: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(null if not provided by an exchange)</a:t>
            </a:r>
          </a:p>
        </p:txBody>
      </p:sp>
    </p:spTree>
    <p:extLst>
      <p:ext uri="{BB962C8B-B14F-4D97-AF65-F5344CB8AC3E}">
        <p14:creationId xmlns:p14="http://schemas.microsoft.com/office/powerpoint/2010/main" val="1131271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50514"/>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表格 2">
            <a:extLst>
              <a:ext uri="{FF2B5EF4-FFF2-40B4-BE49-F238E27FC236}">
                <a16:creationId xmlns:a16="http://schemas.microsoft.com/office/drawing/2014/main" id="{6A230422-3AEA-F020-F4D4-446C10211299}"/>
              </a:ext>
            </a:extLst>
          </p:cNvPr>
          <p:cNvGraphicFramePr>
            <a:graphicFrameLocks noGrp="1"/>
          </p:cNvGraphicFramePr>
          <p:nvPr/>
        </p:nvGraphicFramePr>
        <p:xfrm>
          <a:off x="716225" y="1906392"/>
          <a:ext cx="10668832" cy="2247386"/>
        </p:xfrm>
        <a:graphic>
          <a:graphicData uri="http://schemas.openxmlformats.org/drawingml/2006/table">
            <a:tbl>
              <a:tblPr firstRow="1">
                <a:tableStyleId>{17292A2E-F333-43FB-9621-5CBBE7FDCDCB}</a:tableStyleId>
              </a:tblPr>
              <a:tblGrid>
                <a:gridCol w="1048902">
                  <a:extLst>
                    <a:ext uri="{9D8B030D-6E8A-4147-A177-3AD203B41FA5}">
                      <a16:colId xmlns:a16="http://schemas.microsoft.com/office/drawing/2014/main" val="3296463271"/>
                    </a:ext>
                  </a:extLst>
                </a:gridCol>
                <a:gridCol w="1048902">
                  <a:extLst>
                    <a:ext uri="{9D8B030D-6E8A-4147-A177-3AD203B41FA5}">
                      <a16:colId xmlns:a16="http://schemas.microsoft.com/office/drawing/2014/main" val="1719103559"/>
                    </a:ext>
                  </a:extLst>
                </a:gridCol>
                <a:gridCol w="1201380">
                  <a:extLst>
                    <a:ext uri="{9D8B030D-6E8A-4147-A177-3AD203B41FA5}">
                      <a16:colId xmlns:a16="http://schemas.microsoft.com/office/drawing/2014/main" val="1404790348"/>
                    </a:ext>
                  </a:extLst>
                </a:gridCol>
                <a:gridCol w="1222513">
                  <a:extLst>
                    <a:ext uri="{9D8B030D-6E8A-4147-A177-3AD203B41FA5}">
                      <a16:colId xmlns:a16="http://schemas.microsoft.com/office/drawing/2014/main" val="2149117866"/>
                    </a:ext>
                  </a:extLst>
                </a:gridCol>
                <a:gridCol w="834887">
                  <a:extLst>
                    <a:ext uri="{9D8B030D-6E8A-4147-A177-3AD203B41FA5}">
                      <a16:colId xmlns:a16="http://schemas.microsoft.com/office/drawing/2014/main" val="1251061446"/>
                    </a:ext>
                  </a:extLst>
                </a:gridCol>
                <a:gridCol w="944217">
                  <a:extLst>
                    <a:ext uri="{9D8B030D-6E8A-4147-A177-3AD203B41FA5}">
                      <a16:colId xmlns:a16="http://schemas.microsoft.com/office/drawing/2014/main" val="1533997478"/>
                    </a:ext>
                  </a:extLst>
                </a:gridCol>
                <a:gridCol w="1292087">
                  <a:extLst>
                    <a:ext uri="{9D8B030D-6E8A-4147-A177-3AD203B41FA5}">
                      <a16:colId xmlns:a16="http://schemas.microsoft.com/office/drawing/2014/main" val="2834461086"/>
                    </a:ext>
                  </a:extLst>
                </a:gridCol>
                <a:gridCol w="805070">
                  <a:extLst>
                    <a:ext uri="{9D8B030D-6E8A-4147-A177-3AD203B41FA5}">
                      <a16:colId xmlns:a16="http://schemas.microsoft.com/office/drawing/2014/main" val="2707543540"/>
                    </a:ext>
                  </a:extLst>
                </a:gridCol>
                <a:gridCol w="1042160">
                  <a:extLst>
                    <a:ext uri="{9D8B030D-6E8A-4147-A177-3AD203B41FA5}">
                      <a16:colId xmlns:a16="http://schemas.microsoft.com/office/drawing/2014/main" val="1879499304"/>
                    </a:ext>
                  </a:extLst>
                </a:gridCol>
                <a:gridCol w="1228714">
                  <a:extLst>
                    <a:ext uri="{9D8B030D-6E8A-4147-A177-3AD203B41FA5}">
                      <a16:colId xmlns:a16="http://schemas.microsoft.com/office/drawing/2014/main" val="4070845411"/>
                    </a:ext>
                  </a:extLst>
                </a:gridCol>
              </a:tblGrid>
              <a:tr h="592340">
                <a:tc>
                  <a:txBody>
                    <a:bodyPr/>
                    <a:lstStyle/>
                    <a:p>
                      <a:pPr algn="l" fontAlgn="ctr"/>
                      <a:r>
                        <a:rPr lang="en-US" sz="1200" dirty="0">
                          <a:effectLst/>
                        </a:rPr>
                        <a:t>sequence</a:t>
                      </a:r>
                    </a:p>
                  </a:txBody>
                  <a:tcPr marL="55786" marR="55786" marT="27893" marB="27893" anchor="ctr"/>
                </a:tc>
                <a:tc>
                  <a:txBody>
                    <a:bodyPr/>
                    <a:lstStyle/>
                    <a:p>
                      <a:pPr algn="l" fontAlgn="ctr"/>
                      <a:r>
                        <a:rPr lang="en-US" sz="1200" dirty="0" err="1">
                          <a:effectLst/>
                        </a:rPr>
                        <a:t>exchangeTimestampNanoseconds</a:t>
                      </a:r>
                      <a:endParaRPr lang="en-US" sz="1200" dirty="0">
                        <a:effectLst/>
                      </a:endParaRPr>
                    </a:p>
                  </a:txBody>
                  <a:tcPr marL="55786" marR="55786" marT="27893" marB="27893" anchor="ctr"/>
                </a:tc>
                <a:tc>
                  <a:txBody>
                    <a:bodyPr/>
                    <a:lstStyle/>
                    <a:p>
                      <a:pPr algn="l" fontAlgn="ctr"/>
                      <a:r>
                        <a:rPr lang="en-US" sz="1200" dirty="0" err="1">
                          <a:effectLst/>
                        </a:rPr>
                        <a:t>exchangeTimestamp</a:t>
                      </a:r>
                      <a:endParaRPr lang="en-US" sz="1200" dirty="0">
                        <a:effectLst/>
                      </a:endParaRPr>
                    </a:p>
                  </a:txBody>
                  <a:tcPr marL="55786" marR="55786" marT="27893" marB="27893" anchor="ctr"/>
                </a:tc>
                <a:tc>
                  <a:txBody>
                    <a:bodyPr/>
                    <a:lstStyle/>
                    <a:p>
                      <a:pPr algn="l" fontAlgn="ctr"/>
                      <a:r>
                        <a:rPr lang="en-US" sz="1200" dirty="0">
                          <a:effectLst/>
                        </a:rPr>
                        <a:t>timestamp</a:t>
                      </a:r>
                    </a:p>
                  </a:txBody>
                  <a:tcPr marL="55786" marR="55786" marT="27893" marB="27893" anchor="ctr"/>
                </a:tc>
                <a:tc>
                  <a:txBody>
                    <a:bodyPr/>
                    <a:lstStyle/>
                    <a:p>
                      <a:pPr algn="l" fontAlgn="ctr"/>
                      <a:r>
                        <a:rPr lang="en-US" sz="1200" dirty="0" err="1">
                          <a:effectLst/>
                        </a:rPr>
                        <a:t>ask_price</a:t>
                      </a:r>
                      <a:endParaRPr lang="en-US" sz="1200" dirty="0">
                        <a:effectLst/>
                      </a:endParaRPr>
                    </a:p>
                  </a:txBody>
                  <a:tcPr marL="55786" marR="55786" marT="27893" marB="27893" anchor="ctr"/>
                </a:tc>
                <a:tc>
                  <a:txBody>
                    <a:bodyPr/>
                    <a:lstStyle/>
                    <a:p>
                      <a:pPr algn="l" fontAlgn="ctr"/>
                      <a:r>
                        <a:rPr lang="en-US" sz="1200" dirty="0" err="1">
                          <a:effectLst/>
                        </a:rPr>
                        <a:t>ask_volume</a:t>
                      </a:r>
                      <a:endParaRPr lang="en-US" sz="1200" dirty="0">
                        <a:effectLst/>
                      </a:endParaRPr>
                    </a:p>
                  </a:txBody>
                  <a:tcPr marL="55786" marR="55786" marT="27893" marB="27893" anchor="ctr"/>
                </a:tc>
                <a:tc>
                  <a:txBody>
                    <a:bodyPr/>
                    <a:lstStyle/>
                    <a:p>
                      <a:pPr algn="l" fontAlgn="ctr"/>
                      <a:r>
                        <a:rPr lang="en-US" sz="1200">
                          <a:effectLst/>
                        </a:rPr>
                        <a:t>ask_numOrders</a:t>
                      </a:r>
                    </a:p>
                  </a:txBody>
                  <a:tcPr marL="55786" marR="55786" marT="27893" marB="27893" anchor="ctr"/>
                </a:tc>
                <a:tc>
                  <a:txBody>
                    <a:bodyPr/>
                    <a:lstStyle/>
                    <a:p>
                      <a:pPr algn="l" fontAlgn="ctr"/>
                      <a:r>
                        <a:rPr lang="en-US" sz="1200">
                          <a:effectLst/>
                        </a:rPr>
                        <a:t>bid_price</a:t>
                      </a:r>
                    </a:p>
                  </a:txBody>
                  <a:tcPr marL="55786" marR="55786" marT="27893" marB="27893" anchor="ctr"/>
                </a:tc>
                <a:tc>
                  <a:txBody>
                    <a:bodyPr/>
                    <a:lstStyle/>
                    <a:p>
                      <a:pPr algn="l" fontAlgn="ctr"/>
                      <a:r>
                        <a:rPr lang="en-US" sz="1200" dirty="0" err="1">
                          <a:effectLst/>
                        </a:rPr>
                        <a:t>bid_volume</a:t>
                      </a:r>
                      <a:endParaRPr lang="en-US" sz="1200" dirty="0">
                        <a:effectLst/>
                      </a:endParaRPr>
                    </a:p>
                  </a:txBody>
                  <a:tcPr marL="55786" marR="55786" marT="27893" marB="27893" anchor="ctr"/>
                </a:tc>
                <a:tc>
                  <a:txBody>
                    <a:bodyPr/>
                    <a:lstStyle/>
                    <a:p>
                      <a:pPr algn="l" fontAlgn="ctr"/>
                      <a:r>
                        <a:rPr lang="en-US" sz="1200" dirty="0" err="1">
                          <a:effectLst/>
                        </a:rPr>
                        <a:t>bid_numOrders</a:t>
                      </a:r>
                      <a:endParaRPr lang="en-US" sz="1200" dirty="0">
                        <a:effectLst/>
                      </a:endParaRPr>
                    </a:p>
                  </a:txBody>
                  <a:tcPr marL="55786" marR="55786" marT="27893" marB="27893" anchor="ctr"/>
                </a:tc>
                <a:extLst>
                  <a:ext uri="{0D108BD9-81ED-4DB2-BD59-A6C34878D82A}">
                    <a16:rowId xmlns:a16="http://schemas.microsoft.com/office/drawing/2014/main" val="8665016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dirty="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2451.93</a:t>
                      </a:r>
                    </a:p>
                  </a:txBody>
                  <a:tcPr marL="55786" marR="55786" marT="27893" marB="27893" anchor="ctr"/>
                </a:tc>
                <a:tc>
                  <a:txBody>
                    <a:bodyPr/>
                    <a:lstStyle/>
                    <a:p>
                      <a:pPr algn="l"/>
                      <a:r>
                        <a:rPr lang="en-US" altLang="zh-CN" sz="1200">
                          <a:effectLst/>
                        </a:rPr>
                        <a:t>33.4367</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2451.92</a:t>
                      </a:r>
                    </a:p>
                  </a:txBody>
                  <a:tcPr marL="55786" marR="55786" marT="27893" marB="27893" anchor="ctr"/>
                </a:tc>
                <a:tc>
                  <a:txBody>
                    <a:bodyPr/>
                    <a:lstStyle/>
                    <a:p>
                      <a:pPr algn="l"/>
                      <a:r>
                        <a:rPr lang="en-US" altLang="zh-CN" sz="1200">
                          <a:effectLst/>
                        </a:rPr>
                        <a:t>2.4135</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579447852"/>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dirty="0">
                          <a:effectLst/>
                        </a:rPr>
                        <a:t>1769904000000</a:t>
                      </a:r>
                    </a:p>
                  </a:txBody>
                  <a:tcPr marL="55786" marR="55786" marT="27893" marB="27893" anchor="ctr"/>
                </a:tc>
                <a:tc>
                  <a:txBody>
                    <a:bodyPr/>
                    <a:lstStyle/>
                    <a:p>
                      <a:pPr algn="l"/>
                      <a:r>
                        <a:rPr lang="en-US" altLang="zh-CN" sz="1200">
                          <a:effectLst/>
                        </a:rPr>
                        <a:t>2451.94</a:t>
                      </a:r>
                    </a:p>
                  </a:txBody>
                  <a:tcPr marL="55786" marR="55786" marT="27893" marB="27893" anchor="ctr"/>
                </a:tc>
                <a:tc>
                  <a:txBody>
                    <a:bodyPr/>
                    <a:lstStyle/>
                    <a:p>
                      <a:pPr algn="l"/>
                      <a:r>
                        <a:rPr lang="en-US" altLang="zh-CN" sz="1200">
                          <a:effectLst/>
                        </a:rPr>
                        <a:t>0.7348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2451.91</a:t>
                      </a:r>
                    </a:p>
                  </a:txBody>
                  <a:tcPr marL="55786" marR="55786" marT="27893" marB="27893" anchor="ctr"/>
                </a:tc>
                <a:tc>
                  <a:txBody>
                    <a:bodyPr/>
                    <a:lstStyle/>
                    <a:p>
                      <a:pPr algn="l"/>
                      <a:r>
                        <a:rPr lang="en-US" altLang="zh-CN" sz="1200">
                          <a:effectLst/>
                        </a:rPr>
                        <a:t>0.0232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4126301010"/>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2451.95</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2451.86</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2515177816"/>
                  </a:ext>
                </a:extLst>
              </a:tr>
              <a:tr h="328592">
                <a:tc>
                  <a:txBody>
                    <a:bodyPr/>
                    <a:lstStyle/>
                    <a:p>
                      <a:pPr algn="l"/>
                      <a:r>
                        <a:rPr lang="en-US" altLang="zh-CN" sz="120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2451.96</a:t>
                      </a:r>
                    </a:p>
                  </a:txBody>
                  <a:tcPr marL="55786" marR="55786" marT="27893" marB="27893" anchor="ctr"/>
                </a:tc>
                <a:tc>
                  <a:txBody>
                    <a:bodyPr/>
                    <a:lstStyle/>
                    <a:p>
                      <a:pPr algn="l"/>
                      <a:r>
                        <a:rPr lang="en-US" altLang="zh-CN" sz="1200">
                          <a:effectLst/>
                        </a:rPr>
                        <a:t>1.2068</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2451.85</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extLst>
                  <a:ext uri="{0D108BD9-81ED-4DB2-BD59-A6C34878D82A}">
                    <a16:rowId xmlns:a16="http://schemas.microsoft.com/office/drawing/2014/main" val="1204151224"/>
                  </a:ext>
                </a:extLst>
              </a:tr>
              <a:tr h="328592">
                <a:tc>
                  <a:txBody>
                    <a:bodyPr/>
                    <a:lstStyle/>
                    <a:p>
                      <a:pPr algn="l"/>
                      <a:r>
                        <a:rPr lang="en-US" altLang="zh-CN" sz="1200" dirty="0">
                          <a:effectLst/>
                        </a:rPr>
                        <a:t>69778867498</a:t>
                      </a:r>
                    </a:p>
                  </a:txBody>
                  <a:tcPr marL="55786" marR="55786" marT="27893" marB="27893" anchor="ctr"/>
                </a:tc>
                <a:tc>
                  <a:txBody>
                    <a:bodyPr/>
                    <a:lstStyle/>
                    <a:p>
                      <a:pPr algn="l"/>
                      <a:r>
                        <a:rPr lang="en-US" altLang="zh-CN" sz="1200">
                          <a:effectLst/>
                        </a:rPr>
                        <a:t>290019</a:t>
                      </a:r>
                    </a:p>
                  </a:txBody>
                  <a:tcPr marL="55786" marR="55786" marT="27893" marB="27893" anchor="ctr"/>
                </a:tc>
                <a:tc>
                  <a:txBody>
                    <a:bodyPr/>
                    <a:lstStyle/>
                    <a:p>
                      <a:pPr algn="l"/>
                      <a:r>
                        <a:rPr lang="en-US" altLang="zh-CN" sz="1200">
                          <a:effectLst/>
                        </a:rPr>
                        <a:t>1769904000499</a:t>
                      </a:r>
                    </a:p>
                  </a:txBody>
                  <a:tcPr marL="55786" marR="55786" marT="27893" marB="27893" anchor="ctr"/>
                </a:tc>
                <a:tc>
                  <a:txBody>
                    <a:bodyPr/>
                    <a:lstStyle/>
                    <a:p>
                      <a:pPr algn="l"/>
                      <a:r>
                        <a:rPr lang="en-US" altLang="zh-CN" sz="1200">
                          <a:effectLst/>
                        </a:rPr>
                        <a:t>1769904000000</a:t>
                      </a:r>
                    </a:p>
                  </a:txBody>
                  <a:tcPr marL="55786" marR="55786" marT="27893" marB="27893" anchor="ctr"/>
                </a:tc>
                <a:tc>
                  <a:txBody>
                    <a:bodyPr/>
                    <a:lstStyle/>
                    <a:p>
                      <a:pPr algn="l"/>
                      <a:r>
                        <a:rPr lang="en-US" altLang="zh-CN" sz="1200">
                          <a:effectLst/>
                        </a:rPr>
                        <a:t>2451.97</a:t>
                      </a:r>
                    </a:p>
                  </a:txBody>
                  <a:tcPr marL="55786" marR="55786" marT="27893" marB="27893" anchor="ctr"/>
                </a:tc>
                <a:tc>
                  <a:txBody>
                    <a:bodyPr/>
                    <a:lstStyle/>
                    <a:p>
                      <a:pPr algn="l"/>
                      <a:r>
                        <a:rPr lang="en-US" altLang="zh-CN" sz="1200">
                          <a:effectLst/>
                        </a:rPr>
                        <a:t>0.0022</a:t>
                      </a:r>
                    </a:p>
                  </a:txBody>
                  <a:tcPr marL="55786" marR="55786" marT="27893" marB="27893" anchor="ctr"/>
                </a:tc>
                <a:tc>
                  <a:txBody>
                    <a:bodyPr/>
                    <a:lstStyle/>
                    <a:p>
                      <a:pPr algn="l"/>
                      <a:r>
                        <a:rPr lang="en-US" sz="1200">
                          <a:effectLst/>
                        </a:rPr>
                        <a:t>None</a:t>
                      </a:r>
                    </a:p>
                  </a:txBody>
                  <a:tcPr marL="55786" marR="55786" marT="27893" marB="27893" anchor="ctr"/>
                </a:tc>
                <a:tc>
                  <a:txBody>
                    <a:bodyPr/>
                    <a:lstStyle/>
                    <a:p>
                      <a:pPr algn="l"/>
                      <a:r>
                        <a:rPr lang="en-US" altLang="zh-CN" sz="1200">
                          <a:effectLst/>
                        </a:rPr>
                        <a:t>2451.84</a:t>
                      </a:r>
                    </a:p>
                  </a:txBody>
                  <a:tcPr marL="55786" marR="55786" marT="27893" marB="27893" anchor="ctr"/>
                </a:tc>
                <a:tc>
                  <a:txBody>
                    <a:bodyPr/>
                    <a:lstStyle/>
                    <a:p>
                      <a:pPr algn="l"/>
                      <a:r>
                        <a:rPr lang="en-US" altLang="zh-CN" sz="1200">
                          <a:effectLst/>
                        </a:rPr>
                        <a:t>0.0043</a:t>
                      </a:r>
                    </a:p>
                  </a:txBody>
                  <a:tcPr marL="55786" marR="55786" marT="27893" marB="27893" anchor="ctr"/>
                </a:tc>
                <a:tc>
                  <a:txBody>
                    <a:bodyPr/>
                    <a:lstStyle/>
                    <a:p>
                      <a:pPr algn="l"/>
                      <a:r>
                        <a:rPr lang="en-US" sz="1200" dirty="0">
                          <a:effectLst/>
                        </a:rPr>
                        <a:t>None</a:t>
                      </a:r>
                    </a:p>
                  </a:txBody>
                  <a:tcPr marL="55786" marR="55786" marT="27893" marB="27893" anchor="ctr"/>
                </a:tc>
                <a:extLst>
                  <a:ext uri="{0D108BD9-81ED-4DB2-BD59-A6C34878D82A}">
                    <a16:rowId xmlns:a16="http://schemas.microsoft.com/office/drawing/2014/main" val="636278165"/>
                  </a:ext>
                </a:extLst>
              </a:tr>
            </a:tbl>
          </a:graphicData>
        </a:graphic>
      </p:graphicFrame>
      <p:sp>
        <p:nvSpPr>
          <p:cNvPr id="6" name="文本框 5">
            <a:extLst>
              <a:ext uri="{FF2B5EF4-FFF2-40B4-BE49-F238E27FC236}">
                <a16:creationId xmlns:a16="http://schemas.microsoft.com/office/drawing/2014/main" id="{7F34C079-2D94-71F8-3952-48520DE41E0B}"/>
              </a:ext>
            </a:extLst>
          </p:cNvPr>
          <p:cNvSpPr txBox="1"/>
          <p:nvPr/>
        </p:nvSpPr>
        <p:spPr>
          <a:xfrm>
            <a:off x="615623" y="4207159"/>
            <a:ext cx="10849241" cy="1928670"/>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ask_price</a:t>
            </a:r>
            <a:r>
              <a:rPr kumimoji="1" lang="en-US" altLang="zh-CN" dirty="0">
                <a:latin typeface="Tahoma" panose="020B0604030504040204" pitchFamily="34" charset="0"/>
                <a:ea typeface="Tahoma" panose="020B0604030504040204" pitchFamily="34" charset="0"/>
                <a:cs typeface="Tahoma" panose="020B0604030504040204" pitchFamily="34" charset="0"/>
              </a:rPr>
              <a:t>/</a:t>
            </a:r>
            <a:r>
              <a:rPr kumimoji="1" lang="en-US" altLang="zh-CN" dirty="0" err="1">
                <a:latin typeface="Tahoma" panose="020B0604030504040204" pitchFamily="34" charset="0"/>
                <a:ea typeface="Tahoma" panose="020B0604030504040204" pitchFamily="34" charset="0"/>
                <a:cs typeface="Tahoma" panose="020B0604030504040204" pitchFamily="34" charset="0"/>
              </a:rPr>
              <a:t>bid_price</a:t>
            </a:r>
            <a:r>
              <a:rPr kumimoji="1" lang="en-US" altLang="zh-CN" dirty="0">
                <a:latin typeface="Tahoma" panose="020B0604030504040204" pitchFamily="34" charset="0"/>
                <a:ea typeface="Tahoma" panose="020B0604030504040204" pitchFamily="34" charset="0"/>
                <a:cs typeface="Tahoma" panose="020B0604030504040204" pitchFamily="34" charset="0"/>
              </a:rPr>
              <a:t>: The quote price on the ask/bid side</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ask_volume</a:t>
            </a:r>
            <a:r>
              <a:rPr kumimoji="1" lang="en-US" altLang="zh-CN" dirty="0">
                <a:latin typeface="Tahoma" panose="020B0604030504040204" pitchFamily="34" charset="0"/>
                <a:ea typeface="Tahoma" panose="020B0604030504040204" pitchFamily="34" charset="0"/>
                <a:cs typeface="Tahoma" panose="020B0604030504040204" pitchFamily="34" charset="0"/>
              </a:rPr>
              <a:t>/</a:t>
            </a:r>
            <a:r>
              <a:rPr kumimoji="1" lang="en-US" altLang="zh-CN" dirty="0" err="1">
                <a:latin typeface="Tahoma" panose="020B0604030504040204" pitchFamily="34" charset="0"/>
                <a:ea typeface="Tahoma" panose="020B0604030504040204" pitchFamily="34" charset="0"/>
                <a:cs typeface="Tahoma" panose="020B0604030504040204" pitchFamily="34" charset="0"/>
              </a:rPr>
              <a:t>bid_volume</a:t>
            </a:r>
            <a:r>
              <a:rPr kumimoji="1" lang="en-US" altLang="zh-CN" dirty="0">
                <a:latin typeface="Tahoma" panose="020B0604030504040204" pitchFamily="34" charset="0"/>
                <a:ea typeface="Tahoma" panose="020B0604030504040204" pitchFamily="34" charset="0"/>
                <a:cs typeface="Tahoma" panose="020B0604030504040204" pitchFamily="34" charset="0"/>
              </a:rPr>
              <a:t>: The quantity of the asset available at the specified ask/bid price level</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ask_numOrders</a:t>
            </a:r>
            <a:r>
              <a:rPr kumimoji="1" lang="en-US" altLang="zh-CN" dirty="0">
                <a:latin typeface="Tahoma" panose="020B0604030504040204" pitchFamily="34" charset="0"/>
                <a:ea typeface="Tahoma" panose="020B0604030504040204" pitchFamily="34" charset="0"/>
                <a:cs typeface="Tahoma" panose="020B0604030504040204" pitchFamily="34" charset="0"/>
              </a:rPr>
              <a:t>/</a:t>
            </a:r>
            <a:r>
              <a:rPr kumimoji="1" lang="en-US" altLang="zh-CN" dirty="0" err="1">
                <a:latin typeface="Tahoma" panose="020B0604030504040204" pitchFamily="34" charset="0"/>
                <a:ea typeface="Tahoma" panose="020B0604030504040204" pitchFamily="34" charset="0"/>
                <a:cs typeface="Tahoma" panose="020B0604030504040204" pitchFamily="34" charset="0"/>
              </a:rPr>
              <a:t>bid_numOrders</a:t>
            </a:r>
            <a:r>
              <a:rPr kumimoji="1" lang="en-US" altLang="zh-CN" dirty="0">
                <a:latin typeface="Tahoma" panose="020B0604030504040204" pitchFamily="34" charset="0"/>
                <a:ea typeface="Tahoma" panose="020B0604030504040204" pitchFamily="34" charset="0"/>
                <a:cs typeface="Tahoma" panose="020B0604030504040204" pitchFamily="34" charset="0"/>
              </a:rPr>
              <a:t>: The number of individual orders aggregated at the specified ask/bid price level (null if not provided by an exchange)</a:t>
            </a:r>
          </a:p>
        </p:txBody>
      </p:sp>
    </p:spTree>
    <p:extLst>
      <p:ext uri="{BB962C8B-B14F-4D97-AF65-F5344CB8AC3E}">
        <p14:creationId xmlns:p14="http://schemas.microsoft.com/office/powerpoint/2010/main" val="32074223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Load Data in Python</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Rectangle 8">
            <a:extLst>
              <a:ext uri="{FF2B5EF4-FFF2-40B4-BE49-F238E27FC236}">
                <a16:creationId xmlns:a16="http://schemas.microsoft.com/office/drawing/2014/main" id="{C3E4D01D-8AC8-20D6-BF1A-25C69CB4D4C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ORDER BOOK (1-MIN SNAPSHOTS)</a:t>
            </a:r>
            <a:endParaRPr kumimoji="1" lang="zh-CN" altLang="en-US" sz="3200" b="1" dirty="0">
              <a:solidFill>
                <a:srgbClr val="0070C0"/>
              </a:solidFill>
              <a:latin typeface="Tahoma" panose="020B0604030504040204" pitchFamily="34" charset="0"/>
              <a:cs typeface="Tahoma" panose="020B0604030504040204" pitchFamily="34" charset="0"/>
            </a:endParaRPr>
          </a:p>
        </p:txBody>
      </p:sp>
      <p:pic>
        <p:nvPicPr>
          <p:cNvPr id="6" name="图片 5">
            <a:extLst>
              <a:ext uri="{FF2B5EF4-FFF2-40B4-BE49-F238E27FC236}">
                <a16:creationId xmlns:a16="http://schemas.microsoft.com/office/drawing/2014/main" id="{4AE8574E-65ED-A331-0EF7-E3853C5F7782}"/>
              </a:ext>
            </a:extLst>
          </p:cNvPr>
          <p:cNvPicPr>
            <a:picLocks noChangeAspect="1"/>
          </p:cNvPicPr>
          <p:nvPr/>
        </p:nvPicPr>
        <p:blipFill>
          <a:blip r:embed="rId3"/>
          <a:stretch>
            <a:fillRect/>
          </a:stretch>
        </p:blipFill>
        <p:spPr>
          <a:xfrm>
            <a:off x="262073" y="2224947"/>
            <a:ext cx="11605249" cy="3959771"/>
          </a:xfrm>
          <a:prstGeom prst="rect">
            <a:avLst/>
          </a:prstGeom>
        </p:spPr>
      </p:pic>
    </p:spTree>
    <p:extLst>
      <p:ext uri="{BB962C8B-B14F-4D97-AF65-F5344CB8AC3E}">
        <p14:creationId xmlns:p14="http://schemas.microsoft.com/office/powerpoint/2010/main" val="23978964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TICK-BY-TICK TRADES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60453"/>
            <a:ext cx="10849241" cy="2959849"/>
          </a:xfrm>
          <a:prstGeom prst="rect">
            <a:avLst/>
          </a:prstGeom>
          <a:noFill/>
        </p:spPr>
        <p:txBody>
          <a:bodyPr wrap="square" rtlCol="0">
            <a:spAutoFit/>
          </a:bodyPr>
          <a:lstStyle/>
          <a:p>
            <a:pPr>
              <a:lnSpc>
                <a:spcPts val="3400"/>
              </a:lnSpc>
              <a:spcAft>
                <a:spcPts val="600"/>
              </a:spcAft>
            </a:pPr>
            <a:r>
              <a:rPr kumimoji="1" lang="en-US" altLang="zh-CN" sz="2000" b="1" dirty="0">
                <a:latin typeface="Tahoma" panose="020B0604030504040204" pitchFamily="34" charset="0"/>
                <a:ea typeface="Tahoma" panose="020B0604030504040204" pitchFamily="34" charset="0"/>
                <a:cs typeface="Tahoma" panose="020B0604030504040204" pitchFamily="34" charset="0"/>
              </a:rPr>
              <a:t>Definition</a:t>
            </a:r>
            <a:endParaRPr kumimoji="1" lang="en-US" altLang="zh-CN" dirty="0">
              <a:latin typeface="Tahoma" panose="020B0604030504040204" pitchFamily="34" charset="0"/>
              <a:ea typeface="Tahoma" panose="020B0604030504040204" pitchFamily="34" charset="0"/>
              <a:cs typeface="Tahoma" panose="020B0604030504040204" pitchFamily="34" charset="0"/>
            </a:endParaRPr>
          </a:p>
          <a:p>
            <a:pPr marL="800100" lvl="1" indent="-342900">
              <a:lnSpc>
                <a:spcPts val="3400"/>
              </a:lnSpc>
              <a:spcAft>
                <a:spcPts val="18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Trade Data is a general term for tick-by-tick data, or all executed transactions occurring on an exchange. Trade data provides historical trade data for Spot market trading pairs, detailing individual trade prices, volumes, buy/sell indicators, and timestamps to track transaction activity over time on supported exchanges.</a:t>
            </a:r>
          </a:p>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表格 7">
            <a:extLst>
              <a:ext uri="{FF2B5EF4-FFF2-40B4-BE49-F238E27FC236}">
                <a16:creationId xmlns:a16="http://schemas.microsoft.com/office/drawing/2014/main" id="{AC1DD5D4-C963-6012-7505-64F5671C6EAC}"/>
              </a:ext>
            </a:extLst>
          </p:cNvPr>
          <p:cNvGraphicFramePr>
            <a:graphicFrameLocks noGrp="1"/>
          </p:cNvGraphicFramePr>
          <p:nvPr>
            <p:extLst>
              <p:ext uri="{D42A27DB-BD31-4B8C-83A1-F6EECF244321}">
                <p14:modId xmlns:p14="http://schemas.microsoft.com/office/powerpoint/2010/main" val="2505483438"/>
              </p:ext>
            </p:extLst>
          </p:nvPr>
        </p:nvGraphicFramePr>
        <p:xfrm>
          <a:off x="716224" y="4389875"/>
          <a:ext cx="10983340" cy="2035470"/>
        </p:xfrm>
        <a:graphic>
          <a:graphicData uri="http://schemas.openxmlformats.org/drawingml/2006/table">
            <a:tbl>
              <a:tblPr firstRow="1">
                <a:tableStyleId>{17292A2E-F333-43FB-9621-5CBBE7FDCDCB}</a:tableStyleId>
              </a:tblPr>
              <a:tblGrid>
                <a:gridCol w="1867950">
                  <a:extLst>
                    <a:ext uri="{9D8B030D-6E8A-4147-A177-3AD203B41FA5}">
                      <a16:colId xmlns:a16="http://schemas.microsoft.com/office/drawing/2014/main" val="4081889742"/>
                    </a:ext>
                  </a:extLst>
                </a:gridCol>
                <a:gridCol w="1888435">
                  <a:extLst>
                    <a:ext uri="{9D8B030D-6E8A-4147-A177-3AD203B41FA5}">
                      <a16:colId xmlns:a16="http://schemas.microsoft.com/office/drawing/2014/main" val="2941843187"/>
                    </a:ext>
                  </a:extLst>
                </a:gridCol>
                <a:gridCol w="964095">
                  <a:extLst>
                    <a:ext uri="{9D8B030D-6E8A-4147-A177-3AD203B41FA5}">
                      <a16:colId xmlns:a16="http://schemas.microsoft.com/office/drawing/2014/main" val="4044588892"/>
                    </a:ext>
                  </a:extLst>
                </a:gridCol>
                <a:gridCol w="1093305">
                  <a:extLst>
                    <a:ext uri="{9D8B030D-6E8A-4147-A177-3AD203B41FA5}">
                      <a16:colId xmlns:a16="http://schemas.microsoft.com/office/drawing/2014/main" val="621070576"/>
                    </a:ext>
                  </a:extLst>
                </a:gridCol>
                <a:gridCol w="906790">
                  <a:extLst>
                    <a:ext uri="{9D8B030D-6E8A-4147-A177-3AD203B41FA5}">
                      <a16:colId xmlns:a16="http://schemas.microsoft.com/office/drawing/2014/main" val="2921151719"/>
                    </a:ext>
                  </a:extLst>
                </a:gridCol>
                <a:gridCol w="1344115">
                  <a:extLst>
                    <a:ext uri="{9D8B030D-6E8A-4147-A177-3AD203B41FA5}">
                      <a16:colId xmlns:a16="http://schemas.microsoft.com/office/drawing/2014/main" val="1592718204"/>
                    </a:ext>
                  </a:extLst>
                </a:gridCol>
                <a:gridCol w="1344115">
                  <a:extLst>
                    <a:ext uri="{9D8B030D-6E8A-4147-A177-3AD203B41FA5}">
                      <a16:colId xmlns:a16="http://schemas.microsoft.com/office/drawing/2014/main" val="2763293876"/>
                    </a:ext>
                  </a:extLst>
                </a:gridCol>
                <a:gridCol w="1574535">
                  <a:extLst>
                    <a:ext uri="{9D8B030D-6E8A-4147-A177-3AD203B41FA5}">
                      <a16:colId xmlns:a16="http://schemas.microsoft.com/office/drawing/2014/main" val="2365680853"/>
                    </a:ext>
                  </a:extLst>
                </a:gridCol>
              </a:tblGrid>
              <a:tr h="486414">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err="1">
                          <a:effectLst/>
                        </a:rPr>
                        <a:t>exchangeTimestampNanoseconds</a:t>
                      </a:r>
                      <a:endParaRPr lang="en-US" sz="1400" dirty="0">
                        <a:effectLst/>
                      </a:endParaRPr>
                    </a:p>
                  </a:txBody>
                  <a:tcPr marL="76200" marR="76200" marT="38100" marB="38100" anchor="ctr"/>
                </a:tc>
                <a:tc>
                  <a:txBody>
                    <a:bodyPr/>
                    <a:lstStyle/>
                    <a:p>
                      <a:pPr algn="l" fontAlgn="ctr"/>
                      <a:r>
                        <a:rPr lang="en-US" sz="1400" dirty="0" err="1">
                          <a:effectLst/>
                        </a:rPr>
                        <a:t>isBuySide</a:t>
                      </a:r>
                      <a:endParaRPr lang="en-US" sz="1400" dirty="0">
                        <a:effectLst/>
                      </a:endParaRPr>
                    </a:p>
                  </a:txBody>
                  <a:tcPr marL="76200" marR="76200" marT="38100" marB="38100" anchor="ctr"/>
                </a:tc>
                <a:tc>
                  <a:txBody>
                    <a:bodyPr/>
                    <a:lstStyle/>
                    <a:p>
                      <a:pPr algn="l" fontAlgn="ctr"/>
                      <a:r>
                        <a:rPr lang="en-US" sz="1400" dirty="0">
                          <a:effectLst/>
                        </a:rPr>
                        <a:t>price</a:t>
                      </a:r>
                    </a:p>
                  </a:txBody>
                  <a:tcPr marL="76200" marR="76200" marT="38100" marB="38100" anchor="ctr"/>
                </a:tc>
                <a:tc>
                  <a:txBody>
                    <a:bodyPr/>
                    <a:lstStyle/>
                    <a:p>
                      <a:pPr algn="l" fontAlgn="ctr"/>
                      <a:r>
                        <a:rPr lang="en-US" sz="1400" dirty="0">
                          <a:effectLst/>
                        </a:rPr>
                        <a:t>volume</a:t>
                      </a:r>
                    </a:p>
                  </a:txBody>
                  <a:tcPr marL="76200" marR="76200" marT="38100" marB="38100" anchor="ctr"/>
                </a:tc>
                <a:tc>
                  <a:txBody>
                    <a:bodyPr/>
                    <a:lstStyle/>
                    <a:p>
                      <a:pPr algn="l" fontAlgn="ctr"/>
                      <a:r>
                        <a:rPr lang="en-US" sz="1400" dirty="0" err="1">
                          <a:effectLst/>
                        </a:rPr>
                        <a:t>tradeId</a:t>
                      </a:r>
                      <a:endParaRPr lang="en-US" sz="1400" dirty="0">
                        <a:effectLst/>
                      </a:endParaRPr>
                    </a:p>
                  </a:txBody>
                  <a:tcPr marL="76200" marR="76200" marT="38100" marB="38100" anchor="ctr"/>
                </a:tc>
                <a:tc>
                  <a:txBody>
                    <a:bodyPr/>
                    <a:lstStyle/>
                    <a:p>
                      <a:pPr algn="l" fontAlgn="ctr"/>
                      <a:r>
                        <a:rPr lang="en-US" sz="1400" dirty="0">
                          <a:effectLst/>
                        </a:rPr>
                        <a:t>sequence</a:t>
                      </a:r>
                    </a:p>
                  </a:txBody>
                  <a:tcPr marL="76200" marR="76200" marT="38100" marB="38100" anchor="ctr"/>
                </a:tc>
                <a:tc>
                  <a:txBody>
                    <a:bodyPr/>
                    <a:lstStyle/>
                    <a:p>
                      <a:pPr algn="l" fontAlgn="ctr"/>
                      <a:r>
                        <a:rPr lang="en-US" sz="1400" dirty="0" err="1">
                          <a:effectLst/>
                        </a:rPr>
                        <a:t>quoteVolume</a:t>
                      </a:r>
                      <a:endParaRPr lang="en-US" sz="1400" dirty="0">
                        <a:effectLst/>
                      </a:endParaRPr>
                    </a:p>
                  </a:txBody>
                  <a:tcPr marL="76200" marR="76200" marT="38100" marB="38100" anchor="ctr"/>
                </a:tc>
                <a:extLst>
                  <a:ext uri="{0D108BD9-81ED-4DB2-BD59-A6C34878D82A}">
                    <a16:rowId xmlns:a16="http://schemas.microsoft.com/office/drawing/2014/main" val="836185555"/>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3545123530</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312430912"/>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0.0366</a:t>
                      </a:r>
                    </a:p>
                  </a:txBody>
                  <a:tcPr marL="76200" marR="76200" marT="38100" marB="38100" anchor="ctr"/>
                </a:tc>
                <a:tc>
                  <a:txBody>
                    <a:bodyPr/>
                    <a:lstStyle/>
                    <a:p>
                      <a:pPr algn="l"/>
                      <a:r>
                        <a:rPr lang="en-US" altLang="zh-CN" sz="1400">
                          <a:effectLst/>
                        </a:rPr>
                        <a:t>3545123531</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2863021139"/>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dirty="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3545123532</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835831894"/>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3545123533</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467889805"/>
                  </a:ext>
                </a:extLst>
              </a:tr>
              <a:tr h="306510">
                <a:tc>
                  <a:txBody>
                    <a:bodyPr/>
                    <a:lstStyle/>
                    <a:p>
                      <a:pPr algn="l"/>
                      <a:r>
                        <a:rPr lang="en-US" altLang="zh-CN" sz="1400" dirty="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dirty="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dirty="0">
                          <a:effectLst/>
                        </a:rPr>
                        <a:t>3545123534</a:t>
                      </a:r>
                    </a:p>
                  </a:txBody>
                  <a:tcPr marL="76200" marR="76200" marT="38100" marB="38100" anchor="ctr"/>
                </a:tc>
                <a:tc>
                  <a:txBody>
                    <a:bodyPr/>
                    <a:lstStyle/>
                    <a:p>
                      <a:pPr algn="l"/>
                      <a:r>
                        <a:rPr lang="en-US" sz="1400" dirty="0">
                          <a:effectLst/>
                        </a:rPr>
                        <a:t>None</a:t>
                      </a:r>
                    </a:p>
                  </a:txBody>
                  <a:tcPr marL="76200" marR="76200" marT="38100" marB="38100" anchor="ctr"/>
                </a:tc>
                <a:tc>
                  <a:txBody>
                    <a:bodyPr/>
                    <a:lstStyle/>
                    <a:p>
                      <a:pPr algn="l"/>
                      <a:r>
                        <a:rPr lang="en-US" sz="1400" dirty="0">
                          <a:effectLst/>
                        </a:rPr>
                        <a:t>None</a:t>
                      </a:r>
                    </a:p>
                  </a:txBody>
                  <a:tcPr marL="76200" marR="76200" marT="38100" marB="38100" anchor="ctr"/>
                </a:tc>
                <a:extLst>
                  <a:ext uri="{0D108BD9-81ED-4DB2-BD59-A6C34878D82A}">
                    <a16:rowId xmlns:a16="http://schemas.microsoft.com/office/drawing/2014/main" val="481351387"/>
                  </a:ext>
                </a:extLst>
              </a:tr>
            </a:tbl>
          </a:graphicData>
        </a:graphic>
      </p:graphicFrame>
    </p:spTree>
    <p:extLst>
      <p:ext uri="{BB962C8B-B14F-4D97-AF65-F5344CB8AC3E}">
        <p14:creationId xmlns:p14="http://schemas.microsoft.com/office/powerpoint/2010/main" val="42557113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TICK-BY-TICK TRADES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60453"/>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表格 7">
            <a:extLst>
              <a:ext uri="{FF2B5EF4-FFF2-40B4-BE49-F238E27FC236}">
                <a16:creationId xmlns:a16="http://schemas.microsoft.com/office/drawing/2014/main" id="{AC1DD5D4-C963-6012-7505-64F5671C6EAC}"/>
              </a:ext>
            </a:extLst>
          </p:cNvPr>
          <p:cNvGraphicFramePr>
            <a:graphicFrameLocks noGrp="1"/>
          </p:cNvGraphicFramePr>
          <p:nvPr>
            <p:extLst>
              <p:ext uri="{D42A27DB-BD31-4B8C-83A1-F6EECF244321}">
                <p14:modId xmlns:p14="http://schemas.microsoft.com/office/powerpoint/2010/main" val="4213048372"/>
              </p:ext>
            </p:extLst>
          </p:nvPr>
        </p:nvGraphicFramePr>
        <p:xfrm>
          <a:off x="716224" y="1915031"/>
          <a:ext cx="10983340" cy="2035470"/>
        </p:xfrm>
        <a:graphic>
          <a:graphicData uri="http://schemas.openxmlformats.org/drawingml/2006/table">
            <a:tbl>
              <a:tblPr firstRow="1">
                <a:tableStyleId>{17292A2E-F333-43FB-9621-5CBBE7FDCDCB}</a:tableStyleId>
              </a:tblPr>
              <a:tblGrid>
                <a:gridCol w="1867950">
                  <a:extLst>
                    <a:ext uri="{9D8B030D-6E8A-4147-A177-3AD203B41FA5}">
                      <a16:colId xmlns:a16="http://schemas.microsoft.com/office/drawing/2014/main" val="4081889742"/>
                    </a:ext>
                  </a:extLst>
                </a:gridCol>
                <a:gridCol w="1888435">
                  <a:extLst>
                    <a:ext uri="{9D8B030D-6E8A-4147-A177-3AD203B41FA5}">
                      <a16:colId xmlns:a16="http://schemas.microsoft.com/office/drawing/2014/main" val="2941843187"/>
                    </a:ext>
                  </a:extLst>
                </a:gridCol>
                <a:gridCol w="964095">
                  <a:extLst>
                    <a:ext uri="{9D8B030D-6E8A-4147-A177-3AD203B41FA5}">
                      <a16:colId xmlns:a16="http://schemas.microsoft.com/office/drawing/2014/main" val="4044588892"/>
                    </a:ext>
                  </a:extLst>
                </a:gridCol>
                <a:gridCol w="1093305">
                  <a:extLst>
                    <a:ext uri="{9D8B030D-6E8A-4147-A177-3AD203B41FA5}">
                      <a16:colId xmlns:a16="http://schemas.microsoft.com/office/drawing/2014/main" val="621070576"/>
                    </a:ext>
                  </a:extLst>
                </a:gridCol>
                <a:gridCol w="906790">
                  <a:extLst>
                    <a:ext uri="{9D8B030D-6E8A-4147-A177-3AD203B41FA5}">
                      <a16:colId xmlns:a16="http://schemas.microsoft.com/office/drawing/2014/main" val="2921151719"/>
                    </a:ext>
                  </a:extLst>
                </a:gridCol>
                <a:gridCol w="1344115">
                  <a:extLst>
                    <a:ext uri="{9D8B030D-6E8A-4147-A177-3AD203B41FA5}">
                      <a16:colId xmlns:a16="http://schemas.microsoft.com/office/drawing/2014/main" val="1592718204"/>
                    </a:ext>
                  </a:extLst>
                </a:gridCol>
                <a:gridCol w="1344115">
                  <a:extLst>
                    <a:ext uri="{9D8B030D-6E8A-4147-A177-3AD203B41FA5}">
                      <a16:colId xmlns:a16="http://schemas.microsoft.com/office/drawing/2014/main" val="2763293876"/>
                    </a:ext>
                  </a:extLst>
                </a:gridCol>
                <a:gridCol w="1574535">
                  <a:extLst>
                    <a:ext uri="{9D8B030D-6E8A-4147-A177-3AD203B41FA5}">
                      <a16:colId xmlns:a16="http://schemas.microsoft.com/office/drawing/2014/main" val="2365680853"/>
                    </a:ext>
                  </a:extLst>
                </a:gridCol>
              </a:tblGrid>
              <a:tr h="486414">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err="1">
                          <a:effectLst/>
                        </a:rPr>
                        <a:t>exchangeTimestampNanoseconds</a:t>
                      </a:r>
                      <a:endParaRPr lang="en-US" sz="1400" dirty="0">
                        <a:effectLst/>
                      </a:endParaRPr>
                    </a:p>
                  </a:txBody>
                  <a:tcPr marL="76200" marR="76200" marT="38100" marB="38100" anchor="ctr"/>
                </a:tc>
                <a:tc>
                  <a:txBody>
                    <a:bodyPr/>
                    <a:lstStyle/>
                    <a:p>
                      <a:pPr algn="l" fontAlgn="ctr"/>
                      <a:r>
                        <a:rPr lang="en-US" sz="1400" dirty="0" err="1">
                          <a:effectLst/>
                        </a:rPr>
                        <a:t>isBuySide</a:t>
                      </a:r>
                      <a:endParaRPr lang="en-US" sz="1400" dirty="0">
                        <a:effectLst/>
                      </a:endParaRPr>
                    </a:p>
                  </a:txBody>
                  <a:tcPr marL="76200" marR="76200" marT="38100" marB="38100" anchor="ctr"/>
                </a:tc>
                <a:tc>
                  <a:txBody>
                    <a:bodyPr/>
                    <a:lstStyle/>
                    <a:p>
                      <a:pPr algn="l" fontAlgn="ctr"/>
                      <a:r>
                        <a:rPr lang="en-US" sz="1400" dirty="0">
                          <a:effectLst/>
                        </a:rPr>
                        <a:t>price</a:t>
                      </a:r>
                    </a:p>
                  </a:txBody>
                  <a:tcPr marL="76200" marR="76200" marT="38100" marB="38100" anchor="ctr"/>
                </a:tc>
                <a:tc>
                  <a:txBody>
                    <a:bodyPr/>
                    <a:lstStyle/>
                    <a:p>
                      <a:pPr algn="l" fontAlgn="ctr"/>
                      <a:r>
                        <a:rPr lang="en-US" sz="1400" dirty="0">
                          <a:effectLst/>
                        </a:rPr>
                        <a:t>volume</a:t>
                      </a:r>
                    </a:p>
                  </a:txBody>
                  <a:tcPr marL="76200" marR="76200" marT="38100" marB="38100" anchor="ctr"/>
                </a:tc>
                <a:tc>
                  <a:txBody>
                    <a:bodyPr/>
                    <a:lstStyle/>
                    <a:p>
                      <a:pPr algn="l" fontAlgn="ctr"/>
                      <a:r>
                        <a:rPr lang="en-US" sz="1400" dirty="0" err="1">
                          <a:effectLst/>
                        </a:rPr>
                        <a:t>tradeId</a:t>
                      </a:r>
                      <a:endParaRPr lang="en-US" sz="1400" dirty="0">
                        <a:effectLst/>
                      </a:endParaRPr>
                    </a:p>
                  </a:txBody>
                  <a:tcPr marL="76200" marR="76200" marT="38100" marB="38100" anchor="ctr"/>
                </a:tc>
                <a:tc>
                  <a:txBody>
                    <a:bodyPr/>
                    <a:lstStyle/>
                    <a:p>
                      <a:pPr algn="l" fontAlgn="ctr"/>
                      <a:r>
                        <a:rPr lang="en-US" sz="1400" dirty="0">
                          <a:effectLst/>
                        </a:rPr>
                        <a:t>sequence</a:t>
                      </a:r>
                    </a:p>
                  </a:txBody>
                  <a:tcPr marL="76200" marR="76200" marT="38100" marB="38100" anchor="ctr"/>
                </a:tc>
                <a:tc>
                  <a:txBody>
                    <a:bodyPr/>
                    <a:lstStyle/>
                    <a:p>
                      <a:pPr algn="l" fontAlgn="ctr"/>
                      <a:r>
                        <a:rPr lang="en-US" sz="1400" dirty="0" err="1">
                          <a:effectLst/>
                        </a:rPr>
                        <a:t>quoteVolume</a:t>
                      </a:r>
                      <a:endParaRPr lang="en-US" sz="1400" dirty="0">
                        <a:effectLst/>
                      </a:endParaRPr>
                    </a:p>
                  </a:txBody>
                  <a:tcPr marL="76200" marR="76200" marT="38100" marB="38100" anchor="ctr"/>
                </a:tc>
                <a:extLst>
                  <a:ext uri="{0D108BD9-81ED-4DB2-BD59-A6C34878D82A}">
                    <a16:rowId xmlns:a16="http://schemas.microsoft.com/office/drawing/2014/main" val="836185555"/>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3545123530</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312430912"/>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0.0366</a:t>
                      </a:r>
                    </a:p>
                  </a:txBody>
                  <a:tcPr marL="76200" marR="76200" marT="38100" marB="38100" anchor="ctr"/>
                </a:tc>
                <a:tc>
                  <a:txBody>
                    <a:bodyPr/>
                    <a:lstStyle/>
                    <a:p>
                      <a:pPr algn="l"/>
                      <a:r>
                        <a:rPr lang="en-US" altLang="zh-CN" sz="1400">
                          <a:effectLst/>
                        </a:rPr>
                        <a:t>3545123531</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2863021139"/>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dirty="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3545123532</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835831894"/>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3545123533</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467889805"/>
                  </a:ext>
                </a:extLst>
              </a:tr>
              <a:tr h="306510">
                <a:tc>
                  <a:txBody>
                    <a:bodyPr/>
                    <a:lstStyle/>
                    <a:p>
                      <a:pPr algn="l"/>
                      <a:r>
                        <a:rPr lang="en-US" altLang="zh-CN" sz="1400" dirty="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dirty="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dirty="0">
                          <a:effectLst/>
                        </a:rPr>
                        <a:t>3545123534</a:t>
                      </a:r>
                    </a:p>
                  </a:txBody>
                  <a:tcPr marL="76200" marR="76200" marT="38100" marB="38100" anchor="ctr"/>
                </a:tc>
                <a:tc>
                  <a:txBody>
                    <a:bodyPr/>
                    <a:lstStyle/>
                    <a:p>
                      <a:pPr algn="l"/>
                      <a:r>
                        <a:rPr lang="en-US" sz="1400" dirty="0">
                          <a:effectLst/>
                        </a:rPr>
                        <a:t>None</a:t>
                      </a:r>
                    </a:p>
                  </a:txBody>
                  <a:tcPr marL="76200" marR="76200" marT="38100" marB="38100" anchor="ctr"/>
                </a:tc>
                <a:tc>
                  <a:txBody>
                    <a:bodyPr/>
                    <a:lstStyle/>
                    <a:p>
                      <a:pPr algn="l"/>
                      <a:r>
                        <a:rPr lang="en-US" sz="1400" dirty="0">
                          <a:effectLst/>
                        </a:rPr>
                        <a:t>None</a:t>
                      </a:r>
                    </a:p>
                  </a:txBody>
                  <a:tcPr marL="76200" marR="76200" marT="38100" marB="38100" anchor="ctr"/>
                </a:tc>
                <a:extLst>
                  <a:ext uri="{0D108BD9-81ED-4DB2-BD59-A6C34878D82A}">
                    <a16:rowId xmlns:a16="http://schemas.microsoft.com/office/drawing/2014/main" val="481351387"/>
                  </a:ext>
                </a:extLst>
              </a:tr>
            </a:tbl>
          </a:graphicData>
        </a:graphic>
      </p:graphicFrame>
      <p:sp>
        <p:nvSpPr>
          <p:cNvPr id="3" name="文本框 2">
            <a:extLst>
              <a:ext uri="{FF2B5EF4-FFF2-40B4-BE49-F238E27FC236}">
                <a16:creationId xmlns:a16="http://schemas.microsoft.com/office/drawing/2014/main" id="{67D3A289-2297-6934-F2F5-4EFC4FDD85BE}"/>
              </a:ext>
            </a:extLst>
          </p:cNvPr>
          <p:cNvSpPr txBox="1"/>
          <p:nvPr/>
        </p:nvSpPr>
        <p:spPr>
          <a:xfrm>
            <a:off x="615623" y="4033090"/>
            <a:ext cx="10849241" cy="2364686"/>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The time at which the trade took place, as provided by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exchange</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exchangeTimestampNanoseconds</a:t>
            </a:r>
            <a:r>
              <a:rPr kumimoji="1" lang="en-US" altLang="zh-CN" dirty="0">
                <a:latin typeface="Tahoma" panose="020B0604030504040204" pitchFamily="34" charset="0"/>
                <a:ea typeface="Tahoma" panose="020B0604030504040204" pitchFamily="34" charset="0"/>
                <a:cs typeface="Tahoma" panose="020B0604030504040204" pitchFamily="34" charset="0"/>
              </a:rPr>
              <a:t>: The nanosecond part of the </a:t>
            </a:r>
            <a:r>
              <a:rPr kumimoji="1" lang="en-US" altLang="zh-CN" dirty="0" err="1">
                <a:latin typeface="Tahoma" panose="020B0604030504040204" pitchFamily="34" charset="0"/>
                <a:ea typeface="Tahoma" panose="020B0604030504040204" pitchFamily="34" charset="0"/>
                <a:cs typeface="Tahoma" panose="020B0604030504040204" pitchFamily="34" charset="0"/>
              </a:rPr>
              <a:t>exchangeTimestamp</a:t>
            </a:r>
            <a:r>
              <a:rPr kumimoji="1" lang="en-US" altLang="zh-CN" dirty="0">
                <a:latin typeface="Tahoma" panose="020B0604030504040204" pitchFamily="34" charset="0"/>
                <a:ea typeface="Tahoma" panose="020B0604030504040204" pitchFamily="34" charset="0"/>
                <a:cs typeface="Tahoma" panose="020B0604030504040204" pitchFamily="34" charset="0"/>
              </a:rPr>
              <a:t> (0 or null if not provided by an exchange)</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isBuySide</a:t>
            </a:r>
            <a:r>
              <a:rPr kumimoji="1" lang="en-US" altLang="zh-CN" dirty="0">
                <a:latin typeface="Tahoma" panose="020B0604030504040204" pitchFamily="34" charset="0"/>
                <a:ea typeface="Tahoma" panose="020B0604030504040204" pitchFamily="34" charset="0"/>
                <a:cs typeface="Tahoma" panose="020B0604030504040204" pitchFamily="34" charset="0"/>
              </a:rPr>
              <a:t>: A </a:t>
            </a:r>
            <a:r>
              <a:rPr kumimoji="1" lang="en-US" altLang="zh-CN" dirty="0" err="1">
                <a:latin typeface="Tahoma" panose="020B0604030504040204" pitchFamily="34" charset="0"/>
                <a:ea typeface="Tahoma" panose="020B0604030504040204" pitchFamily="34" charset="0"/>
                <a:cs typeface="Tahoma" panose="020B0604030504040204" pitchFamily="34" charset="0"/>
              </a:rPr>
              <a:t>boolean</a:t>
            </a:r>
            <a:r>
              <a:rPr kumimoji="1" lang="en-US" altLang="zh-CN" dirty="0">
                <a:latin typeface="Tahoma" panose="020B0604030504040204" pitchFamily="34" charset="0"/>
                <a:ea typeface="Tahoma" panose="020B0604030504040204" pitchFamily="34" charset="0"/>
                <a:cs typeface="Tahoma" panose="020B0604030504040204" pitchFamily="34" charset="0"/>
              </a:rPr>
              <a:t> indicating the trade direction from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taker's perspective</a:t>
            </a:r>
            <a:r>
              <a:rPr kumimoji="1" lang="en-US" altLang="zh-CN" dirty="0">
                <a:latin typeface="Tahoma" panose="020B0604030504040204" pitchFamily="34" charset="0"/>
                <a:ea typeface="Tahoma" panose="020B0604030504040204" pitchFamily="34" charset="0"/>
                <a:cs typeface="Tahoma" panose="020B0604030504040204" pitchFamily="34" charset="0"/>
              </a:rPr>
              <a:t>: True for a buy, False for a sell</a:t>
            </a:r>
          </a:p>
        </p:txBody>
      </p:sp>
    </p:spTree>
    <p:extLst>
      <p:ext uri="{BB962C8B-B14F-4D97-AF65-F5344CB8AC3E}">
        <p14:creationId xmlns:p14="http://schemas.microsoft.com/office/powerpoint/2010/main" val="13794449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TICK-BY-TICK TRADES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60453"/>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表格 7">
            <a:extLst>
              <a:ext uri="{FF2B5EF4-FFF2-40B4-BE49-F238E27FC236}">
                <a16:creationId xmlns:a16="http://schemas.microsoft.com/office/drawing/2014/main" id="{AC1DD5D4-C963-6012-7505-64F5671C6EAC}"/>
              </a:ext>
            </a:extLst>
          </p:cNvPr>
          <p:cNvGraphicFramePr>
            <a:graphicFrameLocks noGrp="1"/>
          </p:cNvGraphicFramePr>
          <p:nvPr/>
        </p:nvGraphicFramePr>
        <p:xfrm>
          <a:off x="716224" y="1915031"/>
          <a:ext cx="10983340" cy="2035470"/>
        </p:xfrm>
        <a:graphic>
          <a:graphicData uri="http://schemas.openxmlformats.org/drawingml/2006/table">
            <a:tbl>
              <a:tblPr firstRow="1">
                <a:tableStyleId>{17292A2E-F333-43FB-9621-5CBBE7FDCDCB}</a:tableStyleId>
              </a:tblPr>
              <a:tblGrid>
                <a:gridCol w="1867950">
                  <a:extLst>
                    <a:ext uri="{9D8B030D-6E8A-4147-A177-3AD203B41FA5}">
                      <a16:colId xmlns:a16="http://schemas.microsoft.com/office/drawing/2014/main" val="4081889742"/>
                    </a:ext>
                  </a:extLst>
                </a:gridCol>
                <a:gridCol w="1888435">
                  <a:extLst>
                    <a:ext uri="{9D8B030D-6E8A-4147-A177-3AD203B41FA5}">
                      <a16:colId xmlns:a16="http://schemas.microsoft.com/office/drawing/2014/main" val="2941843187"/>
                    </a:ext>
                  </a:extLst>
                </a:gridCol>
                <a:gridCol w="964095">
                  <a:extLst>
                    <a:ext uri="{9D8B030D-6E8A-4147-A177-3AD203B41FA5}">
                      <a16:colId xmlns:a16="http://schemas.microsoft.com/office/drawing/2014/main" val="4044588892"/>
                    </a:ext>
                  </a:extLst>
                </a:gridCol>
                <a:gridCol w="1093305">
                  <a:extLst>
                    <a:ext uri="{9D8B030D-6E8A-4147-A177-3AD203B41FA5}">
                      <a16:colId xmlns:a16="http://schemas.microsoft.com/office/drawing/2014/main" val="621070576"/>
                    </a:ext>
                  </a:extLst>
                </a:gridCol>
                <a:gridCol w="906790">
                  <a:extLst>
                    <a:ext uri="{9D8B030D-6E8A-4147-A177-3AD203B41FA5}">
                      <a16:colId xmlns:a16="http://schemas.microsoft.com/office/drawing/2014/main" val="2921151719"/>
                    </a:ext>
                  </a:extLst>
                </a:gridCol>
                <a:gridCol w="1344115">
                  <a:extLst>
                    <a:ext uri="{9D8B030D-6E8A-4147-A177-3AD203B41FA5}">
                      <a16:colId xmlns:a16="http://schemas.microsoft.com/office/drawing/2014/main" val="1592718204"/>
                    </a:ext>
                  </a:extLst>
                </a:gridCol>
                <a:gridCol w="1344115">
                  <a:extLst>
                    <a:ext uri="{9D8B030D-6E8A-4147-A177-3AD203B41FA5}">
                      <a16:colId xmlns:a16="http://schemas.microsoft.com/office/drawing/2014/main" val="2763293876"/>
                    </a:ext>
                  </a:extLst>
                </a:gridCol>
                <a:gridCol w="1574535">
                  <a:extLst>
                    <a:ext uri="{9D8B030D-6E8A-4147-A177-3AD203B41FA5}">
                      <a16:colId xmlns:a16="http://schemas.microsoft.com/office/drawing/2014/main" val="2365680853"/>
                    </a:ext>
                  </a:extLst>
                </a:gridCol>
              </a:tblGrid>
              <a:tr h="486414">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err="1">
                          <a:effectLst/>
                        </a:rPr>
                        <a:t>exchangeTimestampNanoseconds</a:t>
                      </a:r>
                      <a:endParaRPr lang="en-US" sz="1400" dirty="0">
                        <a:effectLst/>
                      </a:endParaRPr>
                    </a:p>
                  </a:txBody>
                  <a:tcPr marL="76200" marR="76200" marT="38100" marB="38100" anchor="ctr"/>
                </a:tc>
                <a:tc>
                  <a:txBody>
                    <a:bodyPr/>
                    <a:lstStyle/>
                    <a:p>
                      <a:pPr algn="l" fontAlgn="ctr"/>
                      <a:r>
                        <a:rPr lang="en-US" sz="1400" dirty="0" err="1">
                          <a:effectLst/>
                        </a:rPr>
                        <a:t>isBuySide</a:t>
                      </a:r>
                      <a:endParaRPr lang="en-US" sz="1400" dirty="0">
                        <a:effectLst/>
                      </a:endParaRPr>
                    </a:p>
                  </a:txBody>
                  <a:tcPr marL="76200" marR="76200" marT="38100" marB="38100" anchor="ctr"/>
                </a:tc>
                <a:tc>
                  <a:txBody>
                    <a:bodyPr/>
                    <a:lstStyle/>
                    <a:p>
                      <a:pPr algn="l" fontAlgn="ctr"/>
                      <a:r>
                        <a:rPr lang="en-US" sz="1400" dirty="0">
                          <a:effectLst/>
                        </a:rPr>
                        <a:t>price</a:t>
                      </a:r>
                    </a:p>
                  </a:txBody>
                  <a:tcPr marL="76200" marR="76200" marT="38100" marB="38100" anchor="ctr"/>
                </a:tc>
                <a:tc>
                  <a:txBody>
                    <a:bodyPr/>
                    <a:lstStyle/>
                    <a:p>
                      <a:pPr algn="l" fontAlgn="ctr"/>
                      <a:r>
                        <a:rPr lang="en-US" sz="1400" dirty="0">
                          <a:effectLst/>
                        </a:rPr>
                        <a:t>volume</a:t>
                      </a:r>
                    </a:p>
                  </a:txBody>
                  <a:tcPr marL="76200" marR="76200" marT="38100" marB="38100" anchor="ctr"/>
                </a:tc>
                <a:tc>
                  <a:txBody>
                    <a:bodyPr/>
                    <a:lstStyle/>
                    <a:p>
                      <a:pPr algn="l" fontAlgn="ctr"/>
                      <a:r>
                        <a:rPr lang="en-US" sz="1400" dirty="0" err="1">
                          <a:effectLst/>
                        </a:rPr>
                        <a:t>tradeId</a:t>
                      </a:r>
                      <a:endParaRPr lang="en-US" sz="1400" dirty="0">
                        <a:effectLst/>
                      </a:endParaRPr>
                    </a:p>
                  </a:txBody>
                  <a:tcPr marL="76200" marR="76200" marT="38100" marB="38100" anchor="ctr"/>
                </a:tc>
                <a:tc>
                  <a:txBody>
                    <a:bodyPr/>
                    <a:lstStyle/>
                    <a:p>
                      <a:pPr algn="l" fontAlgn="ctr"/>
                      <a:r>
                        <a:rPr lang="en-US" sz="1400" dirty="0">
                          <a:effectLst/>
                        </a:rPr>
                        <a:t>sequence</a:t>
                      </a:r>
                    </a:p>
                  </a:txBody>
                  <a:tcPr marL="76200" marR="76200" marT="38100" marB="38100" anchor="ctr"/>
                </a:tc>
                <a:tc>
                  <a:txBody>
                    <a:bodyPr/>
                    <a:lstStyle/>
                    <a:p>
                      <a:pPr algn="l" fontAlgn="ctr"/>
                      <a:r>
                        <a:rPr lang="en-US" sz="1400" dirty="0" err="1">
                          <a:effectLst/>
                        </a:rPr>
                        <a:t>quoteVolume</a:t>
                      </a:r>
                      <a:endParaRPr lang="en-US" sz="1400" dirty="0">
                        <a:effectLst/>
                      </a:endParaRPr>
                    </a:p>
                  </a:txBody>
                  <a:tcPr marL="76200" marR="76200" marT="38100" marB="38100" anchor="ctr"/>
                </a:tc>
                <a:extLst>
                  <a:ext uri="{0D108BD9-81ED-4DB2-BD59-A6C34878D82A}">
                    <a16:rowId xmlns:a16="http://schemas.microsoft.com/office/drawing/2014/main" val="836185555"/>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3545123530</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312430912"/>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0.0366</a:t>
                      </a:r>
                    </a:p>
                  </a:txBody>
                  <a:tcPr marL="76200" marR="76200" marT="38100" marB="38100" anchor="ctr"/>
                </a:tc>
                <a:tc>
                  <a:txBody>
                    <a:bodyPr/>
                    <a:lstStyle/>
                    <a:p>
                      <a:pPr algn="l"/>
                      <a:r>
                        <a:rPr lang="en-US" altLang="zh-CN" sz="1400">
                          <a:effectLst/>
                        </a:rPr>
                        <a:t>3545123531</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2863021139"/>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dirty="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3545123532</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835831894"/>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3545123533</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467889805"/>
                  </a:ext>
                </a:extLst>
              </a:tr>
              <a:tr h="306510">
                <a:tc>
                  <a:txBody>
                    <a:bodyPr/>
                    <a:lstStyle/>
                    <a:p>
                      <a:pPr algn="l"/>
                      <a:r>
                        <a:rPr lang="en-US" altLang="zh-CN" sz="1400" dirty="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dirty="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dirty="0">
                          <a:effectLst/>
                        </a:rPr>
                        <a:t>3545123534</a:t>
                      </a:r>
                    </a:p>
                  </a:txBody>
                  <a:tcPr marL="76200" marR="76200" marT="38100" marB="38100" anchor="ctr"/>
                </a:tc>
                <a:tc>
                  <a:txBody>
                    <a:bodyPr/>
                    <a:lstStyle/>
                    <a:p>
                      <a:pPr algn="l"/>
                      <a:r>
                        <a:rPr lang="en-US" sz="1400" dirty="0">
                          <a:effectLst/>
                        </a:rPr>
                        <a:t>None</a:t>
                      </a:r>
                    </a:p>
                  </a:txBody>
                  <a:tcPr marL="76200" marR="76200" marT="38100" marB="38100" anchor="ctr"/>
                </a:tc>
                <a:tc>
                  <a:txBody>
                    <a:bodyPr/>
                    <a:lstStyle/>
                    <a:p>
                      <a:pPr algn="l"/>
                      <a:r>
                        <a:rPr lang="en-US" sz="1400" dirty="0">
                          <a:effectLst/>
                        </a:rPr>
                        <a:t>None</a:t>
                      </a:r>
                    </a:p>
                  </a:txBody>
                  <a:tcPr marL="76200" marR="76200" marT="38100" marB="38100" anchor="ctr"/>
                </a:tc>
                <a:extLst>
                  <a:ext uri="{0D108BD9-81ED-4DB2-BD59-A6C34878D82A}">
                    <a16:rowId xmlns:a16="http://schemas.microsoft.com/office/drawing/2014/main" val="481351387"/>
                  </a:ext>
                </a:extLst>
              </a:tr>
            </a:tbl>
          </a:graphicData>
        </a:graphic>
      </p:graphicFrame>
      <p:sp>
        <p:nvSpPr>
          <p:cNvPr id="3" name="文本框 2">
            <a:extLst>
              <a:ext uri="{FF2B5EF4-FFF2-40B4-BE49-F238E27FC236}">
                <a16:creationId xmlns:a16="http://schemas.microsoft.com/office/drawing/2014/main" id="{67D3A289-2297-6934-F2F5-4EFC4FDD85BE}"/>
              </a:ext>
            </a:extLst>
          </p:cNvPr>
          <p:cNvSpPr txBox="1"/>
          <p:nvPr/>
        </p:nvSpPr>
        <p:spPr>
          <a:xfrm>
            <a:off x="615623" y="4033090"/>
            <a:ext cx="10849241" cy="2364686"/>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isBuySide</a:t>
            </a:r>
            <a:r>
              <a:rPr kumimoji="1" lang="en-US" altLang="zh-CN" dirty="0">
                <a:latin typeface="Tahoma" panose="020B0604030504040204" pitchFamily="34" charset="0"/>
                <a:ea typeface="Tahoma" panose="020B0604030504040204" pitchFamily="34" charset="0"/>
                <a:cs typeface="Tahoma" panose="020B0604030504040204" pitchFamily="34" charset="0"/>
              </a:rPr>
              <a:t> </a:t>
            </a:r>
          </a:p>
          <a:p>
            <a:pPr marL="1257300" lvl="2" indent="-342900">
              <a:lnSpc>
                <a:spcPts val="3400"/>
              </a:lnSpc>
              <a:spcAft>
                <a:spcPts val="600"/>
              </a:spcAft>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 True (buy)</a:t>
            </a:r>
            <a:r>
              <a:rPr kumimoji="1" lang="en-US" altLang="zh-CN" dirty="0">
                <a:latin typeface="Tahoma" panose="020B0604030504040204" pitchFamily="34" charset="0"/>
                <a:ea typeface="Tahoma" panose="020B0604030504040204" pitchFamily="34" charset="0"/>
                <a:cs typeface="Tahoma" panose="020B0604030504040204" pitchFamily="34" charset="0"/>
              </a:rPr>
              <a:t> — The taker placed a buy order that matched against a resting sell (ask) order on the order book. The taker is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buying</a:t>
            </a:r>
            <a:r>
              <a:rPr kumimoji="1" lang="en-US" altLang="zh-CN" dirty="0">
                <a:latin typeface="Tahoma" panose="020B0604030504040204" pitchFamily="34" charset="0"/>
                <a:ea typeface="Tahoma" panose="020B0604030504040204" pitchFamily="34" charset="0"/>
                <a:cs typeface="Tahoma" panose="020B0604030504040204" pitchFamily="34" charset="0"/>
              </a:rPr>
              <a:t> the base asset.</a:t>
            </a:r>
          </a:p>
          <a:p>
            <a:pPr marL="1257300" lvl="2" indent="-342900">
              <a:lnSpc>
                <a:spcPts val="3400"/>
              </a:lnSpc>
              <a:spcAft>
                <a:spcPts val="600"/>
              </a:spcAft>
              <a:buFont typeface="Arial" panose="020B0604020202020204" pitchFamily="34" charset="0"/>
              <a:buChar char="•"/>
            </a:pPr>
            <a:r>
              <a:rPr kumimoji="1" lang="en-US" altLang="zh-CN" b="1" dirty="0">
                <a:latin typeface="Tahoma" panose="020B0604030504040204" pitchFamily="34" charset="0"/>
                <a:ea typeface="Tahoma" panose="020B0604030504040204" pitchFamily="34" charset="0"/>
                <a:cs typeface="Tahoma" panose="020B0604030504040204" pitchFamily="34" charset="0"/>
              </a:rPr>
              <a:t>= False (sell)</a:t>
            </a:r>
            <a:r>
              <a:rPr kumimoji="1" lang="en-US" altLang="zh-CN" dirty="0">
                <a:latin typeface="Tahoma" panose="020B0604030504040204" pitchFamily="34" charset="0"/>
                <a:ea typeface="Tahoma" panose="020B0604030504040204" pitchFamily="34" charset="0"/>
                <a:cs typeface="Tahoma" panose="020B0604030504040204" pitchFamily="34" charset="0"/>
              </a:rPr>
              <a:t>— The taker placed a sell order that matched against a resting buy (bid) order on the order book. The taker is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selling</a:t>
            </a:r>
            <a:r>
              <a:rPr kumimoji="1" lang="en-US" altLang="zh-CN" dirty="0">
                <a:latin typeface="Tahoma" panose="020B0604030504040204" pitchFamily="34" charset="0"/>
                <a:ea typeface="Tahoma" panose="020B0604030504040204" pitchFamily="34" charset="0"/>
                <a:cs typeface="Tahoma" panose="020B0604030504040204" pitchFamily="34" charset="0"/>
              </a:rPr>
              <a:t> the base asset.</a:t>
            </a:r>
          </a:p>
        </p:txBody>
      </p:sp>
    </p:spTree>
    <p:extLst>
      <p:ext uri="{BB962C8B-B14F-4D97-AF65-F5344CB8AC3E}">
        <p14:creationId xmlns:p14="http://schemas.microsoft.com/office/powerpoint/2010/main" val="11450263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Rectangle 8">
            <a:extLst>
              <a:ext uri="{FF2B5EF4-FFF2-40B4-BE49-F238E27FC236}">
                <a16:creationId xmlns:a16="http://schemas.microsoft.com/office/drawing/2014/main" id="{B3F5F215-00D9-5A05-7EFF-4139DAB01A6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TICK-BY-TICK TRADES</a:t>
            </a:r>
            <a:endParaRPr kumimoji="1" lang="zh-CN" altLang="en-US" sz="3200" b="1" dirty="0">
              <a:solidFill>
                <a:srgbClr val="0070C0"/>
              </a:solidFill>
              <a:latin typeface="Tahoma" panose="020B0604030504040204" pitchFamily="34" charset="0"/>
              <a:cs typeface="Tahoma" panose="020B0604030504040204" pitchFamily="34" charset="0"/>
            </a:endParaRPr>
          </a:p>
        </p:txBody>
      </p:sp>
      <p:sp>
        <p:nvSpPr>
          <p:cNvPr id="7" name="文本框 6">
            <a:extLst>
              <a:ext uri="{FF2B5EF4-FFF2-40B4-BE49-F238E27FC236}">
                <a16:creationId xmlns:a16="http://schemas.microsoft.com/office/drawing/2014/main" id="{01608090-203E-03DC-E9D9-E593BC11AED8}"/>
              </a:ext>
            </a:extLst>
          </p:cNvPr>
          <p:cNvSpPr txBox="1"/>
          <p:nvPr/>
        </p:nvSpPr>
        <p:spPr>
          <a:xfrm>
            <a:off x="615623" y="1360453"/>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Sample Data </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(ETH/USDT, </a:t>
            </a:r>
            <a:r>
              <a:rPr kumimoji="1" lang="en-US" altLang="zh-CN" b="1" dirty="0" err="1">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Binance</a:t>
            </a:r>
            <a:r>
              <a:rPr kumimoji="1" lang="en-US" altLang="zh-CN"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 2026-02-01)</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graphicFrame>
        <p:nvGraphicFramePr>
          <p:cNvPr id="8" name="表格 7">
            <a:extLst>
              <a:ext uri="{FF2B5EF4-FFF2-40B4-BE49-F238E27FC236}">
                <a16:creationId xmlns:a16="http://schemas.microsoft.com/office/drawing/2014/main" id="{AC1DD5D4-C963-6012-7505-64F5671C6EAC}"/>
              </a:ext>
            </a:extLst>
          </p:cNvPr>
          <p:cNvGraphicFramePr>
            <a:graphicFrameLocks noGrp="1"/>
          </p:cNvGraphicFramePr>
          <p:nvPr/>
        </p:nvGraphicFramePr>
        <p:xfrm>
          <a:off x="716224" y="1915031"/>
          <a:ext cx="10983340" cy="2035470"/>
        </p:xfrm>
        <a:graphic>
          <a:graphicData uri="http://schemas.openxmlformats.org/drawingml/2006/table">
            <a:tbl>
              <a:tblPr firstRow="1">
                <a:tableStyleId>{17292A2E-F333-43FB-9621-5CBBE7FDCDCB}</a:tableStyleId>
              </a:tblPr>
              <a:tblGrid>
                <a:gridCol w="1867950">
                  <a:extLst>
                    <a:ext uri="{9D8B030D-6E8A-4147-A177-3AD203B41FA5}">
                      <a16:colId xmlns:a16="http://schemas.microsoft.com/office/drawing/2014/main" val="4081889742"/>
                    </a:ext>
                  </a:extLst>
                </a:gridCol>
                <a:gridCol w="1888435">
                  <a:extLst>
                    <a:ext uri="{9D8B030D-6E8A-4147-A177-3AD203B41FA5}">
                      <a16:colId xmlns:a16="http://schemas.microsoft.com/office/drawing/2014/main" val="2941843187"/>
                    </a:ext>
                  </a:extLst>
                </a:gridCol>
                <a:gridCol w="964095">
                  <a:extLst>
                    <a:ext uri="{9D8B030D-6E8A-4147-A177-3AD203B41FA5}">
                      <a16:colId xmlns:a16="http://schemas.microsoft.com/office/drawing/2014/main" val="4044588892"/>
                    </a:ext>
                  </a:extLst>
                </a:gridCol>
                <a:gridCol w="1093305">
                  <a:extLst>
                    <a:ext uri="{9D8B030D-6E8A-4147-A177-3AD203B41FA5}">
                      <a16:colId xmlns:a16="http://schemas.microsoft.com/office/drawing/2014/main" val="621070576"/>
                    </a:ext>
                  </a:extLst>
                </a:gridCol>
                <a:gridCol w="906790">
                  <a:extLst>
                    <a:ext uri="{9D8B030D-6E8A-4147-A177-3AD203B41FA5}">
                      <a16:colId xmlns:a16="http://schemas.microsoft.com/office/drawing/2014/main" val="2921151719"/>
                    </a:ext>
                  </a:extLst>
                </a:gridCol>
                <a:gridCol w="1344115">
                  <a:extLst>
                    <a:ext uri="{9D8B030D-6E8A-4147-A177-3AD203B41FA5}">
                      <a16:colId xmlns:a16="http://schemas.microsoft.com/office/drawing/2014/main" val="1592718204"/>
                    </a:ext>
                  </a:extLst>
                </a:gridCol>
                <a:gridCol w="1344115">
                  <a:extLst>
                    <a:ext uri="{9D8B030D-6E8A-4147-A177-3AD203B41FA5}">
                      <a16:colId xmlns:a16="http://schemas.microsoft.com/office/drawing/2014/main" val="2763293876"/>
                    </a:ext>
                  </a:extLst>
                </a:gridCol>
                <a:gridCol w="1574535">
                  <a:extLst>
                    <a:ext uri="{9D8B030D-6E8A-4147-A177-3AD203B41FA5}">
                      <a16:colId xmlns:a16="http://schemas.microsoft.com/office/drawing/2014/main" val="2365680853"/>
                    </a:ext>
                  </a:extLst>
                </a:gridCol>
              </a:tblGrid>
              <a:tr h="486414">
                <a:tc>
                  <a:txBody>
                    <a:bodyPr/>
                    <a:lstStyle/>
                    <a:p>
                      <a:pPr algn="l" fontAlgn="ctr"/>
                      <a:r>
                        <a:rPr lang="en-US" sz="1400" dirty="0" err="1">
                          <a:effectLst/>
                        </a:rPr>
                        <a:t>exchangeTimestamp</a:t>
                      </a:r>
                      <a:endParaRPr lang="en-US" sz="1400" dirty="0">
                        <a:effectLst/>
                      </a:endParaRPr>
                    </a:p>
                  </a:txBody>
                  <a:tcPr marL="76200" marR="76200" marT="38100" marB="38100" anchor="ctr"/>
                </a:tc>
                <a:tc>
                  <a:txBody>
                    <a:bodyPr/>
                    <a:lstStyle/>
                    <a:p>
                      <a:pPr algn="l" fontAlgn="ctr"/>
                      <a:r>
                        <a:rPr lang="en-US" sz="1400" dirty="0" err="1">
                          <a:effectLst/>
                        </a:rPr>
                        <a:t>exchangeTimestampNanoseconds</a:t>
                      </a:r>
                      <a:endParaRPr lang="en-US" sz="1400" dirty="0">
                        <a:effectLst/>
                      </a:endParaRPr>
                    </a:p>
                  </a:txBody>
                  <a:tcPr marL="76200" marR="76200" marT="38100" marB="38100" anchor="ctr"/>
                </a:tc>
                <a:tc>
                  <a:txBody>
                    <a:bodyPr/>
                    <a:lstStyle/>
                    <a:p>
                      <a:pPr algn="l" fontAlgn="ctr"/>
                      <a:r>
                        <a:rPr lang="en-US" sz="1400" dirty="0" err="1">
                          <a:effectLst/>
                        </a:rPr>
                        <a:t>isBuySide</a:t>
                      </a:r>
                      <a:endParaRPr lang="en-US" sz="1400" dirty="0">
                        <a:effectLst/>
                      </a:endParaRPr>
                    </a:p>
                  </a:txBody>
                  <a:tcPr marL="76200" marR="76200" marT="38100" marB="38100" anchor="ctr"/>
                </a:tc>
                <a:tc>
                  <a:txBody>
                    <a:bodyPr/>
                    <a:lstStyle/>
                    <a:p>
                      <a:pPr algn="l" fontAlgn="ctr"/>
                      <a:r>
                        <a:rPr lang="en-US" sz="1400" dirty="0">
                          <a:effectLst/>
                        </a:rPr>
                        <a:t>price</a:t>
                      </a:r>
                    </a:p>
                  </a:txBody>
                  <a:tcPr marL="76200" marR="76200" marT="38100" marB="38100" anchor="ctr"/>
                </a:tc>
                <a:tc>
                  <a:txBody>
                    <a:bodyPr/>
                    <a:lstStyle/>
                    <a:p>
                      <a:pPr algn="l" fontAlgn="ctr"/>
                      <a:r>
                        <a:rPr lang="en-US" sz="1400" dirty="0">
                          <a:effectLst/>
                        </a:rPr>
                        <a:t>volume</a:t>
                      </a:r>
                    </a:p>
                  </a:txBody>
                  <a:tcPr marL="76200" marR="76200" marT="38100" marB="38100" anchor="ctr"/>
                </a:tc>
                <a:tc>
                  <a:txBody>
                    <a:bodyPr/>
                    <a:lstStyle/>
                    <a:p>
                      <a:pPr algn="l" fontAlgn="ctr"/>
                      <a:r>
                        <a:rPr lang="en-US" sz="1400" dirty="0" err="1">
                          <a:effectLst/>
                        </a:rPr>
                        <a:t>tradeId</a:t>
                      </a:r>
                      <a:endParaRPr lang="en-US" sz="1400" dirty="0">
                        <a:effectLst/>
                      </a:endParaRPr>
                    </a:p>
                  </a:txBody>
                  <a:tcPr marL="76200" marR="76200" marT="38100" marB="38100" anchor="ctr"/>
                </a:tc>
                <a:tc>
                  <a:txBody>
                    <a:bodyPr/>
                    <a:lstStyle/>
                    <a:p>
                      <a:pPr algn="l" fontAlgn="ctr"/>
                      <a:r>
                        <a:rPr lang="en-US" sz="1400" dirty="0">
                          <a:effectLst/>
                        </a:rPr>
                        <a:t>sequence</a:t>
                      </a:r>
                    </a:p>
                  </a:txBody>
                  <a:tcPr marL="76200" marR="76200" marT="38100" marB="38100" anchor="ctr"/>
                </a:tc>
                <a:tc>
                  <a:txBody>
                    <a:bodyPr/>
                    <a:lstStyle/>
                    <a:p>
                      <a:pPr algn="l" fontAlgn="ctr"/>
                      <a:r>
                        <a:rPr lang="en-US" sz="1400" dirty="0" err="1">
                          <a:effectLst/>
                        </a:rPr>
                        <a:t>quoteVolume</a:t>
                      </a:r>
                      <a:endParaRPr lang="en-US" sz="1400" dirty="0">
                        <a:effectLst/>
                      </a:endParaRPr>
                    </a:p>
                  </a:txBody>
                  <a:tcPr marL="76200" marR="76200" marT="38100" marB="38100" anchor="ctr"/>
                </a:tc>
                <a:extLst>
                  <a:ext uri="{0D108BD9-81ED-4DB2-BD59-A6C34878D82A}">
                    <a16:rowId xmlns:a16="http://schemas.microsoft.com/office/drawing/2014/main" val="836185555"/>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3545123530</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312430912"/>
                  </a:ext>
                </a:extLst>
              </a:tr>
              <a:tr h="306510">
                <a:tc>
                  <a:txBody>
                    <a:bodyPr/>
                    <a:lstStyle/>
                    <a:p>
                      <a:pPr algn="l"/>
                      <a:r>
                        <a:rPr lang="en-US" altLang="zh-CN" sz="1400">
                          <a:effectLst/>
                        </a:rPr>
                        <a:t>1769904000015</a:t>
                      </a:r>
                    </a:p>
                  </a:txBody>
                  <a:tcPr marL="76200" marR="76200" marT="38100" marB="38100" anchor="ctr"/>
                </a:tc>
                <a:tc>
                  <a:txBody>
                    <a:bodyPr/>
                    <a:lstStyle/>
                    <a:p>
                      <a:pPr algn="l"/>
                      <a:r>
                        <a:rPr lang="en-US" altLang="zh-CN" sz="1400" dirty="0">
                          <a:effectLst/>
                        </a:rPr>
                        <a:t>0</a:t>
                      </a:r>
                    </a:p>
                  </a:txBody>
                  <a:tcPr marL="76200" marR="76200" marT="38100" marB="38100" anchor="ctr"/>
                </a:tc>
                <a:tc>
                  <a:txBody>
                    <a:bodyPr/>
                    <a:lstStyle/>
                    <a:p>
                      <a:pPr algn="l"/>
                      <a:r>
                        <a:rPr lang="en-US" sz="1400">
                          <a:effectLst/>
                        </a:rPr>
                        <a:t>True</a:t>
                      </a:r>
                    </a:p>
                  </a:txBody>
                  <a:tcPr marL="76200" marR="76200" marT="38100" marB="38100" anchor="ctr"/>
                </a:tc>
                <a:tc>
                  <a:txBody>
                    <a:bodyPr/>
                    <a:lstStyle/>
                    <a:p>
                      <a:pPr algn="l"/>
                      <a:r>
                        <a:rPr lang="en-US" altLang="zh-CN" sz="1400" dirty="0">
                          <a:effectLst/>
                        </a:rPr>
                        <a:t>2451.96</a:t>
                      </a:r>
                    </a:p>
                  </a:txBody>
                  <a:tcPr marL="76200" marR="76200" marT="38100" marB="38100" anchor="ctr"/>
                </a:tc>
                <a:tc>
                  <a:txBody>
                    <a:bodyPr/>
                    <a:lstStyle/>
                    <a:p>
                      <a:pPr algn="l"/>
                      <a:r>
                        <a:rPr lang="en-US" altLang="zh-CN" sz="1400" dirty="0">
                          <a:effectLst/>
                        </a:rPr>
                        <a:t>0.0366</a:t>
                      </a:r>
                    </a:p>
                  </a:txBody>
                  <a:tcPr marL="76200" marR="76200" marT="38100" marB="38100" anchor="ctr"/>
                </a:tc>
                <a:tc>
                  <a:txBody>
                    <a:bodyPr/>
                    <a:lstStyle/>
                    <a:p>
                      <a:pPr algn="l"/>
                      <a:r>
                        <a:rPr lang="en-US" altLang="zh-CN" sz="1400">
                          <a:effectLst/>
                        </a:rPr>
                        <a:t>3545123531</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2863021139"/>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dirty="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3545123532</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835831894"/>
                  </a:ext>
                </a:extLst>
              </a:tr>
              <a:tr h="306510">
                <a:tc>
                  <a:txBody>
                    <a:bodyPr/>
                    <a:lstStyle/>
                    <a:p>
                      <a:pPr algn="l"/>
                      <a:r>
                        <a:rPr lang="en-US" altLang="zh-CN" sz="140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a:effectLst/>
                        </a:rPr>
                        <a:t>3545123533</a:t>
                      </a:r>
                    </a:p>
                  </a:txBody>
                  <a:tcPr marL="76200" marR="76200" marT="38100" marB="38100" anchor="ctr"/>
                </a:tc>
                <a:tc>
                  <a:txBody>
                    <a:bodyPr/>
                    <a:lstStyle/>
                    <a:p>
                      <a:pPr algn="l"/>
                      <a:r>
                        <a:rPr lang="en-US" sz="1400">
                          <a:effectLst/>
                        </a:rPr>
                        <a:t>None</a:t>
                      </a:r>
                    </a:p>
                  </a:txBody>
                  <a:tcPr marL="76200" marR="76200" marT="38100" marB="38100" anchor="ctr"/>
                </a:tc>
                <a:tc>
                  <a:txBody>
                    <a:bodyPr/>
                    <a:lstStyle/>
                    <a:p>
                      <a:pPr algn="l"/>
                      <a:r>
                        <a:rPr lang="en-US" sz="1400">
                          <a:effectLst/>
                        </a:rPr>
                        <a:t>None</a:t>
                      </a:r>
                    </a:p>
                  </a:txBody>
                  <a:tcPr marL="76200" marR="76200" marT="38100" marB="38100" anchor="ctr"/>
                </a:tc>
                <a:extLst>
                  <a:ext uri="{0D108BD9-81ED-4DB2-BD59-A6C34878D82A}">
                    <a16:rowId xmlns:a16="http://schemas.microsoft.com/office/drawing/2014/main" val="1467889805"/>
                  </a:ext>
                </a:extLst>
              </a:tr>
              <a:tr h="306510">
                <a:tc>
                  <a:txBody>
                    <a:bodyPr/>
                    <a:lstStyle/>
                    <a:p>
                      <a:pPr algn="l"/>
                      <a:r>
                        <a:rPr lang="en-US" altLang="zh-CN" sz="1400" dirty="0">
                          <a:effectLst/>
                        </a:rPr>
                        <a:t>1769904000055</a:t>
                      </a:r>
                    </a:p>
                  </a:txBody>
                  <a:tcPr marL="76200" marR="76200" marT="38100" marB="38100" anchor="ctr"/>
                </a:tc>
                <a:tc>
                  <a:txBody>
                    <a:bodyPr/>
                    <a:lstStyle/>
                    <a:p>
                      <a:pPr algn="l"/>
                      <a:r>
                        <a:rPr lang="en-US" altLang="zh-CN" sz="1400">
                          <a:effectLst/>
                        </a:rPr>
                        <a:t>0</a:t>
                      </a:r>
                    </a:p>
                  </a:txBody>
                  <a:tcPr marL="76200" marR="76200" marT="38100" marB="38100" anchor="ctr"/>
                </a:tc>
                <a:tc>
                  <a:txBody>
                    <a:bodyPr/>
                    <a:lstStyle/>
                    <a:p>
                      <a:pPr algn="l"/>
                      <a:r>
                        <a:rPr lang="en-US" sz="1400">
                          <a:effectLst/>
                        </a:rPr>
                        <a:t>False</a:t>
                      </a:r>
                    </a:p>
                  </a:txBody>
                  <a:tcPr marL="76200" marR="76200" marT="38100" marB="38100" anchor="ctr"/>
                </a:tc>
                <a:tc>
                  <a:txBody>
                    <a:bodyPr/>
                    <a:lstStyle/>
                    <a:p>
                      <a:pPr algn="l"/>
                      <a:r>
                        <a:rPr lang="en-US" altLang="zh-CN" sz="1400" dirty="0">
                          <a:effectLst/>
                        </a:rPr>
                        <a:t>2451.95</a:t>
                      </a:r>
                    </a:p>
                  </a:txBody>
                  <a:tcPr marL="76200" marR="76200" marT="38100" marB="38100" anchor="ctr"/>
                </a:tc>
                <a:tc>
                  <a:txBody>
                    <a:bodyPr/>
                    <a:lstStyle/>
                    <a:p>
                      <a:pPr algn="l"/>
                      <a:r>
                        <a:rPr lang="en-US" altLang="zh-CN" sz="1400" dirty="0">
                          <a:effectLst/>
                        </a:rPr>
                        <a:t>0.0041</a:t>
                      </a:r>
                    </a:p>
                  </a:txBody>
                  <a:tcPr marL="76200" marR="76200" marT="38100" marB="38100" anchor="ctr"/>
                </a:tc>
                <a:tc>
                  <a:txBody>
                    <a:bodyPr/>
                    <a:lstStyle/>
                    <a:p>
                      <a:pPr algn="l"/>
                      <a:r>
                        <a:rPr lang="en-US" altLang="zh-CN" sz="1400" dirty="0">
                          <a:effectLst/>
                        </a:rPr>
                        <a:t>3545123534</a:t>
                      </a:r>
                    </a:p>
                  </a:txBody>
                  <a:tcPr marL="76200" marR="76200" marT="38100" marB="38100" anchor="ctr"/>
                </a:tc>
                <a:tc>
                  <a:txBody>
                    <a:bodyPr/>
                    <a:lstStyle/>
                    <a:p>
                      <a:pPr algn="l"/>
                      <a:r>
                        <a:rPr lang="en-US" sz="1400" dirty="0">
                          <a:effectLst/>
                        </a:rPr>
                        <a:t>None</a:t>
                      </a:r>
                    </a:p>
                  </a:txBody>
                  <a:tcPr marL="76200" marR="76200" marT="38100" marB="38100" anchor="ctr"/>
                </a:tc>
                <a:tc>
                  <a:txBody>
                    <a:bodyPr/>
                    <a:lstStyle/>
                    <a:p>
                      <a:pPr algn="l"/>
                      <a:r>
                        <a:rPr lang="en-US" sz="1400" dirty="0">
                          <a:effectLst/>
                        </a:rPr>
                        <a:t>None</a:t>
                      </a:r>
                    </a:p>
                  </a:txBody>
                  <a:tcPr marL="76200" marR="76200" marT="38100" marB="38100" anchor="ctr"/>
                </a:tc>
                <a:extLst>
                  <a:ext uri="{0D108BD9-81ED-4DB2-BD59-A6C34878D82A}">
                    <a16:rowId xmlns:a16="http://schemas.microsoft.com/office/drawing/2014/main" val="481351387"/>
                  </a:ext>
                </a:extLst>
              </a:tr>
            </a:tbl>
          </a:graphicData>
        </a:graphic>
      </p:graphicFrame>
      <p:sp>
        <p:nvSpPr>
          <p:cNvPr id="3" name="文本框 2">
            <a:extLst>
              <a:ext uri="{FF2B5EF4-FFF2-40B4-BE49-F238E27FC236}">
                <a16:creationId xmlns:a16="http://schemas.microsoft.com/office/drawing/2014/main" id="{67D3A289-2297-6934-F2F5-4EFC4FDD85BE}"/>
              </a:ext>
            </a:extLst>
          </p:cNvPr>
          <p:cNvSpPr txBox="1"/>
          <p:nvPr/>
        </p:nvSpPr>
        <p:spPr>
          <a:xfrm>
            <a:off x="615623" y="4033090"/>
            <a:ext cx="11251699" cy="2518575"/>
          </a:xfrm>
          <a:prstGeom prst="rect">
            <a:avLst/>
          </a:prstGeom>
          <a:noFill/>
        </p:spPr>
        <p:txBody>
          <a:bodyPr wrap="square" rtlCol="0">
            <a:spAutoFit/>
          </a:bodyPr>
          <a:lstStyle/>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price: The price at which the asset was traded</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volume: The total amount of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base</a:t>
            </a:r>
            <a:r>
              <a:rPr kumimoji="1" lang="en-US" altLang="zh-CN" dirty="0">
                <a:latin typeface="Tahoma" panose="020B0604030504040204" pitchFamily="34" charset="0"/>
                <a:ea typeface="Tahoma" panose="020B0604030504040204" pitchFamily="34" charset="0"/>
                <a:cs typeface="Tahoma" panose="020B0604030504040204" pitchFamily="34" charset="0"/>
              </a:rPr>
              <a:t> asset that was traded</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tradeId</a:t>
            </a:r>
            <a:r>
              <a:rPr kumimoji="1" lang="en-US" altLang="zh-CN" dirty="0">
                <a:latin typeface="Tahoma" panose="020B0604030504040204" pitchFamily="34" charset="0"/>
                <a:ea typeface="Tahoma" panose="020B0604030504040204" pitchFamily="34" charset="0"/>
                <a:cs typeface="Tahoma" panose="020B0604030504040204" pitchFamily="34" charset="0"/>
              </a:rPr>
              <a:t>: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unique identifier for each trade</a:t>
            </a:r>
            <a:r>
              <a:rPr kumimoji="1" lang="en-US" altLang="zh-CN" dirty="0">
                <a:latin typeface="Tahoma" panose="020B0604030504040204" pitchFamily="34" charset="0"/>
                <a:ea typeface="Tahoma" panose="020B0604030504040204" pitchFamily="34" charset="0"/>
                <a:cs typeface="Tahoma" panose="020B0604030504040204" pitchFamily="34" charset="0"/>
              </a:rPr>
              <a:t>, smaller </a:t>
            </a:r>
            <a:r>
              <a:rPr kumimoji="1" lang="en-US" altLang="zh-CN" dirty="0" err="1">
                <a:latin typeface="Tahoma" panose="020B0604030504040204" pitchFamily="34" charset="0"/>
                <a:ea typeface="Tahoma" panose="020B0604030504040204" pitchFamily="34" charset="0"/>
                <a:cs typeface="Tahoma" panose="020B0604030504040204" pitchFamily="34" charset="0"/>
              </a:rPr>
              <a:t>tradeId</a:t>
            </a:r>
            <a:r>
              <a:rPr kumimoji="1" lang="en-US" altLang="zh-CN" dirty="0">
                <a:latin typeface="Tahoma" panose="020B0604030504040204" pitchFamily="34" charset="0"/>
                <a:ea typeface="Tahoma" panose="020B0604030504040204" pitchFamily="34" charset="0"/>
                <a:cs typeface="Tahoma" panose="020B0604030504040204" pitchFamily="34" charset="0"/>
              </a:rPr>
              <a:t> happened earlier</a:t>
            </a:r>
          </a:p>
          <a:p>
            <a:pPr marL="800100" lvl="1" indent="-342900">
              <a:lnSpc>
                <a:spcPts val="3400"/>
              </a:lnSpc>
              <a:spcAft>
                <a:spcPts val="600"/>
              </a:spcAft>
              <a:buFont typeface="Arial" panose="020B0604020202020204" pitchFamily="34" charset="0"/>
              <a:buChar char="•"/>
            </a:pPr>
            <a:r>
              <a:rPr kumimoji="1" lang="en-US" altLang="zh-CN" dirty="0">
                <a:latin typeface="Tahoma" panose="020B0604030504040204" pitchFamily="34" charset="0"/>
                <a:ea typeface="Tahoma" panose="020B0604030504040204" pitchFamily="34" charset="0"/>
                <a:cs typeface="Tahoma" panose="020B0604030504040204" pitchFamily="34" charset="0"/>
              </a:rPr>
              <a:t>sequence: A sequence number for the trade event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(can be repeated for multiple trades)</a:t>
            </a:r>
          </a:p>
          <a:p>
            <a:pPr marL="800100" lvl="1" indent="-342900">
              <a:lnSpc>
                <a:spcPts val="3400"/>
              </a:lnSpc>
              <a:spcAft>
                <a:spcPts val="600"/>
              </a:spcAft>
              <a:buFont typeface="Arial" panose="020B0604020202020204" pitchFamily="34" charset="0"/>
              <a:buChar char="•"/>
            </a:pPr>
            <a:r>
              <a:rPr kumimoji="1" lang="en-US" altLang="zh-CN" dirty="0" err="1">
                <a:latin typeface="Tahoma" panose="020B0604030504040204" pitchFamily="34" charset="0"/>
                <a:ea typeface="Tahoma" panose="020B0604030504040204" pitchFamily="34" charset="0"/>
                <a:cs typeface="Tahoma" panose="020B0604030504040204" pitchFamily="34" charset="0"/>
              </a:rPr>
              <a:t>quoteVolume</a:t>
            </a:r>
            <a:r>
              <a:rPr kumimoji="1" lang="en-US" altLang="zh-CN" dirty="0">
                <a:latin typeface="Tahoma" panose="020B0604030504040204" pitchFamily="34" charset="0"/>
                <a:ea typeface="Tahoma" panose="020B0604030504040204" pitchFamily="34" charset="0"/>
                <a:cs typeface="Tahoma" panose="020B0604030504040204" pitchFamily="34" charset="0"/>
              </a:rPr>
              <a:t>: The total amount of the </a:t>
            </a:r>
            <a:r>
              <a:rPr kumimoji="1" lang="en-US" altLang="zh-CN" dirty="0">
                <a:solidFill>
                  <a:srgbClr val="FF0000"/>
                </a:solidFill>
                <a:latin typeface="Tahoma" panose="020B0604030504040204" pitchFamily="34" charset="0"/>
                <a:ea typeface="Tahoma" panose="020B0604030504040204" pitchFamily="34" charset="0"/>
                <a:cs typeface="Tahoma" panose="020B0604030504040204" pitchFamily="34" charset="0"/>
              </a:rPr>
              <a:t>quote</a:t>
            </a:r>
            <a:r>
              <a:rPr kumimoji="1" lang="en-US" altLang="zh-CN" dirty="0">
                <a:latin typeface="Tahoma" panose="020B0604030504040204" pitchFamily="34" charset="0"/>
                <a:ea typeface="Tahoma" panose="020B0604030504040204" pitchFamily="34" charset="0"/>
                <a:cs typeface="Tahoma" panose="020B0604030504040204" pitchFamily="34" charset="0"/>
              </a:rPr>
              <a:t> asset traded (i.e., price × volume)</a:t>
            </a:r>
          </a:p>
        </p:txBody>
      </p:sp>
    </p:spTree>
    <p:extLst>
      <p:ext uri="{BB962C8B-B14F-4D97-AF65-F5344CB8AC3E}">
        <p14:creationId xmlns:p14="http://schemas.microsoft.com/office/powerpoint/2010/main" val="3249259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2179E48-D421-8642-D985-75C0D6410645}"/>
              </a:ext>
            </a:extLst>
          </p:cNvPr>
          <p:cNvPicPr>
            <a:picLocks noChangeAspect="1"/>
          </p:cNvPicPr>
          <p:nvPr/>
        </p:nvPicPr>
        <p:blipFill>
          <a:blip r:embed="rId2"/>
          <a:stretch>
            <a:fillRect/>
          </a:stretch>
        </p:blipFill>
        <p:spPr>
          <a:xfrm>
            <a:off x="10177670" y="161952"/>
            <a:ext cx="1689652" cy="751896"/>
          </a:xfrm>
          <a:prstGeom prst="rect">
            <a:avLst/>
          </a:prstGeom>
        </p:spPr>
      </p:pic>
      <p:cxnSp>
        <p:nvCxnSpPr>
          <p:cNvPr id="2" name="直线连接符 1">
            <a:extLst>
              <a:ext uri="{FF2B5EF4-FFF2-40B4-BE49-F238E27FC236}">
                <a16:creationId xmlns:a16="http://schemas.microsoft.com/office/drawing/2014/main" id="{B20634BA-9B31-3D5D-01A4-393B271D4328}"/>
              </a:ext>
            </a:extLst>
          </p:cNvPr>
          <p:cNvCxnSpPr>
            <a:cxnSpLocks/>
          </p:cNvCxnSpPr>
          <p:nvPr/>
        </p:nvCxnSpPr>
        <p:spPr>
          <a:xfrm>
            <a:off x="716225" y="1107093"/>
            <a:ext cx="677677" cy="0"/>
          </a:xfrm>
          <a:prstGeom prst="line">
            <a:avLst/>
          </a:prstGeom>
          <a:ln w="3175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7" name="文本框 6">
            <a:extLst>
              <a:ext uri="{FF2B5EF4-FFF2-40B4-BE49-F238E27FC236}">
                <a16:creationId xmlns:a16="http://schemas.microsoft.com/office/drawing/2014/main" id="{01608090-203E-03DC-E9D9-E593BC11AED8}"/>
              </a:ext>
            </a:extLst>
          </p:cNvPr>
          <p:cNvSpPr txBox="1"/>
          <p:nvPr/>
        </p:nvSpPr>
        <p:spPr>
          <a:xfrm>
            <a:off x="615623" y="1430026"/>
            <a:ext cx="10849241" cy="471989"/>
          </a:xfrm>
          <a:prstGeom prst="rect">
            <a:avLst/>
          </a:prstGeom>
          <a:noFill/>
        </p:spPr>
        <p:txBody>
          <a:bodyPr wrap="square" rtlCol="0">
            <a:spAutoFit/>
          </a:bodyPr>
          <a:lstStyle/>
          <a:p>
            <a:pPr>
              <a:lnSpc>
                <a:spcPts val="3400"/>
              </a:lnSpc>
              <a:spcAft>
                <a:spcPts val="600"/>
              </a:spcAft>
            </a:pPr>
            <a:r>
              <a:rPr kumimoji="1" lang="en-US" altLang="zh-CN" sz="2000" b="1"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rPr>
              <a:t>Load Data in Python</a:t>
            </a:r>
            <a:endParaRPr kumimoji="1" lang="en-US" altLang="zh-CN" sz="2000" dirty="0">
              <a:solidFill>
                <a:schemeClr val="tx2">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3" name="Rectangle 8">
            <a:extLst>
              <a:ext uri="{FF2B5EF4-FFF2-40B4-BE49-F238E27FC236}">
                <a16:creationId xmlns:a16="http://schemas.microsoft.com/office/drawing/2014/main" id="{C3E4D01D-8AC8-20D6-BF1A-25C69CB4D4C2}"/>
              </a:ext>
            </a:extLst>
          </p:cNvPr>
          <p:cNvSpPr/>
          <p:nvPr/>
        </p:nvSpPr>
        <p:spPr>
          <a:xfrm>
            <a:off x="615624" y="449160"/>
            <a:ext cx="10849241" cy="584775"/>
          </a:xfrm>
          <a:prstGeom prst="rect">
            <a:avLst/>
          </a:prstGeom>
        </p:spPr>
        <p:txBody>
          <a:bodyPr wrap="square">
            <a:spAutoFit/>
          </a:bodyPr>
          <a:lstStyle/>
          <a:p>
            <a:r>
              <a:rPr lang="en-US" altLang="zh-CN" sz="3200" b="1" i="0" dirty="0">
                <a:solidFill>
                  <a:srgbClr val="0070C0"/>
                </a:solidFill>
                <a:effectLst/>
                <a:highlight>
                  <a:srgbClr val="FFFFFF"/>
                </a:highlight>
                <a:latin typeface="Montserrat" pitchFamily="2" charset="0"/>
              </a:rPr>
              <a:t>TICK-BY-TICK TRADES</a:t>
            </a:r>
            <a:endParaRPr kumimoji="1" lang="zh-CN" altLang="en-US" sz="3200" b="1" dirty="0">
              <a:solidFill>
                <a:srgbClr val="0070C0"/>
              </a:solidFill>
              <a:latin typeface="Tahoma" panose="020B0604030504040204" pitchFamily="34" charset="0"/>
              <a:cs typeface="Tahoma" panose="020B0604030504040204" pitchFamily="34" charset="0"/>
            </a:endParaRPr>
          </a:p>
        </p:txBody>
      </p:sp>
      <p:pic>
        <p:nvPicPr>
          <p:cNvPr id="4" name="图片 3">
            <a:extLst>
              <a:ext uri="{FF2B5EF4-FFF2-40B4-BE49-F238E27FC236}">
                <a16:creationId xmlns:a16="http://schemas.microsoft.com/office/drawing/2014/main" id="{EF2DD924-FDA3-787C-4336-D4D3687B95C4}"/>
              </a:ext>
            </a:extLst>
          </p:cNvPr>
          <p:cNvPicPr>
            <a:picLocks noChangeAspect="1"/>
          </p:cNvPicPr>
          <p:nvPr/>
        </p:nvPicPr>
        <p:blipFill>
          <a:blip r:embed="rId3"/>
          <a:stretch>
            <a:fillRect/>
          </a:stretch>
        </p:blipFill>
        <p:spPr>
          <a:xfrm>
            <a:off x="1024862" y="2029413"/>
            <a:ext cx="10142275" cy="4484530"/>
          </a:xfrm>
          <a:prstGeom prst="rect">
            <a:avLst/>
          </a:prstGeom>
        </p:spPr>
      </p:pic>
    </p:spTree>
    <p:extLst>
      <p:ext uri="{BB962C8B-B14F-4D97-AF65-F5344CB8AC3E}">
        <p14:creationId xmlns:p14="http://schemas.microsoft.com/office/powerpoint/2010/main" val="16205759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1012</TotalTime>
  <Words>4551</Words>
  <Application>Microsoft Macintosh PowerPoint</Application>
  <PresentationFormat>宽屏</PresentationFormat>
  <Paragraphs>1212</Paragraphs>
  <Slides>48</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48</vt:i4>
      </vt:variant>
    </vt:vector>
  </HeadingPairs>
  <TitlesOfParts>
    <vt:vector size="56" baseType="lpstr">
      <vt:lpstr>等线</vt:lpstr>
      <vt:lpstr>等线 Light</vt:lpstr>
      <vt:lpstr>Microsoft YaHei</vt:lpstr>
      <vt:lpstr>Arial</vt:lpstr>
      <vt:lpstr>Montserrat</vt:lpstr>
      <vt:lpstr>Tahoma</vt:lpstr>
      <vt:lpstr>Times New Roman</vt:lpstr>
      <vt:lpstr>Office 主题​​</vt:lpstr>
      <vt:lpstr>Crypto CEX Intro &amp; Spot Data</vt:lpstr>
      <vt:lpstr>Introduction of Cryptocurrency Centralized Exchange (CEX)</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CEX Spot Data</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CEX Intro &amp; Spot Data</dc:title>
  <dc:creator>yuxiyang@connect.hku.hk</dc:creator>
  <cp:lastModifiedBy>yuxiyang@connect.hku.hk</cp:lastModifiedBy>
  <cp:revision>115</cp:revision>
  <dcterms:created xsi:type="dcterms:W3CDTF">2026-03-01T10:37:15Z</dcterms:created>
  <dcterms:modified xsi:type="dcterms:W3CDTF">2026-03-12T16:19:20Z</dcterms:modified>
</cp:coreProperties>
</file>